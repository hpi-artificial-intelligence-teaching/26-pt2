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71" r:id="rId2"/>
    <p:sldId id="303" r:id="rId3"/>
    <p:sldId id="326" r:id="rId4"/>
    <p:sldId id="310" r:id="rId5"/>
    <p:sldId id="325" r:id="rId6"/>
    <p:sldId id="320" r:id="rId7"/>
    <p:sldId id="322" r:id="rId8"/>
    <p:sldId id="304" r:id="rId9"/>
  </p:sldIdLst>
  <p:sldSz cx="9144000" cy="5143500" type="screen16x9"/>
  <p:notesSz cx="6858000" cy="91440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1">
          <p15:clr>
            <a:srgbClr val="A4A3A4"/>
          </p15:clr>
        </p15:guide>
        <p15:guide id="2" orient="horz" pos="3140">
          <p15:clr>
            <a:srgbClr val="A4A3A4"/>
          </p15:clr>
        </p15:guide>
        <p15:guide id="3" orient="horz" pos="3026">
          <p15:clr>
            <a:srgbClr val="A4A3A4"/>
          </p15:clr>
        </p15:guide>
        <p15:guide id="4" orient="horz" pos="667">
          <p15:clr>
            <a:srgbClr val="A4A3A4"/>
          </p15:clr>
        </p15:guide>
        <p15:guide id="5" orient="horz" pos="1847">
          <p15:clr>
            <a:srgbClr val="A4A3A4"/>
          </p15:clr>
        </p15:guide>
        <p15:guide id="6" orient="horz" pos="1960">
          <p15:clr>
            <a:srgbClr val="A4A3A4"/>
          </p15:clr>
        </p15:guide>
        <p15:guide id="7" pos="113">
          <p15:clr>
            <a:srgbClr val="A4A3A4"/>
          </p15:clr>
        </p15:guide>
        <p15:guide id="8" pos="226">
          <p15:clr>
            <a:srgbClr val="A4A3A4"/>
          </p15:clr>
        </p15:guide>
        <p15:guide id="9" pos="4558">
          <p15:clr>
            <a:srgbClr val="A4A3A4"/>
          </p15:clr>
        </p15:guide>
        <p15:guide id="10" pos="2450">
          <p15:clr>
            <a:srgbClr val="A4A3A4"/>
          </p15:clr>
        </p15:guide>
        <p15:guide id="11" pos="3561">
          <p15:clr>
            <a:srgbClr val="A4A3A4"/>
          </p15:clr>
        </p15:guide>
        <p15:guide id="12" pos="4672">
          <p15:clr>
            <a:srgbClr val="A4A3A4"/>
          </p15:clr>
        </p15:guide>
        <p15:guide id="13" pos="2336">
          <p15:clr>
            <a:srgbClr val="A4A3A4"/>
          </p15:clr>
        </p15:guide>
        <p15:guide id="14" pos="1225">
          <p15:clr>
            <a:srgbClr val="A4A3A4"/>
          </p15:clr>
        </p15:guide>
        <p15:guide id="15" pos="3447">
          <p15:clr>
            <a:srgbClr val="A4A3A4"/>
          </p15:clr>
        </p15:guide>
        <p15:guide id="16" pos="1339">
          <p15:clr>
            <a:srgbClr val="A4A3A4"/>
          </p15:clr>
        </p15:guide>
        <p15:guide id="17" pos="5646">
          <p15:clr>
            <a:srgbClr val="A4A3A4"/>
          </p15:clr>
        </p15:guide>
        <p15:guide id="18" pos="56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676">
          <p15:clr>
            <a:srgbClr val="A4A3A4"/>
          </p15:clr>
        </p15:guide>
        <p15:guide id="2" orient="horz" pos="2540">
          <p15:clr>
            <a:srgbClr val="A4A3A4"/>
          </p15:clr>
        </p15:guide>
        <p15:guide id="3" orient="horz" pos="2812">
          <p15:clr>
            <a:srgbClr val="A4A3A4"/>
          </p15:clr>
        </p15:guide>
        <p15:guide id="4" orient="horz" pos="431">
          <p15:clr>
            <a:srgbClr val="A4A3A4"/>
          </p15:clr>
        </p15:guide>
        <p15:guide id="5" orient="horz" pos="5284">
          <p15:clr>
            <a:srgbClr val="A4A3A4"/>
          </p15:clr>
        </p15:guide>
        <p15:guide id="6" orient="horz" pos="567">
          <p15:clr>
            <a:srgbClr val="A4A3A4"/>
          </p15:clr>
        </p15:guide>
        <p15:guide id="7" pos="550">
          <p15:clr>
            <a:srgbClr val="A4A3A4"/>
          </p15:clr>
        </p15:guide>
        <p15:guide id="8" pos="40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7D31"/>
    <a:srgbClr val="AE3427"/>
    <a:srgbClr val="B1063A"/>
    <a:srgbClr val="000000"/>
    <a:srgbClr val="FBFCFC"/>
    <a:srgbClr val="FCFCFC"/>
    <a:srgbClr val="FCFCFD"/>
    <a:srgbClr val="FCFDFD"/>
    <a:srgbClr val="FDFDFD"/>
    <a:srgbClr val="FDFD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81"/>
    <p:restoredTop sz="91370"/>
  </p:normalViewPr>
  <p:slideViewPr>
    <p:cSldViewPr snapToObjects="1" showGuides="1">
      <p:cViewPr>
        <p:scale>
          <a:sx n="107" d="100"/>
          <a:sy n="107" d="100"/>
        </p:scale>
        <p:origin x="416" y="936"/>
      </p:cViewPr>
      <p:guideLst>
        <p:guide orient="horz" pos="781"/>
        <p:guide orient="horz" pos="3140"/>
        <p:guide orient="horz" pos="3026"/>
        <p:guide orient="horz" pos="667"/>
        <p:guide orient="horz" pos="1847"/>
        <p:guide orient="horz" pos="1960"/>
        <p:guide pos="113"/>
        <p:guide pos="226"/>
        <p:guide pos="4558"/>
        <p:guide pos="2450"/>
        <p:guide pos="3561"/>
        <p:guide pos="4672"/>
        <p:guide pos="2336"/>
        <p:guide pos="1225"/>
        <p:guide pos="3447"/>
        <p:guide pos="1339"/>
        <p:guide pos="5646"/>
        <p:guide pos="56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63" d="100"/>
          <a:sy n="63" d="100"/>
        </p:scale>
        <p:origin x="-3115" y="-67"/>
      </p:cViewPr>
      <p:guideLst>
        <p:guide orient="horz" pos="2676"/>
        <p:guide orient="horz" pos="2540"/>
        <p:guide orient="horz" pos="2812"/>
        <p:guide orient="horz" pos="431"/>
        <p:guide orient="horz" pos="5284"/>
        <p:guide orient="horz" pos="567"/>
        <p:guide pos="550"/>
        <p:guide pos="406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5/20/26</a:t>
            </a:fld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2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3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 bwMode="gray"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15" name="Group 14"/>
            <p:cNvGrpSpPr/>
            <p:nvPr/>
          </p:nvGrpSpPr>
          <p:grpSpPr bwMode="gray"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29" name="Straight Connector 2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 bwMode="gray"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23" name="Straight Connector 22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 bwMode="gray"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21" name="Straight Connector 20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 bwMode="gray"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19" name="Straight Connector 18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1528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 rot="-120000">
            <a:off x="711348" y="773280"/>
            <a:ext cx="5828291" cy="337943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5/20/26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875936" y="885346"/>
            <a:ext cx="5577000" cy="3137062"/>
          </a:xfrm>
          <a:prstGeom prst="rect">
            <a:avLst/>
          </a:prstGeom>
          <a:noFill/>
          <a:ln w="12700">
            <a:noFill/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873125" y="4448113"/>
            <a:ext cx="3470275" cy="3923741"/>
          </a:xfrm>
          <a:prstGeom prst="rect">
            <a:avLst/>
          </a:prstGeom>
        </p:spPr>
        <p:txBody>
          <a:bodyPr vert="horz" lIns="0" tIns="0" rIns="9144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 bwMode="gray">
          <a:xfrm>
            <a:off x="4509121" y="493858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gray">
          <a:xfrm>
            <a:off x="4509121" y="542904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gray">
          <a:xfrm>
            <a:off x="4509121" y="5919517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gray">
          <a:xfrm>
            <a:off x="4509121" y="6409985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gray">
          <a:xfrm>
            <a:off x="4509121" y="6900453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">
          <a:xfrm>
            <a:off x="4509121" y="739092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">
          <a:xfrm>
            <a:off x="4509121" y="788138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gray">
          <a:xfrm>
            <a:off x="4509121" y="8371854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 bwMode="gray">
          <a:xfrm>
            <a:off x="0" y="885346"/>
            <a:ext cx="45719" cy="3146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 bwMode="gray">
          <a:xfrm>
            <a:off x="0" y="4032250"/>
            <a:ext cx="45719" cy="435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/>
          <p:cNvGrpSpPr/>
          <p:nvPr/>
        </p:nvGrpSpPr>
        <p:grpSpPr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57" name="Group 56"/>
            <p:cNvGrpSpPr/>
            <p:nvPr/>
          </p:nvGrpSpPr>
          <p:grpSpPr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50" name="Straight Connector 49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/>
            <p:cNvGrpSpPr/>
            <p:nvPr/>
          </p:nvGrpSpPr>
          <p:grpSpPr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59" name="Straight Connector 5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/>
            <p:cNvGrpSpPr/>
            <p:nvPr/>
          </p:nvGrpSpPr>
          <p:grpSpPr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66" name="Straight Connector 65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70" name="Straight Connector 69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925471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rtl="0" eaLnBrk="1" latinLnBrk="0" hangingPunct="1">
      <a:spcBef>
        <a:spcPts val="200"/>
      </a:spcBef>
      <a:spcAft>
        <a:spcPts val="200"/>
      </a:spcAft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171450" indent="-17145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■"/>
      <a:defRPr sz="1050" kern="1200">
        <a:solidFill>
          <a:schemeClr val="tx1"/>
        </a:solidFill>
        <a:latin typeface="+mn-lt"/>
        <a:ea typeface="+mn-ea"/>
        <a:cs typeface="+mn-cs"/>
      </a:defRPr>
    </a:lvl2pPr>
    <a:lvl3pPr marL="360363" indent="-17938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□"/>
      <a:defRPr sz="1050" kern="1200">
        <a:solidFill>
          <a:schemeClr val="tx1"/>
        </a:solidFill>
        <a:latin typeface="+mn-lt"/>
        <a:ea typeface="+mn-ea"/>
        <a:cs typeface="+mn-cs"/>
      </a:defRPr>
    </a:lvl3pPr>
    <a:lvl4pPr marL="541338" indent="-180975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–"/>
      <a:defRPr sz="1050" kern="1200">
        <a:solidFill>
          <a:schemeClr val="tx1"/>
        </a:solidFill>
        <a:latin typeface="+mn-lt"/>
        <a:ea typeface="+mn-ea"/>
        <a:cs typeface="+mn-cs"/>
      </a:defRPr>
    </a:lvl4pPr>
    <a:lvl5pPr marL="266700" indent="-26670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rabicPeriod"/>
      <a:defRPr sz="1050" kern="1200">
        <a:solidFill>
          <a:schemeClr val="tx1"/>
        </a:solidFill>
        <a:latin typeface="+mn-lt"/>
        <a:ea typeface="+mn-ea"/>
        <a:cs typeface="+mn-cs"/>
      </a:defRPr>
    </a:lvl5pPr>
    <a:lvl6pPr marL="449263" indent="-18573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lphaLcParenR"/>
      <a:defRPr sz="105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None/>
      <a:defRPr sz="1400" kern="1200" cap="all" baseline="0">
        <a:solidFill>
          <a:schemeClr val="accent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5456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3770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4E7ADB-7DF0-CA7D-D844-49687372DED4}"/>
              </a:ext>
            </a:extLst>
          </p:cNvPr>
          <p:cNvSpPr/>
          <p:nvPr userDrawn="1"/>
        </p:nvSpPr>
        <p:spPr bwMode="gray">
          <a:xfrm>
            <a:off x="1588595" y="3610713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3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3" y="2926794"/>
            <a:ext cx="8421689" cy="103163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3" y="3958431"/>
            <a:ext cx="8421689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149792829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9B42E9-6004-B682-9BB2-B6781818F1BD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3604262"/>
            <a:ext cx="8601075" cy="1380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01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1430064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AC0A0F-D572-A6E0-387E-345D272423FA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2932113"/>
            <a:ext cx="8601075" cy="20526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4"/>
            <a:ext cx="8421689" cy="102631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5" y="3958431"/>
            <a:ext cx="8421687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29236874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FFFF40-1830-662B-0DF7-6359FB3CF885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3604262"/>
            <a:ext cx="8601075" cy="1380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491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5045730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 bwMode="gray">
          <a:xfrm>
            <a:off x="358775" y="1239838"/>
            <a:ext cx="6877050" cy="3563938"/>
          </a:xfrm>
          <a:prstGeom prst="rect">
            <a:avLst/>
          </a:prstGeom>
          <a:noFill/>
        </p:spPr>
        <p:txBody>
          <a:bodyPr lIns="0" tIns="72000" rIns="0" bIns="0"/>
          <a:lstStyle>
            <a:lvl1pPr marL="358775" indent="-358775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2pPr>
            <a:lvl3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3pPr>
            <a:lvl4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4pPr>
            <a:lvl5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5pPr>
            <a:lvl6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6pPr>
            <a:lvl7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7pPr>
            <a:lvl8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8pPr>
            <a:lvl9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FF3EC-409E-63A1-E030-5FEB5C32CFB4}"/>
              </a:ext>
            </a:extLst>
          </p:cNvPr>
          <p:cNvSpPr txBox="1"/>
          <p:nvPr userDrawn="1"/>
        </p:nvSpPr>
        <p:spPr bwMode="gray">
          <a:xfrm>
            <a:off x="8130746" y="42672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3296948856"/>
      </p:ext>
    </p:extLst>
  </p:cSld>
  <p:clrMapOvr>
    <a:masterClrMapping/>
  </p:clrMapOvr>
  <p:transition spd="slow">
    <p:wipe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EA378-D654-6058-1100-7130BB18C7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8775" y="1239838"/>
            <a:ext cx="6877050" cy="3563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2754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ullet Poi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6877051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348107534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2384B77-A60D-2E26-15E3-207400B24A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358777" y="1239837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78C676C-DB7C-A16F-DE7B-260DE2FD49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3886202" y="1232126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6618523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40536681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with Heade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671649"/>
            <a:ext cx="1584325" cy="3132125"/>
          </a:xfrm>
          <a:prstGeom prst="rect">
            <a:avLst/>
          </a:prstGeom>
        </p:spPr>
        <p:txBody>
          <a:bodyPr tIns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  <a:lvl6pPr>
              <a:buClr>
                <a:schemeClr val="accent2"/>
              </a:buClr>
              <a:defRPr/>
            </a:lvl6pPr>
            <a:lvl7pPr>
              <a:buClr>
                <a:schemeClr val="accent2"/>
              </a:buClr>
              <a:defRPr/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chemeClr val="accent3"/>
              </a:buClr>
              <a:defRPr/>
            </a:lvl4pPr>
            <a:lvl5pPr>
              <a:buClr>
                <a:schemeClr val="accent3"/>
              </a:buClr>
              <a:defRPr/>
            </a:lvl5pPr>
            <a:lvl6pPr>
              <a:buClr>
                <a:schemeClr val="accent3"/>
              </a:buClr>
              <a:defRPr/>
            </a:lvl6pPr>
            <a:lvl7pPr>
              <a:buClr>
                <a:schemeClr val="accent3"/>
              </a:buClr>
              <a:defRPr/>
            </a:lvl7pPr>
            <a:lvl8pPr>
              <a:defRPr>
                <a:solidFill>
                  <a:schemeClr val="accent3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  <a:lvl6pPr>
              <a:buClr>
                <a:schemeClr val="accent4"/>
              </a:buClr>
              <a:defRPr/>
            </a:lvl6pPr>
            <a:lvl7pPr>
              <a:buClr>
                <a:schemeClr val="accent4"/>
              </a:buClr>
              <a:defRPr/>
            </a:lvl7pPr>
            <a:lvl8pPr>
              <a:defRPr>
                <a:solidFill>
                  <a:schemeClr val="accent4"/>
                </a:solidFill>
              </a:defRPr>
            </a:lvl8pPr>
            <a:lvl9pPr>
              <a:defRPr>
                <a:solidFill>
                  <a:schemeClr val="accent4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58776" y="1239838"/>
            <a:ext cx="1584325" cy="287797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1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124076" y="1239838"/>
            <a:ext cx="1584325" cy="287797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2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888573" y="1239838"/>
            <a:ext cx="1584325" cy="287797"/>
          </a:xfrm>
          <a:prstGeom prst="rect">
            <a:avLst/>
          </a:prstGeom>
          <a:solidFill>
            <a:schemeClr val="accent3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3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644193" y="1239838"/>
            <a:ext cx="1584325" cy="287797"/>
          </a:xfrm>
          <a:prstGeom prst="rect">
            <a:avLst/>
          </a:prstGeom>
          <a:solidFill>
            <a:schemeClr val="accent4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4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68435982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2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2124075" y="1239837"/>
            <a:ext cx="5111751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8" y="1239838"/>
            <a:ext cx="17637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75167196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887790" y="1239837"/>
            <a:ext cx="3348037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9" y="1239838"/>
            <a:ext cx="35290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82335617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7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5651502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7" y="1239838"/>
            <a:ext cx="5292725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11981639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1239838"/>
            <a:ext cx="7056441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02531602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A5AB30-E2C7-E7CF-C1E7-8CCE9089AB71}"/>
              </a:ext>
            </a:extLst>
          </p:cNvPr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339502"/>
            <a:ext cx="7056441" cy="4464273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1015753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5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4" y="1"/>
            <a:ext cx="7309295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3"/>
            <a:ext cx="8421685" cy="1871663"/>
          </a:xfrm>
          <a:solidFill>
            <a:srgbClr val="DD640C"/>
          </a:solidFill>
        </p:spPr>
        <p:txBody>
          <a:bodyPr lIns="108000" tIns="252000" rIns="108000" bIns="252000" anchor="ctr" anchorCtr="0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 2 lines</a:t>
            </a:r>
          </a:p>
        </p:txBody>
      </p:sp>
      <p:sp>
        <p:nvSpPr>
          <p:cNvPr id="11" name="Rectangle 10"/>
          <p:cNvSpPr/>
          <p:nvPr userDrawn="1"/>
        </p:nvSpPr>
        <p:spPr bwMode="gray">
          <a:xfrm>
            <a:off x="358776" y="2751932"/>
            <a:ext cx="8605836" cy="1801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8780464" y="2934376"/>
            <a:ext cx="184149" cy="186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11182617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050"/>
          <p:cNvSpPr/>
          <p:nvPr/>
        </p:nvSpPr>
        <p:spPr bwMode="gray">
          <a:xfrm>
            <a:off x="177170" y="1"/>
            <a:ext cx="7238834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58776" y="108001"/>
            <a:ext cx="6877051" cy="927588"/>
          </a:xfrm>
          <a:prstGeom prst="rect">
            <a:avLst/>
          </a:prstGeom>
        </p:spPr>
        <p:txBody>
          <a:bodyPr vert="horz" lIns="0" tIns="0" rIns="0" bIns="180000" rtlCol="0" anchor="b" anchorCtr="0">
            <a:noAutofit/>
          </a:bodyPr>
          <a:lstStyle/>
          <a:p>
            <a:r>
              <a:rPr lang="de-DE" noProof="0" dirty="0"/>
              <a:t>Write </a:t>
            </a:r>
            <a:r>
              <a:rPr lang="de-DE" noProof="0" dirty="0" err="1"/>
              <a:t>your</a:t>
            </a:r>
            <a:r>
              <a:rPr lang="de-DE" noProof="0" dirty="0"/>
              <a:t> title</a:t>
            </a:r>
            <a:br>
              <a:rPr lang="de-DE" noProof="0" dirty="0"/>
            </a:br>
            <a:r>
              <a:rPr lang="de-DE" noProof="0" dirty="0"/>
              <a:t>- maximum 2 </a:t>
            </a:r>
            <a:r>
              <a:rPr lang="de-DE" noProof="0" dirty="0" err="1"/>
              <a:t>lines</a:t>
            </a:r>
            <a:endParaRPr lang="de-DE" noProof="0" dirty="0"/>
          </a:p>
        </p:txBody>
      </p:sp>
      <p:grpSp>
        <p:nvGrpSpPr>
          <p:cNvPr id="23" name="Group 22"/>
          <p:cNvGrpSpPr/>
          <p:nvPr/>
        </p:nvGrpSpPr>
        <p:grpSpPr bwMode="gray">
          <a:xfrm>
            <a:off x="-101695" y="1055849"/>
            <a:ext cx="99454" cy="3924294"/>
            <a:chOff x="-101696" y="1055849"/>
            <a:chExt cx="99454" cy="3924294"/>
          </a:xfrm>
        </p:grpSpPr>
        <p:cxnSp>
          <p:nvCxnSpPr>
            <p:cNvPr id="22" name="Straight Connector 21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 bwMode="gray">
          <a:xfrm>
            <a:off x="9156605" y="1055849"/>
            <a:ext cx="99454" cy="3924294"/>
            <a:chOff x="-101696" y="1055849"/>
            <a:chExt cx="99454" cy="3924294"/>
          </a:xfrm>
        </p:grpSpPr>
        <p:cxnSp>
          <p:nvCxnSpPr>
            <p:cNvPr id="31" name="Straight Connector 30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 bwMode="gray">
          <a:xfrm rot="5400000">
            <a:off x="4520765" y="-4456716"/>
            <a:ext cx="99454" cy="8786645"/>
            <a:chOff x="-101696" y="-3806503"/>
            <a:chExt cx="99454" cy="8786646"/>
          </a:xfrm>
        </p:grpSpPr>
        <p:cxnSp>
          <p:nvCxnSpPr>
            <p:cNvPr id="38" name="Straight Connector 37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 bwMode="gray">
          <a:xfrm rot="5400000">
            <a:off x="4520765" y="826438"/>
            <a:ext cx="99454" cy="8786645"/>
            <a:chOff x="-101696" y="-3806503"/>
            <a:chExt cx="99454" cy="8786646"/>
          </a:xfrm>
        </p:grpSpPr>
        <p:cxnSp>
          <p:nvCxnSpPr>
            <p:cNvPr id="50" name="Straight Connector 49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9" name="Rectangle 2048"/>
          <p:cNvSpPr/>
          <p:nvPr/>
        </p:nvSpPr>
        <p:spPr bwMode="gray">
          <a:xfrm>
            <a:off x="7308304" y="2391730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6" name="Rectangle 65"/>
          <p:cNvSpPr/>
          <p:nvPr/>
        </p:nvSpPr>
        <p:spPr bwMode="gray">
          <a:xfrm>
            <a:off x="177170" y="1031579"/>
            <a:ext cx="7238834" cy="2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4" name="Rectangle 2048"/>
          <p:cNvSpPr/>
          <p:nvPr/>
        </p:nvSpPr>
        <p:spPr bwMode="gray">
          <a:xfrm>
            <a:off x="7596336" y="866274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0937C7D-7970-2DD0-9416-2BD2CE9F7DD8}"/>
              </a:ext>
            </a:extLst>
          </p:cNvPr>
          <p:cNvSpPr txBox="1">
            <a:spLocks/>
          </p:cNvSpPr>
          <p:nvPr userDrawn="1"/>
        </p:nvSpPr>
        <p:spPr>
          <a:xfrm>
            <a:off x="7416675" y="3562452"/>
            <a:ext cx="1547813" cy="521465"/>
          </a:xfrm>
          <a:prstGeom prst="rect">
            <a:avLst/>
          </a:prstGeom>
        </p:spPr>
        <p:txBody>
          <a:bodyPr lIns="0" tIns="0" anchor="b" anchorCtr="0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900" noProof="0" dirty="0"/>
              <a:t>Programmiertechnik II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6D6BE21-07EB-2A7A-3514-3C5C9A0F9F57}"/>
              </a:ext>
            </a:extLst>
          </p:cNvPr>
          <p:cNvSpPr txBox="1">
            <a:spLocks/>
          </p:cNvSpPr>
          <p:nvPr userDrawn="1"/>
        </p:nvSpPr>
        <p:spPr>
          <a:xfrm>
            <a:off x="7416488" y="4155928"/>
            <a:ext cx="1548000" cy="476395"/>
          </a:xfrm>
          <a:prstGeom prst="rect">
            <a:avLst/>
          </a:prstGeom>
        </p:spPr>
        <p:txBody>
          <a:bodyPr lIns="108000" t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b="0" i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00" noProof="0" dirty="0"/>
              <a:t>Unit 2b - C++ Einführung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1263011-02B0-D99B-96F0-5F8F5F6662F7}"/>
              </a:ext>
            </a:extLst>
          </p:cNvPr>
          <p:cNvSpPr txBox="1">
            <a:spLocks/>
          </p:cNvSpPr>
          <p:nvPr userDrawn="1"/>
        </p:nvSpPr>
        <p:spPr>
          <a:xfrm>
            <a:off x="7416488" y="4623195"/>
            <a:ext cx="1548000" cy="179496"/>
          </a:xfrm>
          <a:prstGeom prst="rect">
            <a:avLst/>
          </a:prstGeom>
        </p:spPr>
        <p:txBody>
          <a:bodyPr lIns="108000" tIns="0" anchor="b" anchorCtr="0"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AE68F2E-2A8C-D34D-8DDE-B2849ECC962F}" type="slidenum">
              <a:rPr lang="de-DE" sz="700" noProof="0" smtClean="0"/>
              <a:pPr/>
              <a:t>‹#›</a:t>
            </a:fld>
            <a:r>
              <a:rPr lang="de-DE" sz="700" noProof="0" dirty="0"/>
              <a:t>/16</a:t>
            </a:r>
          </a:p>
        </p:txBody>
      </p:sp>
      <p:pic>
        <p:nvPicPr>
          <p:cNvPr id="6" name="Grafik 28">
            <a:extLst>
              <a:ext uri="{FF2B5EF4-FFF2-40B4-BE49-F238E27FC236}">
                <a16:creationId xmlns:a16="http://schemas.microsoft.com/office/drawing/2014/main" id="{0030E6E4-E302-1D7B-703C-E754385BD918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665" y="239817"/>
            <a:ext cx="1308999" cy="74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9" r:id="rId4"/>
    <p:sldLayoutId id="2147483662" r:id="rId5"/>
    <p:sldLayoutId id="2147483650" r:id="rId6"/>
    <p:sldLayoutId id="2147483664" r:id="rId7"/>
    <p:sldLayoutId id="2147483652" r:id="rId8"/>
    <p:sldLayoutId id="2147483653" r:id="rId9"/>
    <p:sldLayoutId id="2147483660" r:id="rId10"/>
    <p:sldLayoutId id="2147483654" r:id="rId11"/>
    <p:sldLayoutId id="2147483655" r:id="rId12"/>
    <p:sldLayoutId id="2147483656" r:id="rId13"/>
    <p:sldLayoutId id="2147483657" r:id="rId14"/>
    <p:sldLayoutId id="2147483665" r:id="rId15"/>
    <p:sldLayoutId id="2147483663" r:id="rId16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68288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□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269875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lphaLcParenR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SzPct val="90000"/>
        <a:buFont typeface="Arial" panose="020B0604020202020204" pitchFamily="34" charset="0"/>
        <a:buNone/>
        <a:defRPr sz="1600" kern="1200" cap="all" baseline="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PI-Artificial-Intelligence-Teaching/26-pt2/blob/main/tutorium3/composition.cpp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resource.com/ODSA/AV/Sorting/shellsortAV.html" TargetMode="External"/><Relationship Id="rId2" Type="http://schemas.openxmlformats.org/officeDocument/2006/relationships/hyperlink" Target="https://visualgo.net/en/sorting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picture containing light&#10;&#10;Description automatically generated">
            <a:extLst>
              <a:ext uri="{FF2B5EF4-FFF2-40B4-BE49-F238E27FC236}">
                <a16:creationId xmlns:a16="http://schemas.microsoft.com/office/drawing/2014/main" id="{D29351EF-6C46-C314-2EF0-2DDECEA967B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19" b="11319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499B4D-A6A4-7FB5-E40F-F91A99DDD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6B42D6-B7D1-151D-17E2-D12C352A3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Programmiertechnik II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B102906-BAE2-00D0-F9F8-0F97B27605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Leonhard Hennicke</a:t>
            </a:r>
          </a:p>
          <a:p>
            <a:pPr algn="l"/>
            <a:r>
              <a:rPr lang="de-DE" dirty="0"/>
              <a:t>Tutorium 3: Reference Members und Sortieren</a:t>
            </a:r>
          </a:p>
        </p:txBody>
      </p:sp>
    </p:spTree>
    <p:extLst>
      <p:ext uri="{BB962C8B-B14F-4D97-AF65-F5344CB8AC3E}">
        <p14:creationId xmlns:p14="http://schemas.microsoft.com/office/powerpoint/2010/main" val="173470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de-DE" altLang="en-DE" dirty="0"/>
              <a:t>Reference Members</a:t>
            </a:r>
          </a:p>
          <a:p>
            <a:pPr marL="342900" indent="-342900"/>
            <a:r>
              <a:rPr lang="de-DE" altLang="en-DE" dirty="0"/>
              <a:t>Sortieralgorithmen Visualisieren</a:t>
            </a:r>
          </a:p>
          <a:p>
            <a:pPr marL="342900" indent="-342900"/>
            <a:r>
              <a:rPr lang="de-DE" altLang="en-DE" dirty="0"/>
              <a:t>Hinweis: </a:t>
            </a:r>
            <a:r>
              <a:rPr lang="de-DE" altLang="en-DE" dirty="0" err="1"/>
              <a:t>Mergesort</a:t>
            </a:r>
            <a:r>
              <a:rPr lang="de-DE" altLang="en-DE" dirty="0"/>
              <a:t> Worst Case</a:t>
            </a:r>
          </a:p>
          <a:p>
            <a:pPr marL="342900" indent="-342900"/>
            <a:r>
              <a:rPr lang="de-DE" altLang="en-DE" dirty="0"/>
              <a:t>Hinweis : </a:t>
            </a:r>
            <a:r>
              <a:rPr lang="de-DE" altLang="en-DE" dirty="0" err="1"/>
              <a:t>Quicksort</a:t>
            </a:r>
            <a:r>
              <a:rPr lang="de-DE" altLang="en-DE" dirty="0"/>
              <a:t> Best Case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4C8E8D-A87E-47C4-3901-F79931EE40E9}"/>
              </a:ext>
            </a:extLst>
          </p:cNvPr>
          <p:cNvSpPr txBox="1"/>
          <p:nvPr/>
        </p:nvSpPr>
        <p:spPr bwMode="gray">
          <a:xfrm>
            <a:off x="7639396" y="4222864"/>
            <a:ext cx="460996" cy="36510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DE" sz="1200" dirty="0" err="1"/>
          </a:p>
        </p:txBody>
      </p:sp>
    </p:spTree>
    <p:extLst>
      <p:ext uri="{BB962C8B-B14F-4D97-AF65-F5344CB8AC3E}">
        <p14:creationId xmlns:p14="http://schemas.microsoft.com/office/powerpoint/2010/main" val="77010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8BEEB-9B32-51A5-2298-AFF4607D8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BE9A4C-2F2C-7165-7032-30672ED386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8317680" cy="3563938"/>
          </a:xfrm>
        </p:spPr>
        <p:txBody>
          <a:bodyPr/>
          <a:lstStyle/>
          <a:p>
            <a:pPr marL="342900" indent="-342900"/>
            <a:r>
              <a:rPr lang="de-DE" sz="2000" dirty="0"/>
              <a:t>Klassen-Member, das ein anderes Objekt </a:t>
            </a:r>
            <a:r>
              <a:rPr lang="de-DE" sz="2000" b="1" dirty="0"/>
              <a:t>per Referenz</a:t>
            </a:r>
            <a:r>
              <a:rPr lang="de-DE" sz="2000" dirty="0"/>
              <a:t> hält → Komposition statt Vererbung</a:t>
            </a:r>
          </a:p>
          <a:p>
            <a:pPr marL="342900" indent="-342900"/>
            <a:r>
              <a:rPr lang="de-DE" sz="2000" dirty="0"/>
              <a:t>Initialisierung </a:t>
            </a:r>
            <a:r>
              <a:rPr lang="de-DE" sz="2000" b="1" dirty="0"/>
              <a:t>nur</a:t>
            </a:r>
            <a:r>
              <a:rPr lang="de-DE" sz="2000" dirty="0"/>
              <a:t> über die Initialisierungsliste — Referenzen sind nicht zuweisbar</a:t>
            </a:r>
          </a:p>
          <a:p>
            <a:pPr marL="342900" indent="-342900"/>
            <a:r>
              <a:rPr lang="de-DE" sz="2000" dirty="0"/>
              <a:t>Aufrufe </a:t>
            </a:r>
            <a:r>
              <a:rPr lang="de-DE" sz="2000" b="1" dirty="0"/>
              <a:t>weiterleiten</a:t>
            </a:r>
            <a:r>
              <a:rPr lang="de-DE" sz="2000" dirty="0"/>
              <a:t> (Delegation) — keine Logik duplizieren</a:t>
            </a:r>
          </a:p>
          <a:p>
            <a:pPr marL="342900" indent="-342900"/>
            <a:r>
              <a:rPr lang="de-DE" sz="2000" dirty="0"/>
              <a:t>Beispiel: </a:t>
            </a:r>
            <a:r>
              <a:rPr lang="de-DE" sz="2000" b="1" dirty="0" err="1"/>
              <a:t>CountingComparator</a:t>
            </a:r>
            <a:r>
              <a:rPr lang="de-DE" sz="2000" dirty="0"/>
              <a:t> hält </a:t>
            </a:r>
            <a:r>
              <a:rPr lang="de-DE" sz="2000" i="1" dirty="0" err="1"/>
              <a:t>Comparator</a:t>
            </a:r>
            <a:r>
              <a:rPr lang="de-DE" sz="2000" i="1" dirty="0"/>
              <a:t>&amp;</a:t>
            </a:r>
            <a:r>
              <a:rPr lang="de-DE" sz="2000" dirty="0"/>
              <a:t> und zählt jeden </a:t>
            </a:r>
            <a:r>
              <a:rPr lang="de-DE" sz="2000" dirty="0" err="1"/>
              <a:t>compare</a:t>
            </a:r>
            <a:r>
              <a:rPr lang="de-DE" sz="2000" dirty="0"/>
              <a:t>()-Aufruf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026194-36B0-B912-4304-1F9D5E2AC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Reference Members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DCD680-132C-ACC2-0DBB-CEF422555D29}"/>
              </a:ext>
            </a:extLst>
          </p:cNvPr>
          <p:cNvSpPr txBox="1"/>
          <p:nvPr/>
        </p:nvSpPr>
        <p:spPr bwMode="gray">
          <a:xfrm>
            <a:off x="1187624" y="4632334"/>
            <a:ext cx="6624736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600" b="1" dirty="0">
                <a:hlinkClick r:id="rId2"/>
              </a:rPr>
              <a:t>composition</a:t>
            </a:r>
            <a:r>
              <a:rPr lang="en-DE" sz="1600" b="1" dirty="0">
                <a:hlinkClick r:id="rId2"/>
              </a:rPr>
              <a:t>.cpp</a:t>
            </a:r>
            <a:endParaRPr lang="en-DE" b="1" dirty="0"/>
          </a:p>
        </p:txBody>
      </p:sp>
    </p:spTree>
    <p:extLst>
      <p:ext uri="{BB962C8B-B14F-4D97-AF65-F5344CB8AC3E}">
        <p14:creationId xmlns:p14="http://schemas.microsoft.com/office/powerpoint/2010/main" val="56111497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290E53-D39D-BEE4-3EAC-7964D21E0A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8317680" cy="3563938"/>
          </a:xfrm>
        </p:spPr>
        <p:txBody>
          <a:bodyPr/>
          <a:lstStyle/>
          <a:p>
            <a:pPr marL="342900" indent="-342900"/>
            <a:r>
              <a:rPr lang="de-DE" sz="2000" dirty="0"/>
              <a:t>Merge-, Bubble-, </a:t>
            </a:r>
            <a:r>
              <a:rPr lang="de-DE" sz="2000" dirty="0" err="1"/>
              <a:t>Selection</a:t>
            </a:r>
            <a:r>
              <a:rPr lang="de-DE" sz="2000" dirty="0"/>
              <a:t>-, Insertion- &amp; </a:t>
            </a:r>
            <a:r>
              <a:rPr lang="de-DE" sz="2000" dirty="0" err="1"/>
              <a:t>Quicksort</a:t>
            </a:r>
            <a:r>
              <a:rPr lang="de-DE" sz="2000" dirty="0"/>
              <a:t>: </a:t>
            </a:r>
            <a:r>
              <a:rPr lang="de-DE" sz="2000" dirty="0">
                <a:hlinkClick r:id="rId2"/>
              </a:rPr>
              <a:t>https://visualgo.net/en/sorting</a:t>
            </a:r>
            <a:endParaRPr lang="de-DE" sz="2000" dirty="0"/>
          </a:p>
          <a:p>
            <a:pPr marL="342900" indent="-342900"/>
            <a:endParaRPr lang="de-DE" sz="2000" dirty="0"/>
          </a:p>
          <a:p>
            <a:pPr marL="342900" indent="-342900"/>
            <a:r>
              <a:rPr lang="de-DE" sz="2000" dirty="0" err="1"/>
              <a:t>Shellsort</a:t>
            </a:r>
            <a:r>
              <a:rPr lang="de-DE" sz="2000" dirty="0"/>
              <a:t>: </a:t>
            </a:r>
            <a:r>
              <a:rPr lang="de-DE" sz="2000" dirty="0">
                <a:hlinkClick r:id="rId3"/>
              </a:rPr>
              <a:t>https://www.w3resource.com/ODSA/AV/Sorting/shellsortAV.html</a:t>
            </a:r>
            <a:endParaRPr lang="de-DE" sz="2000" dirty="0"/>
          </a:p>
          <a:p>
            <a:pPr marL="342900" indent="-342900"/>
            <a:endParaRPr lang="de-DE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28FD0D6-ADF0-2C2F-3DCB-662D62943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Sortieralgorithmen Visualisieren</a:t>
            </a:r>
          </a:p>
        </p:txBody>
      </p:sp>
    </p:spTree>
    <p:extLst>
      <p:ext uri="{BB962C8B-B14F-4D97-AF65-F5344CB8AC3E}">
        <p14:creationId xmlns:p14="http://schemas.microsoft.com/office/powerpoint/2010/main" val="164187892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2AB50-242E-33FD-FA78-9DF9B80FF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Mergesort</a:t>
            </a:r>
            <a:r>
              <a:rPr lang="en-GB" dirty="0"/>
              <a:t> Worst Case: Easy vs. Hard Merge</a:t>
            </a:r>
            <a:endParaRPr lang="en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A15846-08E4-044E-A31D-D4AE1A1A2B86}"/>
              </a:ext>
            </a:extLst>
          </p:cNvPr>
          <p:cNvSpPr txBox="1"/>
          <p:nvPr/>
        </p:nvSpPr>
        <p:spPr bwMode="gray">
          <a:xfrm>
            <a:off x="508000" y="12700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None/>
            </a:pPr>
            <a:r>
              <a:rPr lang="en-GB" sz="1600" b="1">
                <a:solidFill>
                  <a:srgbClr val="5C2D91"/>
                </a:solidFill>
              </a:rPr>
              <a:t>Einfach: Links &lt; Rechts</a:t>
            </a:r>
            <a:endParaRPr lang="en-DE" sz="1600" b="1" dirty="0" err="1">
              <a:solidFill>
                <a:srgbClr val="5C2D9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28E9FA-AD0C-4441-86AB-69B8B22AAAF9}"/>
              </a:ext>
            </a:extLst>
          </p:cNvPr>
          <p:cNvSpPr txBox="1"/>
          <p:nvPr/>
        </p:nvSpPr>
        <p:spPr bwMode="gray">
          <a:xfrm>
            <a:off x="508000" y="1651000"/>
            <a:ext cx="889000" cy="3556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None/>
            </a:pPr>
            <a:r>
              <a:rPr lang="en-GB" sz="1300" b="1" dirty="0"/>
              <a:t>Links:</a:t>
            </a:r>
            <a:endParaRPr lang="en-DE" sz="1300" b="1" dirty="0" err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AFF84E-E6BD-464B-907B-72A39CF32079}"/>
              </a:ext>
            </a:extLst>
          </p:cNvPr>
          <p:cNvSpPr/>
          <p:nvPr/>
        </p:nvSpPr>
        <p:spPr bwMode="gray">
          <a:xfrm>
            <a:off x="1460500" y="1651000"/>
            <a:ext cx="355600" cy="355600"/>
          </a:xfrm>
          <a:prstGeom prst="rect">
            <a:avLst/>
          </a:prstGeom>
          <a:solidFill>
            <a:srgbClr val="E8E4F0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0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E2C3FA-1657-0146-9D2C-324D5BD8DAB3}"/>
              </a:ext>
            </a:extLst>
          </p:cNvPr>
          <p:cNvSpPr/>
          <p:nvPr/>
        </p:nvSpPr>
        <p:spPr bwMode="gray">
          <a:xfrm>
            <a:off x="1816100" y="1651000"/>
            <a:ext cx="355600" cy="355600"/>
          </a:xfrm>
          <a:prstGeom prst="rect">
            <a:avLst/>
          </a:prstGeom>
          <a:solidFill>
            <a:srgbClr val="E8E4F0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1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1B0A67-EAB8-BA4E-84DE-77B35C05BB2E}"/>
              </a:ext>
            </a:extLst>
          </p:cNvPr>
          <p:cNvSpPr/>
          <p:nvPr/>
        </p:nvSpPr>
        <p:spPr bwMode="gray">
          <a:xfrm>
            <a:off x="2171700" y="1651000"/>
            <a:ext cx="355600" cy="355600"/>
          </a:xfrm>
          <a:prstGeom prst="rect">
            <a:avLst/>
          </a:prstGeom>
          <a:solidFill>
            <a:srgbClr val="E8E4F0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2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8A0D60-C17F-6848-9B63-8A4B46DFB644}"/>
              </a:ext>
            </a:extLst>
          </p:cNvPr>
          <p:cNvSpPr txBox="1"/>
          <p:nvPr/>
        </p:nvSpPr>
        <p:spPr bwMode="gray">
          <a:xfrm>
            <a:off x="508000" y="2095500"/>
            <a:ext cx="889000" cy="3556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None/>
            </a:pPr>
            <a:r>
              <a:rPr lang="en-GB" sz="1300" b="1" dirty="0" err="1"/>
              <a:t>Rechts</a:t>
            </a:r>
            <a:r>
              <a:rPr lang="en-GB" sz="1300" b="1" dirty="0"/>
              <a:t>:</a:t>
            </a:r>
            <a:endParaRPr lang="en-DE" sz="1300" b="1" dirty="0" err="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E3AEF5-1F99-DF40-B6A6-E21B5EA5244E}"/>
              </a:ext>
            </a:extLst>
          </p:cNvPr>
          <p:cNvSpPr/>
          <p:nvPr/>
        </p:nvSpPr>
        <p:spPr bwMode="gray">
          <a:xfrm>
            <a:off x="1460500" y="2095500"/>
            <a:ext cx="355600" cy="355600"/>
          </a:xfrm>
          <a:prstGeom prst="rect">
            <a:avLst/>
          </a:prstGeom>
          <a:solidFill>
            <a:srgbClr val="E8E4F0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3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D450F1-6182-1647-A3DA-1AC22934DC58}"/>
              </a:ext>
            </a:extLst>
          </p:cNvPr>
          <p:cNvSpPr/>
          <p:nvPr/>
        </p:nvSpPr>
        <p:spPr bwMode="gray">
          <a:xfrm>
            <a:off x="1816100" y="2095500"/>
            <a:ext cx="355600" cy="355600"/>
          </a:xfrm>
          <a:prstGeom prst="rect">
            <a:avLst/>
          </a:prstGeom>
          <a:solidFill>
            <a:srgbClr val="E8E4F0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4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A38D74-F177-8942-893D-6BAC0FE4C6FB}"/>
              </a:ext>
            </a:extLst>
          </p:cNvPr>
          <p:cNvSpPr/>
          <p:nvPr/>
        </p:nvSpPr>
        <p:spPr bwMode="gray">
          <a:xfrm>
            <a:off x="2171700" y="2095500"/>
            <a:ext cx="355600" cy="355600"/>
          </a:xfrm>
          <a:prstGeom prst="rect">
            <a:avLst/>
          </a:prstGeom>
          <a:solidFill>
            <a:srgbClr val="E8E4F0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5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EC042092-1884-B44C-95E6-49221D0CD669}"/>
              </a:ext>
            </a:extLst>
          </p:cNvPr>
          <p:cNvSpPr/>
          <p:nvPr/>
        </p:nvSpPr>
        <p:spPr bwMode="gray">
          <a:xfrm>
            <a:off x="1905000" y="2540000"/>
            <a:ext cx="381000" cy="317500"/>
          </a:xfrm>
          <a:prstGeom prst="downArrow">
            <a:avLst/>
          </a:prstGeom>
          <a:solidFill>
            <a:srgbClr val="66666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1B5A68-E987-334A-870D-01898F3F10D8}"/>
              </a:ext>
            </a:extLst>
          </p:cNvPr>
          <p:cNvSpPr txBox="1"/>
          <p:nvPr/>
        </p:nvSpPr>
        <p:spPr bwMode="gray">
          <a:xfrm>
            <a:off x="508000" y="2921000"/>
            <a:ext cx="889000" cy="3556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None/>
            </a:pPr>
            <a:r>
              <a:rPr lang="en-GB" sz="1300" b="1" dirty="0" err="1"/>
              <a:t>Ergebnis</a:t>
            </a:r>
            <a:r>
              <a:rPr lang="en-GB" sz="1300" b="1" dirty="0"/>
              <a:t>:</a:t>
            </a:r>
            <a:endParaRPr lang="en-DE" sz="1300" b="1" dirty="0" err="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18495E-1D94-DD42-82B8-C074306297E3}"/>
              </a:ext>
            </a:extLst>
          </p:cNvPr>
          <p:cNvSpPr/>
          <p:nvPr/>
        </p:nvSpPr>
        <p:spPr bwMode="gray">
          <a:xfrm>
            <a:off x="1460500" y="2921000"/>
            <a:ext cx="355600" cy="355600"/>
          </a:xfrm>
          <a:prstGeom prst="rect">
            <a:avLst/>
          </a:prstGeom>
          <a:solidFill>
            <a:srgbClr val="D5E8D4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0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E6984C-8F0A-084F-991C-19E33651BDFB}"/>
              </a:ext>
            </a:extLst>
          </p:cNvPr>
          <p:cNvSpPr/>
          <p:nvPr/>
        </p:nvSpPr>
        <p:spPr bwMode="gray">
          <a:xfrm>
            <a:off x="1816100" y="2921000"/>
            <a:ext cx="355600" cy="355600"/>
          </a:xfrm>
          <a:prstGeom prst="rect">
            <a:avLst/>
          </a:prstGeom>
          <a:solidFill>
            <a:srgbClr val="D5E8D4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1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47CB07-E5E3-8D4E-BAF2-ECDAB9799A3D}"/>
              </a:ext>
            </a:extLst>
          </p:cNvPr>
          <p:cNvSpPr/>
          <p:nvPr/>
        </p:nvSpPr>
        <p:spPr bwMode="gray">
          <a:xfrm>
            <a:off x="2171700" y="2921000"/>
            <a:ext cx="355600" cy="355600"/>
          </a:xfrm>
          <a:prstGeom prst="rect">
            <a:avLst/>
          </a:prstGeom>
          <a:solidFill>
            <a:srgbClr val="D5E8D4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2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393496-EE97-1D43-9F00-04EF856407E3}"/>
              </a:ext>
            </a:extLst>
          </p:cNvPr>
          <p:cNvSpPr/>
          <p:nvPr/>
        </p:nvSpPr>
        <p:spPr bwMode="gray">
          <a:xfrm>
            <a:off x="2527300" y="2921000"/>
            <a:ext cx="355600" cy="355600"/>
          </a:xfrm>
          <a:prstGeom prst="rect">
            <a:avLst/>
          </a:prstGeom>
          <a:solidFill>
            <a:srgbClr val="D5E8D4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3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C3464EC-4DB6-3844-8A57-EA6CEAE6BA7B}"/>
              </a:ext>
            </a:extLst>
          </p:cNvPr>
          <p:cNvSpPr/>
          <p:nvPr/>
        </p:nvSpPr>
        <p:spPr bwMode="gray">
          <a:xfrm>
            <a:off x="2882900" y="2921000"/>
            <a:ext cx="355600" cy="355600"/>
          </a:xfrm>
          <a:prstGeom prst="rect">
            <a:avLst/>
          </a:prstGeom>
          <a:solidFill>
            <a:srgbClr val="D5E8D4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4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70FC5E-BC0E-0E4A-A2F6-74FD425A3649}"/>
              </a:ext>
            </a:extLst>
          </p:cNvPr>
          <p:cNvSpPr/>
          <p:nvPr/>
        </p:nvSpPr>
        <p:spPr bwMode="gray">
          <a:xfrm>
            <a:off x="3238500" y="2921000"/>
            <a:ext cx="355600" cy="355600"/>
          </a:xfrm>
          <a:prstGeom prst="rect">
            <a:avLst/>
          </a:prstGeom>
          <a:solidFill>
            <a:srgbClr val="D5E8D4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5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C1DFCC-B115-854B-A6F0-5C10A279E46B}"/>
              </a:ext>
            </a:extLst>
          </p:cNvPr>
          <p:cNvSpPr txBox="1"/>
          <p:nvPr/>
        </p:nvSpPr>
        <p:spPr bwMode="gray">
          <a:xfrm>
            <a:off x="508000" y="34925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None/>
            </a:pPr>
            <a:r>
              <a:rPr lang="en-GB" sz="1500" b="1" dirty="0">
                <a:solidFill>
                  <a:srgbClr val="2E7D32"/>
                </a:solidFill>
              </a:rPr>
              <a:t>3 </a:t>
            </a:r>
            <a:r>
              <a:rPr lang="en-GB" sz="1500" b="1" dirty="0" err="1">
                <a:solidFill>
                  <a:srgbClr val="2E7D32"/>
                </a:solidFill>
              </a:rPr>
              <a:t>Vergleiche</a:t>
            </a:r>
            <a:r>
              <a:rPr lang="en-GB" sz="1500" b="1" dirty="0">
                <a:solidFill>
                  <a:srgbClr val="2E7D32"/>
                </a:solidFill>
              </a:rPr>
              <a:t>:</a:t>
            </a:r>
            <a:endParaRPr lang="en-DE" sz="1500" b="1" dirty="0" err="1">
              <a:solidFill>
                <a:srgbClr val="2E7D32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8B9B22-242A-7643-9492-2BB34377F800}"/>
              </a:ext>
            </a:extLst>
          </p:cNvPr>
          <p:cNvSpPr txBox="1"/>
          <p:nvPr/>
        </p:nvSpPr>
        <p:spPr bwMode="gray">
          <a:xfrm>
            <a:off x="508000" y="3784600"/>
            <a:ext cx="3086100" cy="8636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None/>
            </a:pPr>
            <a:r>
              <a:rPr lang="en-GB" sz="1200" dirty="0">
                <a:solidFill>
                  <a:srgbClr val="2F7D31"/>
                </a:solidFill>
              </a:rPr>
              <a:t>0&lt;3, 1&lt;3, 2&lt;3</a:t>
            </a:r>
          </a:p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None/>
            </a:pPr>
            <a:r>
              <a:rPr lang="en-GB" sz="1200" dirty="0">
                <a:solidFill>
                  <a:srgbClr val="666666"/>
                </a:solidFill>
              </a:rPr>
              <a:t>Rest (3,4,5) </a:t>
            </a:r>
            <a:r>
              <a:rPr lang="en-GB" sz="1200" dirty="0" err="1">
                <a:solidFill>
                  <a:srgbClr val="666666"/>
                </a:solidFill>
              </a:rPr>
              <a:t>wird</a:t>
            </a:r>
            <a:r>
              <a:rPr lang="en-GB" sz="1200" dirty="0">
                <a:solidFill>
                  <a:srgbClr val="666666"/>
                </a:solidFill>
              </a:rPr>
              <a:t> </a:t>
            </a:r>
            <a:r>
              <a:rPr lang="en-GB" sz="1200" dirty="0" err="1">
                <a:solidFill>
                  <a:srgbClr val="666666"/>
                </a:solidFill>
              </a:rPr>
              <a:t>ohne</a:t>
            </a:r>
            <a:r>
              <a:rPr lang="en-GB" sz="1200" dirty="0">
                <a:solidFill>
                  <a:srgbClr val="666666"/>
                </a:solidFill>
              </a:rPr>
              <a:t> </a:t>
            </a:r>
            <a:r>
              <a:rPr lang="en-GB" sz="1200" dirty="0" err="1">
                <a:solidFill>
                  <a:srgbClr val="666666"/>
                </a:solidFill>
              </a:rPr>
              <a:t>Vergleich</a:t>
            </a:r>
            <a:r>
              <a:rPr lang="en-GB" sz="1200" dirty="0">
                <a:solidFill>
                  <a:srgbClr val="666666"/>
                </a:solidFill>
              </a:rPr>
              <a:t> </a:t>
            </a:r>
            <a:r>
              <a:rPr lang="en-GB" sz="1200" dirty="0" err="1">
                <a:solidFill>
                  <a:srgbClr val="666666"/>
                </a:solidFill>
              </a:rPr>
              <a:t>angehängt</a:t>
            </a:r>
            <a:r>
              <a:rPr lang="en-GB" sz="1200" dirty="0">
                <a:solidFill>
                  <a:srgbClr val="666666"/>
                </a:solidFill>
              </a:rPr>
              <a:t>.</a:t>
            </a:r>
          </a:p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None/>
            </a:pPr>
            <a:endParaRPr lang="en-DE" sz="1200" dirty="0" err="1">
              <a:solidFill>
                <a:srgbClr val="666666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0DC89C-47C1-4F49-BF04-E22ADC771D02}"/>
              </a:ext>
            </a:extLst>
          </p:cNvPr>
          <p:cNvSpPr txBox="1"/>
          <p:nvPr/>
        </p:nvSpPr>
        <p:spPr bwMode="gray">
          <a:xfrm>
            <a:off x="4064000" y="12700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None/>
            </a:pPr>
            <a:r>
              <a:rPr lang="en-GB" sz="1600" b="1">
                <a:solidFill>
                  <a:srgbClr val="5C2D91"/>
                </a:solidFill>
              </a:rPr>
              <a:t>Schwer: strikt alternierend</a:t>
            </a:r>
            <a:endParaRPr lang="en-DE" sz="1600" b="1" dirty="0" err="1">
              <a:solidFill>
                <a:srgbClr val="5C2D9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CC0521-3EEE-2A48-BE4A-E8EB306A250C}"/>
              </a:ext>
            </a:extLst>
          </p:cNvPr>
          <p:cNvSpPr txBox="1"/>
          <p:nvPr/>
        </p:nvSpPr>
        <p:spPr bwMode="gray">
          <a:xfrm>
            <a:off x="4064000" y="1651000"/>
            <a:ext cx="889000" cy="3556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None/>
            </a:pPr>
            <a:r>
              <a:rPr lang="en-GB" sz="1300" b="1" dirty="0"/>
              <a:t>Links:</a:t>
            </a:r>
            <a:endParaRPr lang="en-DE" sz="1300" b="1" dirty="0" err="1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7CC261C-7BAC-F841-9CFC-7212FFB05AFD}"/>
              </a:ext>
            </a:extLst>
          </p:cNvPr>
          <p:cNvSpPr/>
          <p:nvPr/>
        </p:nvSpPr>
        <p:spPr bwMode="gray">
          <a:xfrm>
            <a:off x="5016500" y="1651000"/>
            <a:ext cx="355600" cy="355600"/>
          </a:xfrm>
          <a:prstGeom prst="rect">
            <a:avLst/>
          </a:prstGeom>
          <a:solidFill>
            <a:srgbClr val="E8E4F0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0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DE48541-FC1E-E841-8A6F-AD0E28E796B7}"/>
              </a:ext>
            </a:extLst>
          </p:cNvPr>
          <p:cNvSpPr/>
          <p:nvPr/>
        </p:nvSpPr>
        <p:spPr bwMode="gray">
          <a:xfrm>
            <a:off x="5372100" y="1651000"/>
            <a:ext cx="355600" cy="355600"/>
          </a:xfrm>
          <a:prstGeom prst="rect">
            <a:avLst/>
          </a:prstGeom>
          <a:solidFill>
            <a:srgbClr val="E8E4F0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2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4AE2CC4-7282-D14A-BEAE-B4C6757D5D6D}"/>
              </a:ext>
            </a:extLst>
          </p:cNvPr>
          <p:cNvSpPr/>
          <p:nvPr/>
        </p:nvSpPr>
        <p:spPr bwMode="gray">
          <a:xfrm>
            <a:off x="5727700" y="1651000"/>
            <a:ext cx="355600" cy="355600"/>
          </a:xfrm>
          <a:prstGeom prst="rect">
            <a:avLst/>
          </a:prstGeom>
          <a:solidFill>
            <a:srgbClr val="E8E4F0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4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7D8758-3802-0343-906D-D2B44575AD57}"/>
              </a:ext>
            </a:extLst>
          </p:cNvPr>
          <p:cNvSpPr txBox="1"/>
          <p:nvPr/>
        </p:nvSpPr>
        <p:spPr bwMode="gray">
          <a:xfrm>
            <a:off x="4064000" y="2095500"/>
            <a:ext cx="889000" cy="3556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None/>
            </a:pPr>
            <a:r>
              <a:rPr lang="en-GB" sz="1300" b="1" dirty="0" err="1"/>
              <a:t>Rechts</a:t>
            </a:r>
            <a:r>
              <a:rPr lang="en-GB" sz="1300" b="1" dirty="0"/>
              <a:t>:</a:t>
            </a:r>
            <a:endParaRPr lang="en-DE" sz="1300" b="1" dirty="0" err="1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01B4FDA-AF8A-4349-9F43-DEDB304614AB}"/>
              </a:ext>
            </a:extLst>
          </p:cNvPr>
          <p:cNvSpPr/>
          <p:nvPr/>
        </p:nvSpPr>
        <p:spPr bwMode="gray">
          <a:xfrm>
            <a:off x="5016500" y="2095500"/>
            <a:ext cx="355600" cy="355600"/>
          </a:xfrm>
          <a:prstGeom prst="rect">
            <a:avLst/>
          </a:prstGeom>
          <a:solidFill>
            <a:srgbClr val="E8E4F0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1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AABA255-3B5E-7649-AA79-4E028E774465}"/>
              </a:ext>
            </a:extLst>
          </p:cNvPr>
          <p:cNvSpPr/>
          <p:nvPr/>
        </p:nvSpPr>
        <p:spPr bwMode="gray">
          <a:xfrm>
            <a:off x="5372100" y="2095500"/>
            <a:ext cx="355600" cy="355600"/>
          </a:xfrm>
          <a:prstGeom prst="rect">
            <a:avLst/>
          </a:prstGeom>
          <a:solidFill>
            <a:srgbClr val="E8E4F0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3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114E57-F4B6-4E40-85D2-DA8579B4901A}"/>
              </a:ext>
            </a:extLst>
          </p:cNvPr>
          <p:cNvSpPr/>
          <p:nvPr/>
        </p:nvSpPr>
        <p:spPr bwMode="gray">
          <a:xfrm>
            <a:off x="5727700" y="2095500"/>
            <a:ext cx="355600" cy="355600"/>
          </a:xfrm>
          <a:prstGeom prst="rect">
            <a:avLst/>
          </a:prstGeom>
          <a:solidFill>
            <a:srgbClr val="E8E4F0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5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32" name="Down Arrow 31">
            <a:extLst>
              <a:ext uri="{FF2B5EF4-FFF2-40B4-BE49-F238E27FC236}">
                <a16:creationId xmlns:a16="http://schemas.microsoft.com/office/drawing/2014/main" id="{CF9FCF6D-9972-5E46-8E45-E915F5F5C9D7}"/>
              </a:ext>
            </a:extLst>
          </p:cNvPr>
          <p:cNvSpPr/>
          <p:nvPr/>
        </p:nvSpPr>
        <p:spPr bwMode="gray">
          <a:xfrm>
            <a:off x="5461000" y="2540000"/>
            <a:ext cx="381000" cy="317500"/>
          </a:xfrm>
          <a:prstGeom prst="downArrow">
            <a:avLst/>
          </a:prstGeom>
          <a:solidFill>
            <a:srgbClr val="66666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ECFCAA-ABC5-0342-8790-1EDA11C1066E}"/>
              </a:ext>
            </a:extLst>
          </p:cNvPr>
          <p:cNvSpPr txBox="1"/>
          <p:nvPr/>
        </p:nvSpPr>
        <p:spPr bwMode="gray">
          <a:xfrm>
            <a:off x="4064000" y="2921000"/>
            <a:ext cx="889000" cy="3556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None/>
            </a:pPr>
            <a:r>
              <a:rPr lang="en-GB" sz="1300" b="1"/>
              <a:t>Ergebnis:</a:t>
            </a:r>
            <a:endParaRPr lang="en-DE" sz="1300" b="1" dirty="0" err="1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837ED20-44B6-5545-8081-24A34B04FA80}"/>
              </a:ext>
            </a:extLst>
          </p:cNvPr>
          <p:cNvSpPr/>
          <p:nvPr/>
        </p:nvSpPr>
        <p:spPr bwMode="gray">
          <a:xfrm>
            <a:off x="5016500" y="2921000"/>
            <a:ext cx="355600" cy="355600"/>
          </a:xfrm>
          <a:prstGeom prst="rect">
            <a:avLst/>
          </a:prstGeom>
          <a:solidFill>
            <a:srgbClr val="F8CECC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0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32E03DE-D78F-1347-B631-0C0B367FF66A}"/>
              </a:ext>
            </a:extLst>
          </p:cNvPr>
          <p:cNvSpPr/>
          <p:nvPr/>
        </p:nvSpPr>
        <p:spPr bwMode="gray">
          <a:xfrm>
            <a:off x="5372100" y="2921000"/>
            <a:ext cx="355600" cy="355600"/>
          </a:xfrm>
          <a:prstGeom prst="rect">
            <a:avLst/>
          </a:prstGeom>
          <a:solidFill>
            <a:srgbClr val="F8CECC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1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253CBE1-2B9A-314A-BE3F-A0224D524911}"/>
              </a:ext>
            </a:extLst>
          </p:cNvPr>
          <p:cNvSpPr/>
          <p:nvPr/>
        </p:nvSpPr>
        <p:spPr bwMode="gray">
          <a:xfrm>
            <a:off x="5727700" y="2921000"/>
            <a:ext cx="355600" cy="355600"/>
          </a:xfrm>
          <a:prstGeom prst="rect">
            <a:avLst/>
          </a:prstGeom>
          <a:solidFill>
            <a:srgbClr val="F8CECC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2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F574A0E-731E-F84A-9086-B53A721055A8}"/>
              </a:ext>
            </a:extLst>
          </p:cNvPr>
          <p:cNvSpPr/>
          <p:nvPr/>
        </p:nvSpPr>
        <p:spPr bwMode="gray">
          <a:xfrm>
            <a:off x="6083300" y="2921000"/>
            <a:ext cx="355600" cy="355600"/>
          </a:xfrm>
          <a:prstGeom prst="rect">
            <a:avLst/>
          </a:prstGeom>
          <a:solidFill>
            <a:srgbClr val="F8CECC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3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AE601F6-02F2-B747-A396-132510C00CB7}"/>
              </a:ext>
            </a:extLst>
          </p:cNvPr>
          <p:cNvSpPr/>
          <p:nvPr/>
        </p:nvSpPr>
        <p:spPr bwMode="gray">
          <a:xfrm>
            <a:off x="6438900" y="2921000"/>
            <a:ext cx="355600" cy="355600"/>
          </a:xfrm>
          <a:prstGeom prst="rect">
            <a:avLst/>
          </a:prstGeom>
          <a:solidFill>
            <a:srgbClr val="F8CECC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4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F37E211-2856-4D46-A28E-C1FBDE0FF2AF}"/>
              </a:ext>
            </a:extLst>
          </p:cNvPr>
          <p:cNvSpPr/>
          <p:nvPr/>
        </p:nvSpPr>
        <p:spPr bwMode="gray">
          <a:xfrm>
            <a:off x="6794500" y="2921000"/>
            <a:ext cx="355600" cy="355600"/>
          </a:xfrm>
          <a:prstGeom prst="rect">
            <a:avLst/>
          </a:prstGeom>
          <a:solidFill>
            <a:srgbClr val="F8CECC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5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E582881-3FF5-DC46-A191-5CCEAF86FE07}"/>
              </a:ext>
            </a:extLst>
          </p:cNvPr>
          <p:cNvSpPr txBox="1"/>
          <p:nvPr/>
        </p:nvSpPr>
        <p:spPr bwMode="gray">
          <a:xfrm>
            <a:off x="4064000" y="34925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None/>
            </a:pPr>
            <a:r>
              <a:rPr lang="en-GB" sz="1500" b="1" dirty="0">
                <a:solidFill>
                  <a:srgbClr val="C0392B"/>
                </a:solidFill>
              </a:rPr>
              <a:t>5 </a:t>
            </a:r>
            <a:r>
              <a:rPr lang="en-GB" sz="1500" b="1" dirty="0" err="1">
                <a:solidFill>
                  <a:srgbClr val="C0392B"/>
                </a:solidFill>
              </a:rPr>
              <a:t>Vergleiche</a:t>
            </a:r>
            <a:r>
              <a:rPr lang="en-GB" sz="1500" b="1" dirty="0">
                <a:solidFill>
                  <a:srgbClr val="C0392B"/>
                </a:solidFill>
              </a:rPr>
              <a:t>:</a:t>
            </a:r>
            <a:endParaRPr lang="en-DE" sz="1500" b="1" dirty="0" err="1">
              <a:solidFill>
                <a:srgbClr val="C0392B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2D5658F-A7EF-124C-AFF1-C5F8B89E39DE}"/>
              </a:ext>
            </a:extLst>
          </p:cNvPr>
          <p:cNvSpPr txBox="1"/>
          <p:nvPr/>
        </p:nvSpPr>
        <p:spPr bwMode="gray">
          <a:xfrm>
            <a:off x="4064000" y="3784599"/>
            <a:ext cx="3048000" cy="863599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None/>
            </a:pPr>
            <a:r>
              <a:rPr lang="en-GB" sz="1200" dirty="0">
                <a:solidFill>
                  <a:srgbClr val="AE3427"/>
                </a:solidFill>
              </a:rPr>
              <a:t>0&lt;1, 1&lt;2, 2&lt;3, 3&lt;4, 4&lt;5</a:t>
            </a:r>
          </a:p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None/>
            </a:pPr>
            <a:r>
              <a:rPr lang="en-GB" sz="1200" dirty="0" err="1">
                <a:solidFill>
                  <a:srgbClr val="666666"/>
                </a:solidFill>
              </a:rPr>
              <a:t>Jeder</a:t>
            </a:r>
            <a:r>
              <a:rPr lang="en-GB" sz="1200" dirty="0">
                <a:solidFill>
                  <a:srgbClr val="666666"/>
                </a:solidFill>
              </a:rPr>
              <a:t> Schritt </a:t>
            </a:r>
            <a:r>
              <a:rPr lang="en-GB" sz="1200" dirty="0" err="1">
                <a:solidFill>
                  <a:srgbClr val="666666"/>
                </a:solidFill>
              </a:rPr>
              <a:t>erfordert</a:t>
            </a:r>
            <a:r>
              <a:rPr lang="en-GB" sz="1200" dirty="0">
                <a:solidFill>
                  <a:srgbClr val="666666"/>
                </a:solidFill>
              </a:rPr>
              <a:t> </a:t>
            </a:r>
            <a:r>
              <a:rPr lang="en-GB" sz="1200" dirty="0" err="1">
                <a:solidFill>
                  <a:srgbClr val="666666"/>
                </a:solidFill>
              </a:rPr>
              <a:t>Vergleich</a:t>
            </a:r>
            <a:r>
              <a:rPr lang="en-GB" sz="1200" dirty="0">
                <a:solidFill>
                  <a:srgbClr val="666666"/>
                </a:solidFill>
              </a:rPr>
              <a:t>.</a:t>
            </a:r>
          </a:p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None/>
            </a:pPr>
            <a:endParaRPr lang="en-DE" sz="1200" dirty="0" err="1">
              <a:solidFill>
                <a:srgbClr val="6666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321641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55A57-B96E-7D16-1BDD-08C7658E1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Mergesort</a:t>
            </a:r>
            <a:r>
              <a:rPr lang="en-GB" dirty="0"/>
              <a:t> Worst Case: Unzip-Trick</a:t>
            </a:r>
            <a:endParaRPr lang="en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A802E5-A259-2546-A87A-0CC8BAD85FC4}"/>
              </a:ext>
            </a:extLst>
          </p:cNvPr>
          <p:cNvSpPr txBox="1"/>
          <p:nvPr/>
        </p:nvSpPr>
        <p:spPr bwMode="gray">
          <a:xfrm>
            <a:off x="251520" y="1333500"/>
            <a:ext cx="1206500" cy="406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None/>
            </a:pPr>
            <a:r>
              <a:rPr lang="en-GB" sz="1400" b="1" dirty="0" err="1">
                <a:solidFill>
                  <a:srgbClr val="000000"/>
                </a:solidFill>
              </a:rPr>
              <a:t>Sortiert</a:t>
            </a:r>
            <a:r>
              <a:rPr lang="en-GB" sz="1400" b="1" dirty="0">
                <a:solidFill>
                  <a:srgbClr val="000000"/>
                </a:solidFill>
              </a:rPr>
              <a:t>: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958DAE-547B-2442-AB5C-5A0286C1A2E6}"/>
              </a:ext>
            </a:extLst>
          </p:cNvPr>
          <p:cNvSpPr/>
          <p:nvPr/>
        </p:nvSpPr>
        <p:spPr bwMode="gray">
          <a:xfrm>
            <a:off x="1702048" y="1333500"/>
            <a:ext cx="457200" cy="406400"/>
          </a:xfrm>
          <a:prstGeom prst="rect">
            <a:avLst/>
          </a:prstGeom>
          <a:solidFill>
            <a:srgbClr val="FFE6CC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0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84B3D5-263E-0D4B-93BA-C8448F9DFBBB}"/>
              </a:ext>
            </a:extLst>
          </p:cNvPr>
          <p:cNvSpPr/>
          <p:nvPr/>
        </p:nvSpPr>
        <p:spPr bwMode="gray">
          <a:xfrm>
            <a:off x="2159248" y="1333500"/>
            <a:ext cx="457200" cy="406400"/>
          </a:xfrm>
          <a:prstGeom prst="rect">
            <a:avLst/>
          </a:prstGeom>
          <a:solidFill>
            <a:srgbClr val="DAE8FC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1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FD6B0C-A2AB-1E4B-A813-C51CE21C9794}"/>
              </a:ext>
            </a:extLst>
          </p:cNvPr>
          <p:cNvSpPr/>
          <p:nvPr/>
        </p:nvSpPr>
        <p:spPr bwMode="gray">
          <a:xfrm>
            <a:off x="2616448" y="1333500"/>
            <a:ext cx="457200" cy="406400"/>
          </a:xfrm>
          <a:prstGeom prst="rect">
            <a:avLst/>
          </a:prstGeom>
          <a:solidFill>
            <a:srgbClr val="FFE6CC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2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842894-0BE3-DD49-AB30-68257F5CF158}"/>
              </a:ext>
            </a:extLst>
          </p:cNvPr>
          <p:cNvSpPr/>
          <p:nvPr/>
        </p:nvSpPr>
        <p:spPr bwMode="gray">
          <a:xfrm>
            <a:off x="3073648" y="1333500"/>
            <a:ext cx="457200" cy="406400"/>
          </a:xfrm>
          <a:prstGeom prst="rect">
            <a:avLst/>
          </a:prstGeom>
          <a:solidFill>
            <a:srgbClr val="DAE8FC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3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272C47-B801-D74F-BB1C-08BA7E203463}"/>
              </a:ext>
            </a:extLst>
          </p:cNvPr>
          <p:cNvSpPr/>
          <p:nvPr/>
        </p:nvSpPr>
        <p:spPr bwMode="gray">
          <a:xfrm>
            <a:off x="3530848" y="1333500"/>
            <a:ext cx="457200" cy="406400"/>
          </a:xfrm>
          <a:prstGeom prst="rect">
            <a:avLst/>
          </a:prstGeom>
          <a:solidFill>
            <a:srgbClr val="FFE6CC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4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8D1F94-1D16-4B42-B996-3B4A6A7882F5}"/>
              </a:ext>
            </a:extLst>
          </p:cNvPr>
          <p:cNvSpPr/>
          <p:nvPr/>
        </p:nvSpPr>
        <p:spPr bwMode="gray">
          <a:xfrm>
            <a:off x="3988048" y="1333500"/>
            <a:ext cx="457200" cy="406400"/>
          </a:xfrm>
          <a:prstGeom prst="rect">
            <a:avLst/>
          </a:prstGeom>
          <a:solidFill>
            <a:srgbClr val="DAE8FC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5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E9645D-D922-3A4E-BEB6-40F4FCA844BB}"/>
              </a:ext>
            </a:extLst>
          </p:cNvPr>
          <p:cNvSpPr/>
          <p:nvPr/>
        </p:nvSpPr>
        <p:spPr bwMode="gray">
          <a:xfrm>
            <a:off x="4445248" y="1333500"/>
            <a:ext cx="457200" cy="406400"/>
          </a:xfrm>
          <a:prstGeom prst="rect">
            <a:avLst/>
          </a:prstGeom>
          <a:solidFill>
            <a:srgbClr val="FFE6CC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6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B6CD61-2719-9445-8DA6-957790E356A4}"/>
              </a:ext>
            </a:extLst>
          </p:cNvPr>
          <p:cNvSpPr/>
          <p:nvPr/>
        </p:nvSpPr>
        <p:spPr bwMode="gray">
          <a:xfrm>
            <a:off x="4902448" y="1333500"/>
            <a:ext cx="457200" cy="406400"/>
          </a:xfrm>
          <a:prstGeom prst="rect">
            <a:avLst/>
          </a:prstGeom>
          <a:solidFill>
            <a:srgbClr val="DAE8FC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7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15" name="Down Arrow 14">
            <a:extLst>
              <a:ext uri="{FF2B5EF4-FFF2-40B4-BE49-F238E27FC236}">
                <a16:creationId xmlns:a16="http://schemas.microsoft.com/office/drawing/2014/main" id="{62FD849F-09CF-6041-A135-963477E33F07}"/>
              </a:ext>
            </a:extLst>
          </p:cNvPr>
          <p:cNvSpPr/>
          <p:nvPr/>
        </p:nvSpPr>
        <p:spPr bwMode="gray">
          <a:xfrm>
            <a:off x="3340348" y="1841500"/>
            <a:ext cx="381000" cy="381000"/>
          </a:xfrm>
          <a:prstGeom prst="downArrow">
            <a:avLst/>
          </a:prstGeom>
          <a:solidFill>
            <a:srgbClr val="66666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653505-FE5B-7049-8B00-ED1ED90EA16C}"/>
              </a:ext>
            </a:extLst>
          </p:cNvPr>
          <p:cNvSpPr txBox="1"/>
          <p:nvPr/>
        </p:nvSpPr>
        <p:spPr bwMode="gray">
          <a:xfrm>
            <a:off x="6156176" y="1905000"/>
            <a:ext cx="2376264" cy="304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None/>
            </a:pPr>
            <a:r>
              <a:rPr lang="en-GB" sz="1300" b="1" dirty="0">
                <a:solidFill>
                  <a:srgbClr val="5C2D91"/>
                </a:solidFill>
              </a:rPr>
              <a:t>Nach Index-</a:t>
            </a:r>
            <a:r>
              <a:rPr lang="en-GB" sz="1300" b="1" dirty="0" err="1">
                <a:solidFill>
                  <a:srgbClr val="5C2D91"/>
                </a:solidFill>
              </a:rPr>
              <a:t>Parität</a:t>
            </a:r>
            <a:r>
              <a:rPr lang="en-GB" sz="1300" b="1" dirty="0">
                <a:solidFill>
                  <a:srgbClr val="5C2D91"/>
                </a:solidFill>
              </a:rPr>
              <a:t> </a:t>
            </a:r>
            <a:r>
              <a:rPr lang="en-GB" sz="1300" b="1" dirty="0" err="1">
                <a:solidFill>
                  <a:srgbClr val="5C2D91"/>
                </a:solidFill>
              </a:rPr>
              <a:t>trennen</a:t>
            </a:r>
            <a:endParaRPr lang="en-DE" sz="1300" b="1" dirty="0" err="1">
              <a:solidFill>
                <a:srgbClr val="5C2D9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3AF220-149B-0742-9666-A4C32B8E121F}"/>
              </a:ext>
            </a:extLst>
          </p:cNvPr>
          <p:cNvSpPr txBox="1"/>
          <p:nvPr/>
        </p:nvSpPr>
        <p:spPr bwMode="gray">
          <a:xfrm>
            <a:off x="252000" y="2353733"/>
            <a:ext cx="1206500" cy="406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None/>
            </a:pPr>
            <a:r>
              <a:rPr lang="en-GB" sz="1400" b="1" dirty="0" err="1">
                <a:solidFill>
                  <a:srgbClr val="000000"/>
                </a:solidFill>
              </a:rPr>
              <a:t>Gerade</a:t>
            </a:r>
            <a:r>
              <a:rPr lang="en-GB" sz="1400" b="1" dirty="0">
                <a:solidFill>
                  <a:srgbClr val="000000"/>
                </a:solidFill>
              </a:rPr>
              <a:t>: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483C55-4305-E341-B97A-BFF2E613B9E6}"/>
              </a:ext>
            </a:extLst>
          </p:cNvPr>
          <p:cNvSpPr/>
          <p:nvPr/>
        </p:nvSpPr>
        <p:spPr bwMode="gray">
          <a:xfrm>
            <a:off x="2627784" y="2349500"/>
            <a:ext cx="457200" cy="406400"/>
          </a:xfrm>
          <a:prstGeom prst="rect">
            <a:avLst/>
          </a:prstGeom>
          <a:solidFill>
            <a:srgbClr val="FFE6CC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0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10F4F4-7B98-4145-8DC5-832EB065C3F8}"/>
              </a:ext>
            </a:extLst>
          </p:cNvPr>
          <p:cNvSpPr/>
          <p:nvPr/>
        </p:nvSpPr>
        <p:spPr bwMode="gray">
          <a:xfrm>
            <a:off x="3084984" y="2349500"/>
            <a:ext cx="457200" cy="406400"/>
          </a:xfrm>
          <a:prstGeom prst="rect">
            <a:avLst/>
          </a:prstGeom>
          <a:solidFill>
            <a:srgbClr val="FFE6CC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2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B643D10-01E9-5E4E-A321-45D87F32DA36}"/>
              </a:ext>
            </a:extLst>
          </p:cNvPr>
          <p:cNvSpPr/>
          <p:nvPr/>
        </p:nvSpPr>
        <p:spPr bwMode="gray">
          <a:xfrm>
            <a:off x="3542184" y="2349500"/>
            <a:ext cx="457200" cy="406400"/>
          </a:xfrm>
          <a:prstGeom prst="rect">
            <a:avLst/>
          </a:prstGeom>
          <a:solidFill>
            <a:srgbClr val="FFE6CC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 dirty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2A51F3-8E27-5241-85BC-54440C7B5405}"/>
              </a:ext>
            </a:extLst>
          </p:cNvPr>
          <p:cNvSpPr/>
          <p:nvPr/>
        </p:nvSpPr>
        <p:spPr bwMode="gray">
          <a:xfrm>
            <a:off x="3999384" y="2349500"/>
            <a:ext cx="457200" cy="406400"/>
          </a:xfrm>
          <a:prstGeom prst="rect">
            <a:avLst/>
          </a:prstGeom>
          <a:solidFill>
            <a:srgbClr val="FFE6CC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6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609E4C-786D-514F-A536-2080BFE400CC}"/>
              </a:ext>
            </a:extLst>
          </p:cNvPr>
          <p:cNvSpPr txBox="1"/>
          <p:nvPr/>
        </p:nvSpPr>
        <p:spPr bwMode="gray">
          <a:xfrm>
            <a:off x="252000" y="2857500"/>
            <a:ext cx="1206500" cy="406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None/>
            </a:pPr>
            <a:r>
              <a:rPr lang="en-GB" sz="1400" b="1" dirty="0" err="1">
                <a:solidFill>
                  <a:srgbClr val="000000"/>
                </a:solidFill>
              </a:rPr>
              <a:t>Ungerade</a:t>
            </a:r>
            <a:r>
              <a:rPr lang="en-GB" sz="1400" b="1" dirty="0">
                <a:solidFill>
                  <a:srgbClr val="000000"/>
                </a:solidFill>
              </a:rPr>
              <a:t>: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997D5B-EFC8-214E-B7ED-7C56C33E75CA}"/>
              </a:ext>
            </a:extLst>
          </p:cNvPr>
          <p:cNvSpPr/>
          <p:nvPr/>
        </p:nvSpPr>
        <p:spPr bwMode="gray">
          <a:xfrm>
            <a:off x="2627784" y="2857500"/>
            <a:ext cx="457200" cy="406400"/>
          </a:xfrm>
          <a:prstGeom prst="rect">
            <a:avLst/>
          </a:prstGeom>
          <a:solidFill>
            <a:srgbClr val="DAE8FC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1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A5C425F-4570-FB41-A5DC-3E510B07B526}"/>
              </a:ext>
            </a:extLst>
          </p:cNvPr>
          <p:cNvSpPr/>
          <p:nvPr/>
        </p:nvSpPr>
        <p:spPr bwMode="gray">
          <a:xfrm>
            <a:off x="3084984" y="2857500"/>
            <a:ext cx="457200" cy="406400"/>
          </a:xfrm>
          <a:prstGeom prst="rect">
            <a:avLst/>
          </a:prstGeom>
          <a:solidFill>
            <a:srgbClr val="DAE8FC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3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6FAFC6-D787-5A4F-A0EA-DE469297A2F3}"/>
              </a:ext>
            </a:extLst>
          </p:cNvPr>
          <p:cNvSpPr/>
          <p:nvPr/>
        </p:nvSpPr>
        <p:spPr bwMode="gray">
          <a:xfrm>
            <a:off x="3542184" y="2857500"/>
            <a:ext cx="457200" cy="406400"/>
          </a:xfrm>
          <a:prstGeom prst="rect">
            <a:avLst/>
          </a:prstGeom>
          <a:solidFill>
            <a:srgbClr val="DAE8FC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5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2E78B10-47AE-734F-B5D8-252633DEFB70}"/>
              </a:ext>
            </a:extLst>
          </p:cNvPr>
          <p:cNvSpPr/>
          <p:nvPr/>
        </p:nvSpPr>
        <p:spPr bwMode="gray">
          <a:xfrm>
            <a:off x="3999384" y="2857500"/>
            <a:ext cx="457200" cy="406400"/>
          </a:xfrm>
          <a:prstGeom prst="rect">
            <a:avLst/>
          </a:prstGeom>
          <a:solidFill>
            <a:srgbClr val="DAE8FC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7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BD84E3-6799-694E-82F1-4B67A7DAEF9B}"/>
              </a:ext>
            </a:extLst>
          </p:cNvPr>
          <p:cNvSpPr txBox="1"/>
          <p:nvPr/>
        </p:nvSpPr>
        <p:spPr bwMode="gray">
          <a:xfrm>
            <a:off x="6156264" y="3365500"/>
            <a:ext cx="2520192" cy="304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None/>
            </a:pPr>
            <a:r>
              <a:rPr lang="en-GB" sz="1300" b="1" dirty="0" err="1">
                <a:solidFill>
                  <a:srgbClr val="5C2D91"/>
                </a:solidFill>
              </a:rPr>
              <a:t>Verketten</a:t>
            </a:r>
            <a:r>
              <a:rPr lang="en-GB" sz="1300" b="1" dirty="0">
                <a:solidFill>
                  <a:srgbClr val="5C2D91"/>
                </a:solidFill>
              </a:rPr>
              <a:t>: </a:t>
            </a:r>
            <a:r>
              <a:rPr lang="en-GB" sz="1300" b="1" dirty="0" err="1">
                <a:solidFill>
                  <a:srgbClr val="5C2D91"/>
                </a:solidFill>
              </a:rPr>
              <a:t>gerade</a:t>
            </a:r>
            <a:r>
              <a:rPr lang="en-GB" sz="1300" b="1" dirty="0">
                <a:solidFill>
                  <a:srgbClr val="5C2D91"/>
                </a:solidFill>
              </a:rPr>
              <a:t> + </a:t>
            </a:r>
            <a:r>
              <a:rPr lang="en-GB" sz="1300" b="1" dirty="0" err="1">
                <a:solidFill>
                  <a:srgbClr val="5C2D91"/>
                </a:solidFill>
              </a:rPr>
              <a:t>ungerade</a:t>
            </a:r>
            <a:endParaRPr lang="en-DE" sz="1300" b="1" dirty="0" err="1">
              <a:solidFill>
                <a:srgbClr val="5C2D91"/>
              </a:solidFill>
            </a:endParaRPr>
          </a:p>
        </p:txBody>
      </p:sp>
      <p:sp>
        <p:nvSpPr>
          <p:cNvPr id="28" name="Down Arrow 27">
            <a:extLst>
              <a:ext uri="{FF2B5EF4-FFF2-40B4-BE49-F238E27FC236}">
                <a16:creationId xmlns:a16="http://schemas.microsoft.com/office/drawing/2014/main" id="{8DD92DAA-991E-A840-8ED1-D7D73EF00428}"/>
              </a:ext>
            </a:extLst>
          </p:cNvPr>
          <p:cNvSpPr/>
          <p:nvPr/>
        </p:nvSpPr>
        <p:spPr bwMode="gray">
          <a:xfrm>
            <a:off x="3340348" y="3365500"/>
            <a:ext cx="381000" cy="330200"/>
          </a:xfrm>
          <a:prstGeom prst="downArrow">
            <a:avLst/>
          </a:prstGeom>
          <a:solidFill>
            <a:srgbClr val="66666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A58D905-B656-2E46-8C85-F858A5525553}"/>
              </a:ext>
            </a:extLst>
          </p:cNvPr>
          <p:cNvSpPr txBox="1"/>
          <p:nvPr/>
        </p:nvSpPr>
        <p:spPr bwMode="gray">
          <a:xfrm>
            <a:off x="252000" y="3810000"/>
            <a:ext cx="1206500" cy="406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None/>
            </a:pPr>
            <a:r>
              <a:rPr lang="en-GB" sz="1400" b="1">
                <a:solidFill>
                  <a:srgbClr val="000000"/>
                </a:solidFill>
              </a:rPr>
              <a:t>Eingabe: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DA2FC4E-CEF3-DD44-9AC8-2FE69D925C78}"/>
              </a:ext>
            </a:extLst>
          </p:cNvPr>
          <p:cNvSpPr/>
          <p:nvPr/>
        </p:nvSpPr>
        <p:spPr bwMode="gray">
          <a:xfrm>
            <a:off x="1702048" y="3810000"/>
            <a:ext cx="457200" cy="406400"/>
          </a:xfrm>
          <a:prstGeom prst="rect">
            <a:avLst/>
          </a:prstGeom>
          <a:solidFill>
            <a:srgbClr val="FFE6CC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0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8522A38-CF30-2B48-B296-D386185CF33F}"/>
              </a:ext>
            </a:extLst>
          </p:cNvPr>
          <p:cNvSpPr/>
          <p:nvPr/>
        </p:nvSpPr>
        <p:spPr bwMode="gray">
          <a:xfrm>
            <a:off x="2159248" y="3810000"/>
            <a:ext cx="457200" cy="406400"/>
          </a:xfrm>
          <a:prstGeom prst="rect">
            <a:avLst/>
          </a:prstGeom>
          <a:solidFill>
            <a:srgbClr val="FFE6CC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2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D0AC1A8-5118-A745-A2F9-A8F27DB26A4B}"/>
              </a:ext>
            </a:extLst>
          </p:cNvPr>
          <p:cNvSpPr/>
          <p:nvPr/>
        </p:nvSpPr>
        <p:spPr bwMode="gray">
          <a:xfrm>
            <a:off x="2616448" y="3810000"/>
            <a:ext cx="457200" cy="406400"/>
          </a:xfrm>
          <a:prstGeom prst="rect">
            <a:avLst/>
          </a:prstGeom>
          <a:solidFill>
            <a:srgbClr val="FFE6CC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4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8E5C17-B925-6F43-BB79-27CE05254FE0}"/>
              </a:ext>
            </a:extLst>
          </p:cNvPr>
          <p:cNvSpPr/>
          <p:nvPr/>
        </p:nvSpPr>
        <p:spPr bwMode="gray">
          <a:xfrm>
            <a:off x="3073648" y="3810000"/>
            <a:ext cx="457200" cy="406400"/>
          </a:xfrm>
          <a:prstGeom prst="rect">
            <a:avLst/>
          </a:prstGeom>
          <a:solidFill>
            <a:srgbClr val="FFE6CC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6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0B5AF4A-A43D-854F-8FAD-A623341777A1}"/>
              </a:ext>
            </a:extLst>
          </p:cNvPr>
          <p:cNvSpPr/>
          <p:nvPr/>
        </p:nvSpPr>
        <p:spPr bwMode="gray">
          <a:xfrm>
            <a:off x="3530848" y="3810000"/>
            <a:ext cx="457200" cy="406400"/>
          </a:xfrm>
          <a:prstGeom prst="rect">
            <a:avLst/>
          </a:prstGeom>
          <a:solidFill>
            <a:srgbClr val="DAE8FC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1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DE857EF-44B2-4543-81C6-DC015E4CA5BF}"/>
              </a:ext>
            </a:extLst>
          </p:cNvPr>
          <p:cNvSpPr/>
          <p:nvPr/>
        </p:nvSpPr>
        <p:spPr bwMode="gray">
          <a:xfrm>
            <a:off x="3988048" y="3810000"/>
            <a:ext cx="457200" cy="406400"/>
          </a:xfrm>
          <a:prstGeom prst="rect">
            <a:avLst/>
          </a:prstGeom>
          <a:solidFill>
            <a:srgbClr val="DAE8FC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3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A846F3D-3905-FC45-82BC-CB261AADDE83}"/>
              </a:ext>
            </a:extLst>
          </p:cNvPr>
          <p:cNvSpPr/>
          <p:nvPr/>
        </p:nvSpPr>
        <p:spPr bwMode="gray">
          <a:xfrm>
            <a:off x="4445248" y="3810000"/>
            <a:ext cx="457200" cy="406400"/>
          </a:xfrm>
          <a:prstGeom prst="rect">
            <a:avLst/>
          </a:prstGeom>
          <a:solidFill>
            <a:srgbClr val="DAE8FC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5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AD601C6-5C1C-ED45-A736-1812651007F5}"/>
              </a:ext>
            </a:extLst>
          </p:cNvPr>
          <p:cNvSpPr/>
          <p:nvPr/>
        </p:nvSpPr>
        <p:spPr bwMode="gray">
          <a:xfrm>
            <a:off x="4902448" y="3810000"/>
            <a:ext cx="457200" cy="406400"/>
          </a:xfrm>
          <a:prstGeom prst="rect">
            <a:avLst/>
          </a:prstGeom>
          <a:solidFill>
            <a:srgbClr val="DAE8FC"/>
          </a:solidFill>
          <a:ln w="9525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sz="1400" b="1">
                <a:solidFill>
                  <a:srgbClr val="000000"/>
                </a:solidFill>
              </a:rPr>
              <a:t>7</a:t>
            </a:r>
            <a:endParaRPr lang="en-DE" sz="1400" b="1" dirty="0" err="1">
              <a:solidFill>
                <a:srgbClr val="000000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3832FD7-5CE3-6940-ACB2-093D905B6583}"/>
              </a:ext>
            </a:extLst>
          </p:cNvPr>
          <p:cNvSpPr/>
          <p:nvPr/>
        </p:nvSpPr>
        <p:spPr bwMode="gray">
          <a:xfrm>
            <a:off x="3518148" y="3784600"/>
            <a:ext cx="38100" cy="482600"/>
          </a:xfrm>
          <a:prstGeom prst="rect">
            <a:avLst/>
          </a:prstGeom>
          <a:solidFill>
            <a:srgbClr val="C0392B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4BBB22A-86F6-F147-BC39-34F225CA7E4D}"/>
              </a:ext>
            </a:extLst>
          </p:cNvPr>
          <p:cNvSpPr txBox="1"/>
          <p:nvPr/>
        </p:nvSpPr>
        <p:spPr bwMode="gray">
          <a:xfrm>
            <a:off x="1702048" y="4318000"/>
            <a:ext cx="36576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None/>
            </a:pPr>
            <a:r>
              <a:rPr lang="en-GB" sz="1200" b="1" dirty="0" err="1">
                <a:solidFill>
                  <a:srgbClr val="C0392B"/>
                </a:solidFill>
              </a:rPr>
              <a:t>linke</a:t>
            </a:r>
            <a:r>
              <a:rPr lang="en-GB" sz="1200" b="1" dirty="0">
                <a:solidFill>
                  <a:srgbClr val="C0392B"/>
                </a:solidFill>
              </a:rPr>
              <a:t> </a:t>
            </a:r>
            <a:r>
              <a:rPr lang="en-GB" sz="1200" b="1" dirty="0" err="1">
                <a:solidFill>
                  <a:srgbClr val="C0392B"/>
                </a:solidFill>
              </a:rPr>
              <a:t>Hälfte</a:t>
            </a:r>
            <a:r>
              <a:rPr lang="en-GB" sz="1200" b="1" dirty="0">
                <a:solidFill>
                  <a:srgbClr val="C0392B"/>
                </a:solidFill>
              </a:rPr>
              <a:t> und </a:t>
            </a:r>
            <a:r>
              <a:rPr lang="en-GB" sz="1200" b="1" dirty="0" err="1">
                <a:solidFill>
                  <a:srgbClr val="C0392B"/>
                </a:solidFill>
              </a:rPr>
              <a:t>rechte</a:t>
            </a:r>
            <a:r>
              <a:rPr lang="en-GB" sz="1200" b="1" dirty="0">
                <a:solidFill>
                  <a:srgbClr val="C0392B"/>
                </a:solidFill>
              </a:rPr>
              <a:t> </a:t>
            </a:r>
            <a:r>
              <a:rPr lang="en-GB" sz="1200" b="1" dirty="0" err="1">
                <a:solidFill>
                  <a:srgbClr val="C0392B"/>
                </a:solidFill>
              </a:rPr>
              <a:t>Hälfte</a:t>
            </a:r>
            <a:r>
              <a:rPr lang="en-GB" sz="1200" b="1" dirty="0">
                <a:solidFill>
                  <a:srgbClr val="C0392B"/>
                </a:solidFill>
              </a:rPr>
              <a:t> </a:t>
            </a:r>
            <a:r>
              <a:rPr lang="en-GB" sz="1200" b="1" dirty="0" err="1">
                <a:solidFill>
                  <a:srgbClr val="C0392B"/>
                </a:solidFill>
              </a:rPr>
              <a:t>alternieren</a:t>
            </a:r>
            <a:r>
              <a:rPr lang="en-GB" sz="1200" b="1" dirty="0">
                <a:solidFill>
                  <a:srgbClr val="C0392B"/>
                </a:solidFill>
              </a:rPr>
              <a:t> </a:t>
            </a:r>
            <a:r>
              <a:rPr lang="en-GB" sz="1200" b="1" dirty="0" err="1">
                <a:solidFill>
                  <a:srgbClr val="C0392B"/>
                </a:solidFill>
              </a:rPr>
              <a:t>perfekt</a:t>
            </a:r>
            <a:r>
              <a:rPr lang="en-GB" sz="1200" b="1" dirty="0">
                <a:solidFill>
                  <a:srgbClr val="C0392B"/>
                </a:solidFill>
              </a:rPr>
              <a:t> → </a:t>
            </a:r>
            <a:r>
              <a:rPr lang="en-GB" sz="1200" b="1" dirty="0" err="1">
                <a:solidFill>
                  <a:srgbClr val="C0392B"/>
                </a:solidFill>
              </a:rPr>
              <a:t>größte</a:t>
            </a:r>
            <a:r>
              <a:rPr lang="en-GB" sz="1200" b="1" dirty="0">
                <a:solidFill>
                  <a:srgbClr val="C0392B"/>
                </a:solidFill>
              </a:rPr>
              <a:t> </a:t>
            </a:r>
            <a:r>
              <a:rPr lang="en-GB" sz="1200" b="1" dirty="0" err="1">
                <a:solidFill>
                  <a:srgbClr val="C0392B"/>
                </a:solidFill>
              </a:rPr>
              <a:t>Anzahl</a:t>
            </a:r>
            <a:r>
              <a:rPr lang="en-GB" sz="1200" b="1" dirty="0">
                <a:solidFill>
                  <a:srgbClr val="C0392B"/>
                </a:solidFill>
              </a:rPr>
              <a:t> </a:t>
            </a:r>
            <a:r>
              <a:rPr lang="en-GB" sz="1200" b="1" dirty="0" err="1">
                <a:solidFill>
                  <a:srgbClr val="C0392B"/>
                </a:solidFill>
              </a:rPr>
              <a:t>Vergleiche</a:t>
            </a:r>
            <a:endParaRPr lang="en-DE" sz="1200" b="1" dirty="0" err="1">
              <a:solidFill>
                <a:srgbClr val="C039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47168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CE572-6D65-4352-F8E2-0E9A6AA35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Quicksort Best Case: ausgeglichener BST</a:t>
            </a:r>
            <a:endParaRPr lang="en-DE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0F59A75-C812-034F-B3C9-731B01250A03}"/>
              </a:ext>
            </a:extLst>
          </p:cNvPr>
          <p:cNvSpPr/>
          <p:nvPr/>
        </p:nvSpPr>
        <p:spPr bwMode="gray">
          <a:xfrm>
            <a:off x="3810000" y="1397000"/>
            <a:ext cx="558800" cy="558800"/>
          </a:xfrm>
          <a:prstGeom prst="ellipse">
            <a:avLst/>
          </a:prstGeom>
          <a:solidFill>
            <a:srgbClr val="FFD966"/>
          </a:solidFill>
          <a:ln w="19050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b="1">
                <a:solidFill>
                  <a:srgbClr val="000000"/>
                </a:solidFill>
              </a:rPr>
              <a:t>3</a:t>
            </a:r>
            <a:endParaRPr lang="en-DE" b="1" dirty="0" err="1">
              <a:solidFill>
                <a:srgbClr val="000000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5A93C58-B342-F145-8523-4893BBDD5414}"/>
              </a:ext>
            </a:extLst>
          </p:cNvPr>
          <p:cNvSpPr/>
          <p:nvPr/>
        </p:nvSpPr>
        <p:spPr bwMode="gray">
          <a:xfrm>
            <a:off x="2032000" y="2349500"/>
            <a:ext cx="558800" cy="558800"/>
          </a:xfrm>
          <a:prstGeom prst="ellipse">
            <a:avLst/>
          </a:prstGeom>
          <a:solidFill>
            <a:srgbClr val="E8E4F0"/>
          </a:solidFill>
          <a:ln w="19050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b="1">
                <a:solidFill>
                  <a:srgbClr val="000000"/>
                </a:solidFill>
              </a:rPr>
              <a:t>1</a:t>
            </a:r>
            <a:endParaRPr lang="en-DE" b="1" dirty="0" err="1">
              <a:solidFill>
                <a:srgbClr val="000000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444209C-A443-9C4F-ACEA-DE5CC7C2139B}"/>
              </a:ext>
            </a:extLst>
          </p:cNvPr>
          <p:cNvSpPr/>
          <p:nvPr/>
        </p:nvSpPr>
        <p:spPr bwMode="gray">
          <a:xfrm>
            <a:off x="5588000" y="2349500"/>
            <a:ext cx="558800" cy="558800"/>
          </a:xfrm>
          <a:prstGeom prst="ellipse">
            <a:avLst/>
          </a:prstGeom>
          <a:solidFill>
            <a:srgbClr val="E8E4F0"/>
          </a:solidFill>
          <a:ln w="19050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b="1">
                <a:solidFill>
                  <a:srgbClr val="000000"/>
                </a:solidFill>
              </a:rPr>
              <a:t>5</a:t>
            </a:r>
            <a:endParaRPr lang="en-DE" b="1" dirty="0" err="1">
              <a:solidFill>
                <a:srgbClr val="000000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2640856-D8A6-9C43-B981-4A0B86A05802}"/>
              </a:ext>
            </a:extLst>
          </p:cNvPr>
          <p:cNvSpPr/>
          <p:nvPr/>
        </p:nvSpPr>
        <p:spPr bwMode="gray">
          <a:xfrm>
            <a:off x="1143000" y="3302000"/>
            <a:ext cx="558800" cy="558800"/>
          </a:xfrm>
          <a:prstGeom prst="ellipse">
            <a:avLst/>
          </a:prstGeom>
          <a:solidFill>
            <a:srgbClr val="E8E4F0"/>
          </a:solidFill>
          <a:ln w="19050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b="1">
                <a:solidFill>
                  <a:srgbClr val="000000"/>
                </a:solidFill>
              </a:rPr>
              <a:t>0</a:t>
            </a:r>
            <a:endParaRPr lang="en-DE" b="1" dirty="0" err="1">
              <a:solidFill>
                <a:srgbClr val="000000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1E94987-5225-7947-B1C2-B8306B9BFE3F}"/>
              </a:ext>
            </a:extLst>
          </p:cNvPr>
          <p:cNvSpPr/>
          <p:nvPr/>
        </p:nvSpPr>
        <p:spPr bwMode="gray">
          <a:xfrm>
            <a:off x="2921000" y="3302000"/>
            <a:ext cx="558800" cy="558800"/>
          </a:xfrm>
          <a:prstGeom prst="ellipse">
            <a:avLst/>
          </a:prstGeom>
          <a:solidFill>
            <a:srgbClr val="E8E4F0"/>
          </a:solidFill>
          <a:ln w="19050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b="1">
                <a:solidFill>
                  <a:srgbClr val="000000"/>
                </a:solidFill>
              </a:rPr>
              <a:t>2</a:t>
            </a:r>
            <a:endParaRPr lang="en-DE" b="1" dirty="0" err="1">
              <a:solidFill>
                <a:srgbClr val="000000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9401F03-D579-EA46-86D3-9CA630E61549}"/>
              </a:ext>
            </a:extLst>
          </p:cNvPr>
          <p:cNvSpPr/>
          <p:nvPr/>
        </p:nvSpPr>
        <p:spPr bwMode="gray">
          <a:xfrm>
            <a:off x="4699000" y="3302000"/>
            <a:ext cx="558800" cy="558800"/>
          </a:xfrm>
          <a:prstGeom prst="ellipse">
            <a:avLst/>
          </a:prstGeom>
          <a:solidFill>
            <a:srgbClr val="E8E4F0"/>
          </a:solidFill>
          <a:ln w="19050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b="1">
                <a:solidFill>
                  <a:srgbClr val="000000"/>
                </a:solidFill>
              </a:rPr>
              <a:t>4</a:t>
            </a:r>
            <a:endParaRPr lang="en-DE" b="1" dirty="0" err="1">
              <a:solidFill>
                <a:srgbClr val="000000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AEA4245-1C16-1844-BBFD-23F2C70CD2F4}"/>
              </a:ext>
            </a:extLst>
          </p:cNvPr>
          <p:cNvSpPr/>
          <p:nvPr/>
        </p:nvSpPr>
        <p:spPr bwMode="gray">
          <a:xfrm>
            <a:off x="6477000" y="3302000"/>
            <a:ext cx="558800" cy="558800"/>
          </a:xfrm>
          <a:prstGeom prst="ellipse">
            <a:avLst/>
          </a:prstGeom>
          <a:solidFill>
            <a:srgbClr val="E8E4F0"/>
          </a:solidFill>
          <a:ln w="19050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DE" b="1">
                <a:solidFill>
                  <a:srgbClr val="000000"/>
                </a:solidFill>
              </a:rPr>
              <a:t>6</a:t>
            </a:r>
            <a:endParaRPr lang="en-DE" b="1" dirty="0" err="1">
              <a:solidFill>
                <a:srgbClr val="00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E74BC8-EB7F-834F-8FBD-206F77AFAD6B}"/>
              </a:ext>
            </a:extLst>
          </p:cNvPr>
          <p:cNvSpPr txBox="1"/>
          <p:nvPr/>
        </p:nvSpPr>
        <p:spPr bwMode="gray">
          <a:xfrm>
            <a:off x="4633545" y="1397000"/>
            <a:ext cx="2054572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100" b="1" dirty="0">
                <a:solidFill>
                  <a:srgbClr val="2E7D32"/>
                </a:solidFill>
              </a:rPr>
              <a:t>Wurzel:</a:t>
            </a:r>
            <a:r>
              <a:rPr lang="en-GB" sz="1100" b="1" dirty="0">
                <a:solidFill>
                  <a:srgbClr val="000000"/>
                </a:solidFill>
              </a:rPr>
              <a:t> </a:t>
            </a:r>
            <a:r>
              <a:rPr lang="en-GB" sz="1100" dirty="0">
                <a:solidFill>
                  <a:srgbClr val="000000"/>
                </a:solidFill>
              </a:rPr>
              <a:t>Median von [0..6]</a:t>
            </a:r>
            <a:endParaRPr lang="en-DE" sz="1100" dirty="0">
              <a:solidFill>
                <a:srgbClr val="00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6DBC26-A2C2-564E-97F3-AC955C03952C}"/>
              </a:ext>
            </a:extLst>
          </p:cNvPr>
          <p:cNvSpPr txBox="1"/>
          <p:nvPr/>
        </p:nvSpPr>
        <p:spPr bwMode="gray">
          <a:xfrm>
            <a:off x="952500" y="3911600"/>
            <a:ext cx="889000" cy="2286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None/>
            </a:pPr>
            <a:r>
              <a:rPr lang="en-DE" sz="1000">
                <a:solidFill>
                  <a:srgbClr val="666666"/>
                </a:solidFill>
              </a:rPr>
              <a:t>[0..0]</a:t>
            </a:r>
            <a:endParaRPr lang="en-DE" sz="1000" dirty="0" err="1">
              <a:solidFill>
                <a:srgbClr val="666666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6447C6-F962-7B47-AA59-1AB00D41AAB2}"/>
              </a:ext>
            </a:extLst>
          </p:cNvPr>
          <p:cNvSpPr txBox="1"/>
          <p:nvPr/>
        </p:nvSpPr>
        <p:spPr bwMode="gray">
          <a:xfrm>
            <a:off x="2730500" y="3911600"/>
            <a:ext cx="889000" cy="2286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None/>
            </a:pPr>
            <a:r>
              <a:rPr lang="en-DE" sz="1000">
                <a:solidFill>
                  <a:srgbClr val="666666"/>
                </a:solidFill>
              </a:rPr>
              <a:t>[2..2]</a:t>
            </a:r>
            <a:endParaRPr lang="en-DE" sz="1000" dirty="0" err="1">
              <a:solidFill>
                <a:srgbClr val="666666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AB85C6-A4EE-F84F-BC06-3E9C7D19D0B5}"/>
              </a:ext>
            </a:extLst>
          </p:cNvPr>
          <p:cNvSpPr txBox="1"/>
          <p:nvPr/>
        </p:nvSpPr>
        <p:spPr bwMode="gray">
          <a:xfrm>
            <a:off x="4508500" y="3911600"/>
            <a:ext cx="889000" cy="2286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None/>
            </a:pPr>
            <a:r>
              <a:rPr lang="en-DE" sz="1000">
                <a:solidFill>
                  <a:srgbClr val="666666"/>
                </a:solidFill>
              </a:rPr>
              <a:t>[4..4]</a:t>
            </a:r>
            <a:endParaRPr lang="en-DE" sz="1000" dirty="0" err="1">
              <a:solidFill>
                <a:srgbClr val="666666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76B37F-EFB6-D749-917A-0660B8BB4C2A}"/>
              </a:ext>
            </a:extLst>
          </p:cNvPr>
          <p:cNvSpPr txBox="1"/>
          <p:nvPr/>
        </p:nvSpPr>
        <p:spPr bwMode="gray">
          <a:xfrm>
            <a:off x="6286500" y="3911600"/>
            <a:ext cx="889000" cy="2286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None/>
            </a:pPr>
            <a:r>
              <a:rPr lang="en-DE" sz="1000">
                <a:solidFill>
                  <a:srgbClr val="666666"/>
                </a:solidFill>
              </a:rPr>
              <a:t>[6..6]</a:t>
            </a:r>
            <a:endParaRPr lang="en-DE" sz="1000" dirty="0" err="1">
              <a:solidFill>
                <a:srgbClr val="666666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BBB99D-A8E9-9A41-BDE9-21FE17575C00}"/>
              </a:ext>
            </a:extLst>
          </p:cNvPr>
          <p:cNvSpPr txBox="1"/>
          <p:nvPr/>
        </p:nvSpPr>
        <p:spPr bwMode="gray">
          <a:xfrm>
            <a:off x="1841500" y="2933700"/>
            <a:ext cx="889000" cy="203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None/>
            </a:pPr>
            <a:r>
              <a:rPr lang="en-DE" sz="1000">
                <a:solidFill>
                  <a:srgbClr val="666666"/>
                </a:solidFill>
              </a:rPr>
              <a:t>[0..2]</a:t>
            </a:r>
            <a:endParaRPr lang="en-DE" sz="1000" dirty="0" err="1">
              <a:solidFill>
                <a:srgbClr val="666666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57FA3B-EA2D-D943-9D97-195A4A577844}"/>
              </a:ext>
            </a:extLst>
          </p:cNvPr>
          <p:cNvSpPr txBox="1"/>
          <p:nvPr/>
        </p:nvSpPr>
        <p:spPr bwMode="gray">
          <a:xfrm>
            <a:off x="5397500" y="2933700"/>
            <a:ext cx="889000" cy="203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None/>
            </a:pPr>
            <a:r>
              <a:rPr lang="en-DE" sz="1000">
                <a:solidFill>
                  <a:srgbClr val="666666"/>
                </a:solidFill>
              </a:rPr>
              <a:t>[4..6]</a:t>
            </a:r>
            <a:endParaRPr lang="en-DE" sz="1000" dirty="0" err="1">
              <a:solidFill>
                <a:srgbClr val="6666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74B4E8-6E40-134B-93BA-885212A3C3F3}"/>
              </a:ext>
            </a:extLst>
          </p:cNvPr>
          <p:cNvSpPr txBox="1"/>
          <p:nvPr/>
        </p:nvSpPr>
        <p:spPr bwMode="gray">
          <a:xfrm>
            <a:off x="508000" y="4241800"/>
            <a:ext cx="7016328" cy="3556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None/>
            </a:pPr>
            <a:r>
              <a:rPr lang="en-GB" sz="1400" b="1" dirty="0" err="1">
                <a:solidFill>
                  <a:srgbClr val="5C2D91"/>
                </a:solidFill>
              </a:rPr>
              <a:t>Jeder</a:t>
            </a:r>
            <a:r>
              <a:rPr lang="en-GB" sz="1400" b="1" dirty="0">
                <a:solidFill>
                  <a:srgbClr val="5C2D91"/>
                </a:solidFill>
              </a:rPr>
              <a:t> Knoten </a:t>
            </a:r>
            <a:r>
              <a:rPr lang="en-GB" sz="1400" b="1" dirty="0" err="1">
                <a:solidFill>
                  <a:srgbClr val="5C2D91"/>
                </a:solidFill>
              </a:rPr>
              <a:t>ist</a:t>
            </a:r>
            <a:r>
              <a:rPr lang="en-GB" sz="1400" b="1" dirty="0">
                <a:solidFill>
                  <a:srgbClr val="5C2D91"/>
                </a:solidFill>
              </a:rPr>
              <a:t> Median seines </a:t>
            </a:r>
            <a:r>
              <a:rPr lang="en-GB" sz="1400" b="1" dirty="0" err="1">
                <a:solidFill>
                  <a:srgbClr val="5C2D91"/>
                </a:solidFill>
              </a:rPr>
              <a:t>Bereichs</a:t>
            </a:r>
            <a:r>
              <a:rPr lang="en-GB" sz="1400" b="1" dirty="0">
                <a:solidFill>
                  <a:srgbClr val="5C2D91"/>
                </a:solidFill>
              </a:rPr>
              <a:t> → Quicksort </a:t>
            </a:r>
            <a:r>
              <a:rPr lang="en-GB" sz="1400" b="1" dirty="0" err="1">
                <a:solidFill>
                  <a:srgbClr val="5C2D91"/>
                </a:solidFill>
              </a:rPr>
              <a:t>teilt</a:t>
            </a:r>
            <a:r>
              <a:rPr lang="en-GB" sz="1400" b="1" dirty="0">
                <a:solidFill>
                  <a:srgbClr val="5C2D91"/>
                </a:solidFill>
              </a:rPr>
              <a:t> immer </a:t>
            </a:r>
            <a:r>
              <a:rPr lang="en-GB" sz="1400" b="1" dirty="0" err="1">
                <a:solidFill>
                  <a:srgbClr val="5C2D91"/>
                </a:solidFill>
              </a:rPr>
              <a:t>exakt</a:t>
            </a:r>
            <a:r>
              <a:rPr lang="en-GB" sz="1400" b="1" dirty="0">
                <a:solidFill>
                  <a:srgbClr val="5C2D91"/>
                </a:solidFill>
              </a:rPr>
              <a:t> </a:t>
            </a:r>
            <a:r>
              <a:rPr lang="en-GB" sz="1400" b="1" dirty="0" err="1">
                <a:solidFill>
                  <a:srgbClr val="5C2D91"/>
                </a:solidFill>
              </a:rPr>
              <a:t>mittig</a:t>
            </a:r>
            <a:endParaRPr lang="en-DE" sz="1400" b="1" dirty="0" err="1">
              <a:solidFill>
                <a:srgbClr val="5C2D91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E597ED9-D2ED-5B4C-8571-94F449FE0734}"/>
              </a:ext>
            </a:extLst>
          </p:cNvPr>
          <p:cNvCxnSpPr/>
          <p:nvPr/>
        </p:nvCxnSpPr>
        <p:spPr bwMode="gray">
          <a:xfrm flipH="1">
            <a:off x="2311400" y="1955800"/>
            <a:ext cx="1778000" cy="393700"/>
          </a:xfrm>
          <a:prstGeom prst="straightConnector1">
            <a:avLst/>
          </a:prstGeom>
          <a:ln w="19050" cap="flat" cmpd="sng" algn="ctr">
            <a:solidFill>
              <a:srgbClr val="66666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3255215-0130-2346-84C1-BF34CA1E0275}"/>
              </a:ext>
            </a:extLst>
          </p:cNvPr>
          <p:cNvCxnSpPr/>
          <p:nvPr/>
        </p:nvCxnSpPr>
        <p:spPr bwMode="gray">
          <a:xfrm>
            <a:off x="4089400" y="1955800"/>
            <a:ext cx="1778000" cy="393700"/>
          </a:xfrm>
          <a:prstGeom prst="straightConnector1">
            <a:avLst/>
          </a:prstGeom>
          <a:ln w="19050" cap="flat" cmpd="sng" algn="ctr">
            <a:solidFill>
              <a:srgbClr val="66666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6FEAD4F-B2B6-A54A-82ED-B7515A834011}"/>
              </a:ext>
            </a:extLst>
          </p:cNvPr>
          <p:cNvCxnSpPr/>
          <p:nvPr/>
        </p:nvCxnSpPr>
        <p:spPr bwMode="gray">
          <a:xfrm flipH="1">
            <a:off x="1422400" y="2908300"/>
            <a:ext cx="889000" cy="393700"/>
          </a:xfrm>
          <a:prstGeom prst="straightConnector1">
            <a:avLst/>
          </a:prstGeom>
          <a:ln w="19050" cap="flat" cmpd="sng" algn="ctr">
            <a:solidFill>
              <a:srgbClr val="66666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E1ABE27-A0D8-3545-9D63-8FFB9D9CFE32}"/>
              </a:ext>
            </a:extLst>
          </p:cNvPr>
          <p:cNvCxnSpPr/>
          <p:nvPr/>
        </p:nvCxnSpPr>
        <p:spPr bwMode="gray">
          <a:xfrm>
            <a:off x="2311400" y="2908300"/>
            <a:ext cx="889000" cy="393700"/>
          </a:xfrm>
          <a:prstGeom prst="straightConnector1">
            <a:avLst/>
          </a:prstGeom>
          <a:ln w="19050" cap="flat" cmpd="sng" algn="ctr">
            <a:solidFill>
              <a:srgbClr val="66666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1728F0B-6F4F-A44F-93A3-EDC76DBC1714}"/>
              </a:ext>
            </a:extLst>
          </p:cNvPr>
          <p:cNvCxnSpPr/>
          <p:nvPr/>
        </p:nvCxnSpPr>
        <p:spPr bwMode="gray">
          <a:xfrm flipH="1">
            <a:off x="4978400" y="2908300"/>
            <a:ext cx="889000" cy="393700"/>
          </a:xfrm>
          <a:prstGeom prst="straightConnector1">
            <a:avLst/>
          </a:prstGeom>
          <a:ln w="19050" cap="flat" cmpd="sng" algn="ctr">
            <a:solidFill>
              <a:srgbClr val="66666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35D085F-C67D-0042-9BFA-B46D0B78DD65}"/>
              </a:ext>
            </a:extLst>
          </p:cNvPr>
          <p:cNvCxnSpPr/>
          <p:nvPr/>
        </p:nvCxnSpPr>
        <p:spPr bwMode="gray">
          <a:xfrm>
            <a:off x="5867400" y="2908300"/>
            <a:ext cx="889000" cy="393700"/>
          </a:xfrm>
          <a:prstGeom prst="straightConnector1">
            <a:avLst/>
          </a:prstGeom>
          <a:ln w="19050" cap="flat" cmpd="sng" algn="ctr">
            <a:solidFill>
              <a:srgbClr val="66666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364334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5A78-AF1F-9919-6BD3-B514AC01C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Viel Spaß, bis zur nächsten Vorlesung!</a:t>
            </a:r>
          </a:p>
        </p:txBody>
      </p:sp>
    </p:spTree>
    <p:extLst>
      <p:ext uri="{BB962C8B-B14F-4D97-AF65-F5344CB8AC3E}">
        <p14:creationId xmlns:p14="http://schemas.microsoft.com/office/powerpoint/2010/main" val="2254199682"/>
      </p:ext>
    </p:extLst>
  </p:cSld>
  <p:clrMapOvr>
    <a:masterClrMapping/>
  </p:clrMapOvr>
  <p:transition spd="slow">
    <p:wipe dir="d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7527d9a80d1c254cf63ecdbcf5c3445e7cf98d"/>
  <p:tag name="ISPRING_RESOURCE_PATHS_HASH_PRESENTER" val="4e1bfdeb97ccc69d6713ba8104020d1f1a3d866"/>
</p:tagLst>
</file>

<file path=ppt/theme/theme1.xml><?xml version="1.0" encoding="utf-8"?>
<a:theme xmlns:a="http://schemas.openxmlformats.org/drawingml/2006/main" name="TEMPLATE DEF Faculty v2022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Tes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300"/>
          </a:spcBef>
          <a:spcAft>
            <a:spcPts val="3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6FB9D42F-8EB8-CB48-9592-79FD87A1DA1C}" vid="{A31A4D81-7FD5-5F41-984E-52906FC1C983}"/>
    </a:ext>
  </a:extLst>
</a:theme>
</file>

<file path=ppt/theme/theme2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smtClean="0"/>
        </a:defPPr>
      </a:lstStyle>
    </a:tx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7961EAE-E4C5-2349-9985-83C28BEF5F77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b61ed79e-6c5e-480f-ba6f-512e74b56f3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TEMPLATE DEF Faculty v2022</Template>
  <TotalTime>7870</TotalTime>
  <Words>335</Words>
  <Application>Microsoft Macintosh PowerPoint</Application>
  <PresentationFormat>On-screen Show (16:9)</PresentationFormat>
  <Paragraphs>108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Open Sans</vt:lpstr>
      <vt:lpstr>Verdana</vt:lpstr>
      <vt:lpstr>TEMPLATE DEF Faculty v2022</vt:lpstr>
      <vt:lpstr>Programmiertechnik II</vt:lpstr>
      <vt:lpstr>Überblick</vt:lpstr>
      <vt:lpstr>Reference Members</vt:lpstr>
      <vt:lpstr>Sortieralgorithmen Visualisieren</vt:lpstr>
      <vt:lpstr>Mergesort Worst Case: Easy vs. Hard Merge</vt:lpstr>
      <vt:lpstr>Mergesort Worst Case: Unzip-Trick</vt:lpstr>
      <vt:lpstr>Quicksort Best Case: ausgeglichener BST</vt:lpstr>
      <vt:lpstr>Viel Spaß, bis zur nächsten Vorlesung!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Programmiertechnik I</dc:title>
  <dc:creator>Ralf Herbrich</dc:creator>
  <cp:lastModifiedBy>Hennicke, Leonhard</cp:lastModifiedBy>
  <cp:revision>157</cp:revision>
  <cp:lastPrinted>2014-05-07T12:19:03Z</cp:lastPrinted>
  <dcterms:created xsi:type="dcterms:W3CDTF">2022-08-10T08:10:37Z</dcterms:created>
  <dcterms:modified xsi:type="dcterms:W3CDTF">2026-05-21T12:40:03Z</dcterms:modified>
</cp:coreProperties>
</file>