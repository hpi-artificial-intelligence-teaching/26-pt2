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71" r:id="rId2"/>
    <p:sldId id="303" r:id="rId3"/>
    <p:sldId id="399" r:id="rId4"/>
    <p:sldId id="392" r:id="rId5"/>
    <p:sldId id="418" r:id="rId6"/>
    <p:sldId id="393" r:id="rId7"/>
    <p:sldId id="394" r:id="rId8"/>
    <p:sldId id="400" r:id="rId9"/>
    <p:sldId id="396" r:id="rId10"/>
    <p:sldId id="397" r:id="rId11"/>
    <p:sldId id="413" r:id="rId12"/>
    <p:sldId id="414" r:id="rId13"/>
    <p:sldId id="401" r:id="rId14"/>
    <p:sldId id="404" r:id="rId15"/>
    <p:sldId id="405" r:id="rId16"/>
    <p:sldId id="406" r:id="rId17"/>
    <p:sldId id="415" r:id="rId18"/>
    <p:sldId id="402" r:id="rId19"/>
    <p:sldId id="407" r:id="rId20"/>
    <p:sldId id="408" r:id="rId21"/>
    <p:sldId id="416" r:id="rId22"/>
    <p:sldId id="417" r:id="rId23"/>
    <p:sldId id="403" r:id="rId24"/>
    <p:sldId id="411" r:id="rId25"/>
    <p:sldId id="409" r:id="rId26"/>
    <p:sldId id="410" r:id="rId27"/>
    <p:sldId id="321" r:id="rId28"/>
    <p:sldId id="304" r:id="rId29"/>
  </p:sldIdLst>
  <p:sldSz cx="9144000" cy="5143500" type="screen16x9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63A"/>
    <a:srgbClr val="000000"/>
    <a:srgbClr val="FBFCFC"/>
    <a:srgbClr val="FCFCFC"/>
    <a:srgbClr val="FCFCFD"/>
    <a:srgbClr val="FCFDFD"/>
    <a:srgbClr val="FDFDFD"/>
    <a:srgbClr val="FDFDFE"/>
    <a:srgbClr val="FDFEFE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41"/>
    <p:restoredTop sz="96327"/>
  </p:normalViewPr>
  <p:slideViewPr>
    <p:cSldViewPr snapToObjects="1" showGuides="1">
      <p:cViewPr varScale="1">
        <p:scale>
          <a:sx n="170" d="100"/>
          <a:sy n="170" d="100"/>
        </p:scale>
        <p:origin x="528" y="176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5/1/26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41674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5029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41202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47788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84642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51694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792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4 - Datentypen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/28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4/stack.h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5.png"/><Relationship Id="rId9" Type="http://schemas.openxmlformats.org/officeDocument/2006/relationships/hyperlink" Target="https://github.com/HPI-Artificial-Intelligence-Teaching/26-pt2/blob/main/unit4/eval_exp.cpp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0.png"/><Relationship Id="rId7" Type="http://schemas.openxmlformats.org/officeDocument/2006/relationships/image" Target="../media/image24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png"/><Relationship Id="rId5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github.com/HPI-Artificial-Intelligence-Teaching/26-pt2/blob/main/unit4/queue.h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unit4/bag.h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4/list_queue.h" TargetMode="External"/><Relationship Id="rId2" Type="http://schemas.openxmlformats.org/officeDocument/2006/relationships/hyperlink" Target="https://github.com/HPI-Artificial-Intelligence-Teaching/26-pt2/blob/main/unit4/list_stack.h" TargetMode="Externa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9" b="11319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Datentypen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Abstrakte Datentypen</a:t>
            </a:r>
          </a:p>
          <a:p>
            <a:pPr marL="342900" indent="-342900"/>
            <a:r>
              <a:rPr lang="de-DE" altLang="en-DE" dirty="0"/>
              <a:t>Stapel (</a:t>
            </a:r>
            <a:r>
              <a:rPr lang="en-US" altLang="en-DE" i="1" dirty="0"/>
              <a:t>stacks</a:t>
            </a:r>
            <a:r>
              <a:rPr lang="de-DE" altLang="en-DE" dirty="0"/>
              <a:t>)</a:t>
            </a:r>
          </a:p>
          <a:p>
            <a:pPr marL="614125" lvl="1" indent="-342900"/>
            <a:r>
              <a:rPr lang="de-DE" altLang="en-DE" dirty="0"/>
              <a:t>Auswertung Arithmetischer Ausdrücke</a:t>
            </a:r>
          </a:p>
          <a:p>
            <a:pPr marL="342900" indent="-342900"/>
            <a:r>
              <a:rPr lang="de-DE" altLang="en-DE" dirty="0"/>
              <a:t>Warteschlangen (</a:t>
            </a:r>
            <a:r>
              <a:rPr lang="en-US" altLang="en-DE" i="1" dirty="0"/>
              <a:t>queue</a:t>
            </a:r>
            <a:r>
              <a:rPr lang="de-DE" altLang="en-DE" dirty="0"/>
              <a:t>)</a:t>
            </a:r>
          </a:p>
          <a:p>
            <a:pPr marL="342900" indent="-342900"/>
            <a:r>
              <a:rPr lang="de-DE" altLang="en-DE" dirty="0"/>
              <a:t>Listen (</a:t>
            </a:r>
            <a:r>
              <a:rPr lang="en-US" altLang="en-DE" i="1" dirty="0"/>
              <a:t>lists</a:t>
            </a:r>
            <a:r>
              <a:rPr lang="de-DE" altLang="en-DE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b="1" dirty="0"/>
              <a:t>Abstrakte Datentypen</a:t>
            </a:r>
          </a:p>
          <a:p>
            <a:pPr marL="342900" indent="-342900"/>
            <a:r>
              <a:rPr lang="de-DE" altLang="en-DE" dirty="0"/>
              <a:t>Stapel (</a:t>
            </a:r>
            <a:r>
              <a:rPr lang="en-US" altLang="en-DE" i="1" dirty="0"/>
              <a:t>stacks</a:t>
            </a:r>
            <a:r>
              <a:rPr lang="de-DE" altLang="en-DE" dirty="0"/>
              <a:t>)</a:t>
            </a:r>
          </a:p>
          <a:p>
            <a:pPr marL="614125" lvl="1" indent="-342900"/>
            <a:r>
              <a:rPr lang="de-DE" altLang="en-DE" dirty="0"/>
              <a:t>Auswertung Arithmetischer Ausdrücke</a:t>
            </a:r>
          </a:p>
          <a:p>
            <a:pPr marL="342900" indent="-342900"/>
            <a:r>
              <a:rPr lang="de-DE" altLang="en-DE" dirty="0"/>
              <a:t>Warteschlangen (</a:t>
            </a:r>
            <a:r>
              <a:rPr lang="en-US" altLang="en-DE" i="1" dirty="0"/>
              <a:t>queue</a:t>
            </a:r>
            <a:r>
              <a:rPr lang="de-DE" altLang="en-DE" dirty="0"/>
              <a:t>)</a:t>
            </a:r>
          </a:p>
          <a:p>
            <a:pPr marL="342900" indent="-342900"/>
            <a:r>
              <a:rPr lang="de-DE" altLang="en-DE" dirty="0"/>
              <a:t>Listen (</a:t>
            </a:r>
            <a:r>
              <a:rPr lang="en-US" altLang="en-DE" i="1" dirty="0"/>
              <a:t>lists</a:t>
            </a:r>
            <a:r>
              <a:rPr lang="de-DE" altLang="en-DE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83165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3680C1-D272-C42A-F898-CAE47B76E5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de-DE" b="1" dirty="0"/>
              <a:t>Motivation</a:t>
            </a:r>
            <a:r>
              <a:rPr lang="de-DE" altLang="de-DE" dirty="0"/>
              <a:t>: Wiederverwendbarkeit und Strukturierung von Software</a:t>
            </a:r>
          </a:p>
          <a:p>
            <a:r>
              <a:rPr lang="de-DE" altLang="de-DE" b="1" dirty="0"/>
              <a:t>Ziel</a:t>
            </a:r>
            <a:r>
              <a:rPr lang="de-DE" altLang="de-DE" dirty="0"/>
              <a:t>: Beschreibung von Datenstrukturen </a:t>
            </a:r>
            <a:r>
              <a:rPr lang="de-DE" altLang="de-DE" b="1" dirty="0"/>
              <a:t>unabhängig</a:t>
            </a:r>
            <a:r>
              <a:rPr lang="de-DE" altLang="de-DE" dirty="0"/>
              <a:t> von ihrer späteren Implementierung in einer konkreten Programmiersprache</a:t>
            </a:r>
          </a:p>
          <a:p>
            <a:r>
              <a:rPr lang="de-DE" altLang="de-DE" b="1" dirty="0"/>
              <a:t>Konkrete Datentypen</a:t>
            </a:r>
            <a:r>
              <a:rPr lang="de-DE" altLang="de-DE" dirty="0"/>
              <a:t>: Konstruiert aus Basisdatentypen/C++ Klassen</a:t>
            </a:r>
          </a:p>
          <a:p>
            <a:r>
              <a:rPr lang="de-DE" altLang="de-DE" b="1" dirty="0"/>
              <a:t>Abstrakte Datentypen</a:t>
            </a:r>
            <a:r>
              <a:rPr lang="de-DE" altLang="de-DE" dirty="0"/>
              <a:t>:</a:t>
            </a:r>
          </a:p>
          <a:p>
            <a:pPr lvl="1"/>
            <a:r>
              <a:rPr lang="de-DE" altLang="de-DE" dirty="0"/>
              <a:t>Spezifikation der Schnittstelle nach außen</a:t>
            </a:r>
          </a:p>
          <a:p>
            <a:pPr lvl="1"/>
            <a:r>
              <a:rPr lang="de-DE" altLang="de-DE" dirty="0"/>
              <a:t>Operationen und ihre Funktionalität</a:t>
            </a:r>
          </a:p>
          <a:p>
            <a:pPr lvl="1"/>
            <a:r>
              <a:rPr lang="de-DE" altLang="de-DE" b="1" dirty="0"/>
              <a:t>Kapselung</a:t>
            </a:r>
            <a:r>
              <a:rPr lang="de-DE" altLang="de-DE" dirty="0"/>
              <a:t>: Darf nur über Schnittstelle benutzt werden</a:t>
            </a:r>
          </a:p>
          <a:p>
            <a:pPr lvl="1"/>
            <a:r>
              <a:rPr lang="de-DE" altLang="de-DE" b="1" dirty="0"/>
              <a:t>Geheimnisprinzip</a:t>
            </a:r>
            <a:r>
              <a:rPr lang="de-DE" altLang="de-DE" dirty="0"/>
              <a:t>: Interne Realisierung ist verborgen</a:t>
            </a:r>
          </a:p>
          <a:p>
            <a:pPr lvl="1"/>
            <a:r>
              <a:rPr lang="de-DE" altLang="de-DE" dirty="0"/>
              <a:t>Eine Grundlage des Prinzips der objektorientierten Programmierung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24A503-6E16-C1E2-2044-5D2E4876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Abstrakte Datentypen (ADT)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755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3680C1-D272-C42A-F898-CAE47B76E5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de-DE" b="1" dirty="0"/>
              <a:t>Algebraische Beschreibung</a:t>
            </a:r>
            <a:r>
              <a:rPr lang="de-DE" altLang="de-DE" dirty="0"/>
              <a:t>: Beschreibung von </a:t>
            </a:r>
            <a:r>
              <a:rPr lang="de-DE" altLang="de-DE" b="1" dirty="0"/>
              <a:t>Operationen</a:t>
            </a:r>
            <a:r>
              <a:rPr lang="de-DE" altLang="de-DE" dirty="0"/>
              <a:t> (</a:t>
            </a:r>
            <a:r>
              <a:rPr lang="en-US" altLang="de-DE" i="1" dirty="0"/>
              <a:t>operators</a:t>
            </a:r>
            <a:r>
              <a:rPr lang="de-DE" altLang="de-DE" dirty="0"/>
              <a:t>) und der Zusammenhänge zwischen den Operationen (</a:t>
            </a:r>
            <a:r>
              <a:rPr lang="en-US" altLang="de-DE" i="1" dirty="0"/>
              <a:t>axioms</a:t>
            </a:r>
            <a:r>
              <a:rPr lang="de-DE" altLang="de-DE" dirty="0"/>
              <a:t>)</a:t>
            </a:r>
          </a:p>
          <a:p>
            <a:r>
              <a:rPr lang="de-DE" altLang="de-DE" b="1" dirty="0"/>
              <a:t>Beispiel</a:t>
            </a:r>
            <a:r>
              <a:rPr lang="de-DE" altLang="de-DE" dirty="0"/>
              <a:t>: (Positive) Ganzzahlen</a:t>
            </a:r>
            <a:endParaRPr lang="de-DE" alt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24A503-6E16-C1E2-2044-5D2E4876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ADT Beispiel: Ganzzahlen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6">
                <a:extLst>
                  <a:ext uri="{FF2B5EF4-FFF2-40B4-BE49-F238E27FC236}">
                    <a16:creationId xmlns:a16="http://schemas.microsoft.com/office/drawing/2014/main" id="{975A3849-C4A2-D363-5210-C29B9AB1BE3D}"/>
                  </a:ext>
                </a:extLst>
              </p:cNvPr>
              <p:cNvSpPr/>
              <p:nvPr/>
            </p:nvSpPr>
            <p:spPr>
              <a:xfrm>
                <a:off x="755576" y="2211710"/>
                <a:ext cx="6372200" cy="186846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type</a:t>
                </a:r>
                <a:r>
                  <a:rPr lang="de-DE" altLang="de-DE" sz="1400" dirty="0"/>
                  <a:t> Nat</a:t>
                </a:r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operators</a:t>
                </a:r>
                <a:endParaRPr lang="de-DE" altLang="de-DE" sz="1400" b="1" dirty="0">
                  <a:cs typeface="Courier New" panose="02070309020205020404" pitchFamily="49" charset="0"/>
                </a:endParaRPr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a:rPr lang="de-DE" altLang="de-DE" sz="1400" i="1" dirty="0" smtClean="0">
                        <a:latin typeface="Cambria Math" panose="02040503050406030204" pitchFamily="18" charset="0"/>
                      </a:rPr>
                      <m:t>0: _ → </m:t>
                    </m:r>
                    <m:r>
                      <m:rPr>
                        <m:sty m:val="p"/>
                      </m:rPr>
                      <a:rPr lang="de-DE" altLang="de-DE" sz="1400" i="0" dirty="0" err="1">
                        <a:latin typeface="Cambria Math" panose="02040503050406030204" pitchFamily="18" charset="0"/>
                      </a:rPr>
                      <m:t>Nat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altLang="de-DE" sz="1400" i="0" dirty="0" smtClean="0">
                        <a:latin typeface="Cambria Math" panose="02040503050406030204" pitchFamily="18" charset="0"/>
                      </a:rPr>
                      <m:t>suc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de-DE" altLang="de-DE" sz="1400" i="0" dirty="0" err="1">
                        <a:latin typeface="Cambria Math" panose="02040503050406030204" pitchFamily="18" charset="0"/>
                      </a:rPr>
                      <m:t>Nat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 → </m:t>
                    </m:r>
                    <m:r>
                      <m:rPr>
                        <m:sty m:val="p"/>
                      </m:rPr>
                      <a:rPr lang="de-DE" altLang="de-DE" sz="1400" i="0" dirty="0" err="1">
                        <a:latin typeface="Cambria Math" panose="02040503050406030204" pitchFamily="18" charset="0"/>
                      </a:rPr>
                      <m:t>Nat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altLang="de-DE" sz="1400" i="0" dirty="0" smtClean="0">
                        <a:latin typeface="Cambria Math" panose="02040503050406030204" pitchFamily="18" charset="0"/>
                      </a:rPr>
                      <m:t>add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de-DE" altLang="de-DE" sz="1400" i="0" dirty="0" err="1">
                        <a:latin typeface="Cambria Math" panose="02040503050406030204" pitchFamily="18" charset="0"/>
                      </a:rPr>
                      <m:t>Nat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de-DE" altLang="de-DE" sz="1400" i="0" dirty="0" err="1">
                        <a:latin typeface="Cambria Math" panose="02040503050406030204" pitchFamily="18" charset="0"/>
                      </a:rPr>
                      <m:t>Nat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 → </m:t>
                    </m:r>
                    <m:r>
                      <m:rPr>
                        <m:sty m:val="p"/>
                      </m:rPr>
                      <a:rPr lang="de-DE" altLang="de-DE" sz="1400" i="0" dirty="0" err="1">
                        <a:latin typeface="Cambria Math" panose="02040503050406030204" pitchFamily="18" charset="0"/>
                      </a:rPr>
                      <m:t>Nat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axioms</a:t>
                </a:r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:    </m:t>
                    </m:r>
                    <m: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m:rPr>
                        <m:sty m:val="p"/>
                      </m:rPr>
                      <a:rPr lang="de-DE" altLang="de-DE" sz="1400" i="0" dirty="0" smtClean="0">
                        <a:latin typeface="Cambria Math" panose="02040503050406030204" pitchFamily="18" charset="0"/>
                      </a:rPr>
                      <m:t>add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, 0) = 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Nat</m:t>
                    </m:r>
                    <m: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m:rPr>
                        <m:sty m:val="p"/>
                      </m:rPr>
                      <a:rPr lang="de-DE" altLang="de-DE" sz="1400" i="0" dirty="0" smtClean="0">
                        <a:latin typeface="Cambria Math" panose="02040503050406030204" pitchFamily="18" charset="0"/>
                      </a:rPr>
                      <m:t>add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de-DE" altLang="de-DE" sz="1400" i="0" dirty="0" err="1">
                        <a:latin typeface="Cambria Math" panose="02040503050406030204" pitchFamily="18" charset="0"/>
                      </a:rPr>
                      <m:t>su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de-DE" altLang="de-DE" sz="1400" i="0" dirty="0" err="1">
                        <a:latin typeface="Cambria Math" panose="02040503050406030204" pitchFamily="18" charset="0"/>
                      </a:rPr>
                      <m:t>c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)) =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succ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de-DE" altLang="de-DE" sz="1400" i="0" dirty="0" err="1">
                        <a:latin typeface="Cambria Math" panose="02040503050406030204" pitchFamily="18" charset="0"/>
                      </a:rPr>
                      <m:t>add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de-DE" altLang="de-DE" sz="1400" dirty="0"/>
              </a:p>
            </p:txBody>
          </p:sp>
        </mc:Choice>
        <mc:Fallback xmlns="">
          <p:sp>
            <p:nvSpPr>
              <p:cNvPr id="4" name="Rechteck 6">
                <a:extLst>
                  <a:ext uri="{FF2B5EF4-FFF2-40B4-BE49-F238E27FC236}">
                    <a16:creationId xmlns:a16="http://schemas.microsoft.com/office/drawing/2014/main" id="{975A3849-C4A2-D363-5210-C29B9AB1BE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211710"/>
                <a:ext cx="6372200" cy="18684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bgerundete rechteckige Legende 7">
            <a:extLst>
              <a:ext uri="{FF2B5EF4-FFF2-40B4-BE49-F238E27FC236}">
                <a16:creationId xmlns:a16="http://schemas.microsoft.com/office/drawing/2014/main" id="{C9A25309-D329-7B7C-C59F-AFCF25AB415C}"/>
              </a:ext>
            </a:extLst>
          </p:cNvPr>
          <p:cNvSpPr/>
          <p:nvPr/>
        </p:nvSpPr>
        <p:spPr bwMode="auto">
          <a:xfrm>
            <a:off x="5148064" y="2636615"/>
            <a:ext cx="1813051" cy="272415"/>
          </a:xfrm>
          <a:prstGeom prst="round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000" dirty="0">
                <a:solidFill>
                  <a:srgbClr val="B1063A"/>
                </a:solidFill>
              </a:rPr>
              <a:t>Konstante ohne Parameter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1F01C5-A48B-98D2-077E-981D694DE302}"/>
              </a:ext>
            </a:extLst>
          </p:cNvPr>
          <p:cNvCxnSpPr/>
          <p:nvPr/>
        </p:nvCxnSpPr>
        <p:spPr bwMode="gray">
          <a:xfrm>
            <a:off x="611560" y="4515966"/>
            <a:ext cx="6624267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477FC7-9F02-617C-1A34-7F862A6106DB}"/>
              </a:ext>
            </a:extLst>
          </p:cNvPr>
          <p:cNvCxnSpPr/>
          <p:nvPr/>
        </p:nvCxnSpPr>
        <p:spPr bwMode="gray">
          <a:xfrm>
            <a:off x="827584" y="4371950"/>
            <a:ext cx="0" cy="288032"/>
          </a:xfrm>
          <a:prstGeom prst="line">
            <a:avLst/>
          </a:prstGeom>
          <a:ln/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43DE73-5A20-2499-F3BA-03F63D5B9648}"/>
                  </a:ext>
                </a:extLst>
              </p:cNvPr>
              <p:cNvSpPr txBox="1"/>
              <p:nvPr/>
            </p:nvSpPr>
            <p:spPr bwMode="gray">
              <a:xfrm>
                <a:off x="694420" y="4625692"/>
                <a:ext cx="266328" cy="48235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43DE73-5A20-2499-F3BA-03F63D5B9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94420" y="4625692"/>
                <a:ext cx="266328" cy="482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A51855-FE10-7936-44AF-BDF091FEF168}"/>
              </a:ext>
            </a:extLst>
          </p:cNvPr>
          <p:cNvCxnSpPr/>
          <p:nvPr/>
        </p:nvCxnSpPr>
        <p:spPr bwMode="gray">
          <a:xfrm>
            <a:off x="1727767" y="4371950"/>
            <a:ext cx="0" cy="288032"/>
          </a:xfrm>
          <a:prstGeom prst="line">
            <a:avLst/>
          </a:prstGeom>
          <a:ln/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2362BA-7529-8B2A-0DCC-BC20820971DE}"/>
                  </a:ext>
                </a:extLst>
              </p:cNvPr>
              <p:cNvSpPr txBox="1"/>
              <p:nvPr/>
            </p:nvSpPr>
            <p:spPr bwMode="gray">
              <a:xfrm>
                <a:off x="1392796" y="4625692"/>
                <a:ext cx="669777" cy="48235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100" i="0" dirty="0" smtClean="0">
                          <a:latin typeface="Cambria Math" panose="02040503050406030204" pitchFamily="18" charset="0"/>
                        </a:rPr>
                        <m:t>succ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2362BA-7529-8B2A-0DCC-BC2082097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92796" y="4625692"/>
                <a:ext cx="669777" cy="4823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937604-3199-3A30-8A1B-081DD614453A}"/>
              </a:ext>
            </a:extLst>
          </p:cNvPr>
          <p:cNvCxnSpPr/>
          <p:nvPr/>
        </p:nvCxnSpPr>
        <p:spPr bwMode="gray">
          <a:xfrm>
            <a:off x="2627784" y="4371950"/>
            <a:ext cx="0" cy="288032"/>
          </a:xfrm>
          <a:prstGeom prst="line">
            <a:avLst/>
          </a:prstGeom>
          <a:ln/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44910C-A6A0-BD10-9A6E-5EB1F0EEA926}"/>
                  </a:ext>
                </a:extLst>
              </p:cNvPr>
              <p:cNvSpPr txBox="1"/>
              <p:nvPr/>
            </p:nvSpPr>
            <p:spPr bwMode="gray">
              <a:xfrm>
                <a:off x="2195736" y="4625692"/>
                <a:ext cx="892826" cy="48235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100" i="0" dirty="0" smtClean="0">
                          <a:latin typeface="Cambria Math" panose="02040503050406030204" pitchFamily="18" charset="0"/>
                        </a:rPr>
                        <m:t>succ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100" i="0" dirty="0" err="1">
                          <a:latin typeface="Cambria Math" panose="02040503050406030204" pitchFamily="18" charset="0"/>
                        </a:rPr>
                        <m:t>succ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(0))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44910C-A6A0-BD10-9A6E-5EB1F0EEA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36" y="4625692"/>
                <a:ext cx="892826" cy="482352"/>
              </a:xfrm>
              <a:prstGeom prst="rect">
                <a:avLst/>
              </a:prstGeom>
              <a:blipFill>
                <a:blip r:embed="rId5"/>
                <a:stretch>
                  <a:fillRect l="-2778" r="-138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85A4561F-3037-5CA4-956B-4626F4AC9D7F}"/>
              </a:ext>
            </a:extLst>
          </p:cNvPr>
          <p:cNvCxnSpPr>
            <a:cxnSpLocks/>
            <a:stCxn id="11" idx="0"/>
          </p:cNvCxnSpPr>
          <p:nvPr/>
        </p:nvCxnSpPr>
        <p:spPr bwMode="gray">
          <a:xfrm rot="5400000" flipH="1" flipV="1">
            <a:off x="1153559" y="4058675"/>
            <a:ext cx="241042" cy="892992"/>
          </a:xfrm>
          <a:prstGeom prst="curvedConnector2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14F832BF-F5C4-EA22-69E8-BC1CBD093584}"/>
              </a:ext>
            </a:extLst>
          </p:cNvPr>
          <p:cNvCxnSpPr>
            <a:cxnSpLocks/>
            <a:stCxn id="13" idx="0"/>
          </p:cNvCxnSpPr>
          <p:nvPr/>
        </p:nvCxnSpPr>
        <p:spPr bwMode="gray">
          <a:xfrm rot="5400000" flipH="1" flipV="1">
            <a:off x="2063522" y="4068625"/>
            <a:ext cx="221230" cy="892904"/>
          </a:xfrm>
          <a:prstGeom prst="curvedConnector2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F427320-0F67-826E-92AC-1AF7E1CE0587}"/>
                  </a:ext>
                </a:extLst>
              </p:cNvPr>
              <p:cNvSpPr txBox="1"/>
              <p:nvPr/>
            </p:nvSpPr>
            <p:spPr bwMode="gray">
              <a:xfrm>
                <a:off x="3095756" y="4625692"/>
                <a:ext cx="1332228" cy="48235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100" i="0" dirty="0" err="1">
                          <a:latin typeface="Cambria Math" panose="02040503050406030204" pitchFamily="18" charset="0"/>
                        </a:rPr>
                        <m:t>succ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100" i="0" dirty="0">
                          <a:latin typeface="Cambria Math" panose="02040503050406030204" pitchFamily="18" charset="0"/>
                        </a:rPr>
                        <m:t>add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100" i="0" dirty="0" err="1">
                          <a:latin typeface="Cambria Math" panose="02040503050406030204" pitchFamily="18" charset="0"/>
                        </a:rPr>
                        <m:t>succ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(0),0</m:t>
                      </m:r>
                      <m:r>
                        <a:rPr lang="en-US" sz="110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F427320-0F67-826E-92AC-1AF7E1CE0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95756" y="4625692"/>
                <a:ext cx="1332228" cy="482352"/>
              </a:xfrm>
              <a:prstGeom prst="rect">
                <a:avLst/>
              </a:prstGeom>
              <a:blipFill>
                <a:blip r:embed="rId6"/>
                <a:stretch>
                  <a:fillRect l="-2830" r="-1415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B8837B-AB9E-D8D6-64FF-D310D65F3B17}"/>
              </a:ext>
            </a:extLst>
          </p:cNvPr>
          <p:cNvCxnSpPr>
            <a:cxnSpLocks/>
            <a:stCxn id="6" idx="1"/>
            <a:endCxn id="17" idx="3"/>
          </p:cNvCxnSpPr>
          <p:nvPr/>
        </p:nvCxnSpPr>
        <p:spPr bwMode="gray">
          <a:xfrm flipH="1">
            <a:off x="3635896" y="2772823"/>
            <a:ext cx="1512168" cy="505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449E6D3-3594-01D2-AF59-A80A4B2034DC}"/>
              </a:ext>
            </a:extLst>
          </p:cNvPr>
          <p:cNvSpPr/>
          <p:nvPr/>
        </p:nvSpPr>
        <p:spPr bwMode="gray">
          <a:xfrm>
            <a:off x="2642149" y="2667779"/>
            <a:ext cx="993747" cy="220195"/>
          </a:xfrm>
          <a:prstGeom prst="roundRect">
            <a:avLst/>
          </a:prstGeom>
          <a:solidFill>
            <a:srgbClr val="B1063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C9486F8-B4D9-6813-58F9-BA397BB28642}"/>
              </a:ext>
            </a:extLst>
          </p:cNvPr>
          <p:cNvSpPr/>
          <p:nvPr/>
        </p:nvSpPr>
        <p:spPr bwMode="gray">
          <a:xfrm>
            <a:off x="2627784" y="2925745"/>
            <a:ext cx="1440160" cy="220195"/>
          </a:xfrm>
          <a:prstGeom prst="roundRect">
            <a:avLst/>
          </a:prstGeom>
          <a:solidFill>
            <a:srgbClr val="B1063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0" name="Abgerundete rechteckige Legende 7">
            <a:extLst>
              <a:ext uri="{FF2B5EF4-FFF2-40B4-BE49-F238E27FC236}">
                <a16:creationId xmlns:a16="http://schemas.microsoft.com/office/drawing/2014/main" id="{7F089FF6-7B80-12FA-6E7E-F2DD83B8CD85}"/>
              </a:ext>
            </a:extLst>
          </p:cNvPr>
          <p:cNvSpPr/>
          <p:nvPr/>
        </p:nvSpPr>
        <p:spPr bwMode="auto">
          <a:xfrm>
            <a:off x="5784462" y="2885598"/>
            <a:ext cx="924057" cy="272415"/>
          </a:xfrm>
          <a:prstGeom prst="round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000" dirty="0">
                <a:solidFill>
                  <a:srgbClr val="B1063A"/>
                </a:solidFill>
              </a:rPr>
              <a:t>Konstruktor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A0B56B-C5A6-C46F-5051-4D5654017311}"/>
              </a:ext>
            </a:extLst>
          </p:cNvPr>
          <p:cNvCxnSpPr>
            <a:cxnSpLocks/>
            <a:stCxn id="20" idx="1"/>
            <a:endCxn id="19" idx="3"/>
          </p:cNvCxnSpPr>
          <p:nvPr/>
        </p:nvCxnSpPr>
        <p:spPr bwMode="gray">
          <a:xfrm flipH="1">
            <a:off x="4067944" y="3021806"/>
            <a:ext cx="1716518" cy="1403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E56398-E19D-FFB9-679F-86533FEC0AF6}"/>
                  </a:ext>
                </a:extLst>
              </p:cNvPr>
              <p:cNvSpPr txBox="1"/>
              <p:nvPr/>
            </p:nvSpPr>
            <p:spPr bwMode="gray">
              <a:xfrm>
                <a:off x="4542034" y="4625692"/>
                <a:ext cx="1591370" cy="48235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100" i="0" dirty="0">
                          <a:latin typeface="Cambria Math" panose="02040503050406030204" pitchFamily="18" charset="0"/>
                        </a:rPr>
                        <m:t>add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100" i="0" dirty="0" err="1">
                          <a:latin typeface="Cambria Math" panose="02040503050406030204" pitchFamily="18" charset="0"/>
                        </a:rPr>
                        <m:t>succ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(0),</m:t>
                      </m:r>
                      <m:r>
                        <m:rPr>
                          <m:sty m:val="p"/>
                        </m:rPr>
                        <a:rPr lang="en-US" sz="1100" i="0" dirty="0" err="1">
                          <a:latin typeface="Cambria Math" panose="02040503050406030204" pitchFamily="18" charset="0"/>
                        </a:rPr>
                        <m:t>succ</m:t>
                      </m:r>
                      <m:r>
                        <a:rPr lang="en-US" sz="1100" i="1" dirty="0">
                          <a:latin typeface="Cambria Math" panose="02040503050406030204" pitchFamily="18" charset="0"/>
                        </a:rPr>
                        <m:t>(0))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E56398-E19D-FFB9-679F-86533FEC0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42034" y="4625692"/>
                <a:ext cx="1591370" cy="4823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0214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2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  <p:bldP spid="6" grpId="0"/>
      <p:bldP spid="11" grpId="0"/>
      <p:bldP spid="13" grpId="0"/>
      <p:bldP spid="15" grpId="0"/>
      <p:bldP spid="30" grpId="0"/>
      <p:bldP spid="17" grpId="0" animBg="1"/>
      <p:bldP spid="19" grpId="0" animBg="1"/>
      <p:bldP spid="20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AB69D0-14E9-5BA0-E509-5A2DFB8B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Abstrakte Datentypen Beispiel: Bool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6">
                <a:extLst>
                  <a:ext uri="{FF2B5EF4-FFF2-40B4-BE49-F238E27FC236}">
                    <a16:creationId xmlns:a16="http://schemas.microsoft.com/office/drawing/2014/main" id="{778E9D30-AD38-5046-CFA0-CB9DE6DBC0C7}"/>
                  </a:ext>
                </a:extLst>
              </p:cNvPr>
              <p:cNvSpPr/>
              <p:nvPr/>
            </p:nvSpPr>
            <p:spPr>
              <a:xfrm>
                <a:off x="683568" y="1203598"/>
                <a:ext cx="6372200" cy="3754874"/>
              </a:xfrm>
              <a:prstGeom prst="rect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type</a:t>
                </a:r>
                <a:r>
                  <a:rPr lang="de-DE" altLang="de-DE" sz="1400" dirty="0"/>
                  <a:t> </a:t>
                </a:r>
                <a:r>
                  <a:rPr lang="de-DE" altLang="de-DE" sz="1400" dirty="0" err="1"/>
                  <a:t>Bool</a:t>
                </a:r>
                <a:endParaRPr lang="de-DE" altLang="de-DE" sz="1400" dirty="0"/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operators</a:t>
                </a:r>
                <a:endParaRPr lang="de-DE" altLang="de-DE" sz="1400" b="1" dirty="0">
                  <a:cs typeface="Courier New" panose="02070309020205020404" pitchFamily="49" charset="0"/>
                </a:endParaRPr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altLang="de-DE" sz="1400" b="0" i="0" dirty="0" err="1" smtClean="0">
                        <a:latin typeface="Cambria Math" panose="02040503050406030204" pitchFamily="18" charset="0"/>
                      </a:rPr>
                      <m:t>true</m:t>
                    </m:r>
                    <m:r>
                      <a:rPr lang="de-DE" altLang="de-DE" sz="140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altLang="de-DE" sz="1400" i="0" dirty="0" err="1" smtClean="0">
                        <a:latin typeface="Cambria Math" panose="02040503050406030204" pitchFamily="18" charset="0"/>
                      </a:rPr>
                      <m:t>Bool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false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:_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altLang="de-DE" sz="1400" dirty="0" err="1">
                        <a:latin typeface="Cambria Math" panose="02040503050406030204" pitchFamily="18" charset="0"/>
                      </a:rPr>
                      <m:t>Bool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Bool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Bool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altLang="de-DE" sz="1400" dirty="0" err="1">
                        <a:latin typeface="Cambria Math" panose="02040503050406030204" pitchFamily="18" charset="0"/>
                      </a:rPr>
                      <m:t>Bool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Bool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Bool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altLang="de-DE" sz="1400" dirty="0" err="1">
                        <a:latin typeface="Cambria Math" panose="02040503050406030204" pitchFamily="18" charset="0"/>
                      </a:rPr>
                      <m:t>Bool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Bool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altLang="de-DE" sz="1400" dirty="0" err="1">
                        <a:latin typeface="Cambria Math" panose="02040503050406030204" pitchFamily="18" charset="0"/>
                      </a:rPr>
                      <m:t>Bool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axioms</a:t>
                </a:r>
                <a:endParaRPr lang="de-DE" altLang="de-DE" sz="1400" b="1" dirty="0">
                  <a:cs typeface="Courier New" panose="02070309020205020404" pitchFamily="49" charset="0"/>
                </a:endParaRPr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Bool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false</m:t>
                        </m:r>
                        <m:r>
                          <a:rPr lang="en-US" altLang="de-DE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de-DE" sz="1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false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Bool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de-DE" sz="14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de-DE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false</m:t>
                        </m:r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false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                     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true</m:t>
                        </m:r>
                        <m:r>
                          <a:rPr lang="en-US" altLang="de-DE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true</m:t>
                        </m:r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true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Bool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true</m:t>
                        </m:r>
                        <m:r>
                          <a:rPr lang="en-US" altLang="de-DE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de-DE" sz="1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true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Bool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de-DE" sz="14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de-DE" sz="140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true</m:t>
                        </m:r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true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                     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false</m:t>
                        </m:r>
                        <m:r>
                          <a:rPr lang="en-US" altLang="de-DE" sz="1400" i="1" dirty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false</m:t>
                        </m:r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false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                      </a:t>
                </a:r>
                <a14:m>
                  <m:oMath xmlns:m="http://schemas.openxmlformats.org/officeDocument/2006/math">
                    <m:r>
                      <a:rPr lang="en-US" altLang="de-DE" sz="1400" b="1" i="1" dirty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altLang="de-DE" sz="1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false</m:t>
                        </m:r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true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                      </a:t>
                </a:r>
                <a14:m>
                  <m:oMath xmlns:m="http://schemas.openxmlformats.org/officeDocument/2006/math"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true</m:t>
                        </m:r>
                      </m:e>
                    </m:d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false</m:t>
                    </m:r>
                  </m:oMath>
                </a14:m>
                <a:endParaRPr lang="de-DE" altLang="de-DE" sz="1400" dirty="0"/>
              </a:p>
              <a:p>
                <a:endParaRPr lang="de-DE" altLang="de-DE" sz="1400" dirty="0"/>
              </a:p>
            </p:txBody>
          </p:sp>
        </mc:Choice>
        <mc:Fallback xmlns="">
          <p:sp>
            <p:nvSpPr>
              <p:cNvPr id="4" name="Rechteck 6">
                <a:extLst>
                  <a:ext uri="{FF2B5EF4-FFF2-40B4-BE49-F238E27FC236}">
                    <a16:creationId xmlns:a16="http://schemas.microsoft.com/office/drawing/2014/main" id="{778E9D30-AD38-5046-CFA0-CB9DE6DBC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203598"/>
                <a:ext cx="6372200" cy="37548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9576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353805-C94C-DFFE-0FBC-668F9021A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de-DE" dirty="0"/>
              <a:t>ADT in </a:t>
            </a:r>
            <a:r>
              <a:rPr lang="de-DE" altLang="de-DE" b="1" dirty="0"/>
              <a:t>Programmiersprachen</a:t>
            </a:r>
          </a:p>
          <a:p>
            <a:pPr lvl="1"/>
            <a:r>
              <a:rPr lang="de-DE" altLang="de-DE" dirty="0"/>
              <a:t>Konzept der</a:t>
            </a:r>
            <a:r>
              <a:rPr lang="de-DE" altLang="de-DE" b="1" dirty="0"/>
              <a:t> Kapselung</a:t>
            </a:r>
            <a:r>
              <a:rPr lang="de-DE" altLang="de-DE" dirty="0"/>
              <a:t>: Verbergen der internen Repräsentation</a:t>
            </a:r>
          </a:p>
          <a:p>
            <a:pPr lvl="1"/>
            <a:r>
              <a:rPr lang="de-DE" altLang="de-DE" dirty="0"/>
              <a:t>Gleiche Verwendung trotz unterschiedlicher Implementierung</a:t>
            </a:r>
          </a:p>
          <a:p>
            <a:pPr lvl="1"/>
            <a:r>
              <a:rPr lang="de-DE" altLang="de-DE" b="1" dirty="0"/>
              <a:t>Vorteile</a:t>
            </a:r>
            <a:r>
              <a:rPr lang="de-DE" altLang="de-DE" dirty="0"/>
              <a:t>: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de-DE" altLang="de-DE" dirty="0"/>
              <a:t>Stabilität gegenüber Änderungen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de-DE" altLang="de-DE" dirty="0"/>
              <a:t>Auswahl einer geeigneten Implementierungsvariante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de-DE" altLang="de-DE" dirty="0"/>
          </a:p>
          <a:p>
            <a:r>
              <a:rPr lang="de-DE" altLang="de-DE" b="1" dirty="0"/>
              <a:t>ADT in C++</a:t>
            </a:r>
            <a:endParaRPr lang="de-DE" altLang="de-DE" dirty="0"/>
          </a:p>
          <a:p>
            <a:pPr lvl="1"/>
            <a:r>
              <a:rPr lang="de-DE" altLang="de-DE" dirty="0"/>
              <a:t>Typen → Klassen</a:t>
            </a:r>
          </a:p>
          <a:p>
            <a:pPr lvl="1"/>
            <a:r>
              <a:rPr lang="de-DE" altLang="de-DE" dirty="0"/>
              <a:t>Null-wertige Operatoren → Konstanten</a:t>
            </a:r>
          </a:p>
          <a:p>
            <a:pPr lvl="1"/>
            <a:r>
              <a:rPr lang="de-DE" altLang="de-DE" dirty="0"/>
              <a:t>Mehr-wertige Operatoren → Methoden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A54175-F117-188C-B27B-C800F24FC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Umsetzung von ADTs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765863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Abstrakte Datentypen</a:t>
            </a:r>
          </a:p>
          <a:p>
            <a:pPr marL="342900" indent="-342900"/>
            <a:r>
              <a:rPr lang="de-DE" altLang="en-DE" b="1" dirty="0"/>
              <a:t>Stapel (</a:t>
            </a:r>
            <a:r>
              <a:rPr lang="en-US" altLang="en-DE" b="1" i="1" dirty="0"/>
              <a:t>stacks</a:t>
            </a:r>
            <a:r>
              <a:rPr lang="de-DE" altLang="en-DE" b="1" dirty="0"/>
              <a:t>)</a:t>
            </a:r>
          </a:p>
          <a:p>
            <a:pPr marL="614125" lvl="1" indent="-342900"/>
            <a:r>
              <a:rPr lang="de-DE" altLang="en-DE" dirty="0"/>
              <a:t>Auswertung Arithmetischer Ausdrücke</a:t>
            </a:r>
          </a:p>
          <a:p>
            <a:pPr marL="342900" indent="-342900"/>
            <a:r>
              <a:rPr lang="de-DE" altLang="en-DE" dirty="0"/>
              <a:t>Warteschlangen (</a:t>
            </a:r>
            <a:r>
              <a:rPr lang="en-US" altLang="en-DE" i="1" dirty="0"/>
              <a:t>queue</a:t>
            </a:r>
            <a:r>
              <a:rPr lang="de-DE" altLang="en-DE" dirty="0"/>
              <a:t>)</a:t>
            </a:r>
          </a:p>
          <a:p>
            <a:pPr marL="342900" indent="-342900"/>
            <a:r>
              <a:rPr lang="de-DE" altLang="en-DE" dirty="0"/>
              <a:t>Listen (</a:t>
            </a:r>
            <a:r>
              <a:rPr lang="en-US" altLang="en-DE" i="1" dirty="0"/>
              <a:t>lists</a:t>
            </a:r>
            <a:r>
              <a:rPr lang="de-DE" altLang="en-DE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86891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7F0C18-6F26-784D-900D-019CB008ED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323801"/>
          </a:xfrm>
        </p:spPr>
        <p:txBody>
          <a:bodyPr/>
          <a:lstStyle/>
          <a:p>
            <a:r>
              <a:rPr lang="en-DE" b="1" dirty="0"/>
              <a:t>Prinzip</a:t>
            </a:r>
            <a:r>
              <a:rPr lang="en-DE" dirty="0"/>
              <a:t>: </a:t>
            </a:r>
            <a:r>
              <a:rPr lang="en-DE" i="1" dirty="0"/>
              <a:t>Last-In-First-Out </a:t>
            </a:r>
            <a:r>
              <a:rPr lang="en-DE" dirty="0"/>
              <a:t>Speicher</a:t>
            </a:r>
          </a:p>
          <a:p>
            <a:endParaRPr lang="en-DE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B3511E-523E-8F07-CEA6-543EB9A1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Stack as Abstrakter Datentyp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73D8BFCF-8909-43BB-93A0-6C60EED4A55B}"/>
                  </a:ext>
                </a:extLst>
              </p:cNvPr>
              <p:cNvSpPr/>
              <p:nvPr/>
            </p:nvSpPr>
            <p:spPr>
              <a:xfrm>
                <a:off x="683568" y="1800099"/>
                <a:ext cx="6372200" cy="2976199"/>
              </a:xfrm>
              <a:prstGeom prst="rect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type</a:t>
                </a:r>
                <a:r>
                  <a:rPr lang="de-DE" altLang="de-DE" sz="1400" dirty="0"/>
                  <a:t> Stack(T)</a:t>
                </a:r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operators</a:t>
                </a:r>
                <a:endParaRPr lang="de-DE" altLang="de-DE" sz="1400" b="1" dirty="0">
                  <a:cs typeface="Courier New" panose="02070309020205020404" pitchFamily="49" charset="0"/>
                </a:endParaRPr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empty</m:t>
                    </m:r>
                    <m:r>
                      <a:rPr lang="de-DE" altLang="de-DE" sz="140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Stack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empty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Stack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altLang="de-DE" sz="1400" dirty="0" err="1">
                        <a:latin typeface="Cambria Math" panose="02040503050406030204" pitchFamily="18" charset="0"/>
                      </a:rPr>
                      <m:t>Bool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push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Stack</m:t>
                    </m:r>
                    <m: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× 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Stack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pop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Stack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Stack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i="0" dirty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op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Stack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axioms</a:t>
                </a:r>
                <a:endParaRPr lang="de-DE" altLang="de-DE" sz="1400" b="1" dirty="0">
                  <a:cs typeface="Courier New" panose="02070309020205020404" pitchFamily="49" charset="0"/>
                </a:endParaRPr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Stack</m:t>
                    </m:r>
                    <m: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pop</m:t>
                    </m:r>
                    <m:d>
                      <m:dPr>
                        <m:ctrlPr>
                          <a:rPr lang="en-US" altLang="de-DE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b="0" i="0" dirty="0" smtClean="0">
                            <a:latin typeface="Cambria Math" panose="02040503050406030204" pitchFamily="18" charset="0"/>
                          </a:rPr>
                          <m:t>push</m:t>
                        </m:r>
                        <m:d>
                          <m:dPr>
                            <m:ctrlP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de-DE" altLang="de-DE" sz="1400" dirty="0"/>
              </a:p>
              <a:p>
                <a:r>
                  <a:rPr lang="en-US" altLang="de-DE" sz="1400" dirty="0"/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Stack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op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push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de-DE" altLang="de-DE" sz="1400" dirty="0"/>
              </a:p>
              <a:p>
                <a:r>
                  <a:rPr lang="en-US" altLang="de-DE" sz="1400" dirty="0"/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Stack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empty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push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false</m:t>
                    </m:r>
                  </m:oMath>
                </a14:m>
                <a:endParaRPr lang="de-DE" altLang="de-DE" sz="1400" dirty="0"/>
              </a:p>
              <a:p>
                <a:r>
                  <a:rPr lang="en-US" altLang="de-DE" sz="1400" dirty="0"/>
                  <a:t>		 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empty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b="0" i="0" dirty="0" smtClean="0">
                            <a:latin typeface="Cambria Math" panose="02040503050406030204" pitchFamily="18" charset="0"/>
                          </a:rPr>
                          <m:t>empty</m:t>
                        </m:r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true</m:t>
                    </m:r>
                  </m:oMath>
                </a14:m>
                <a:endParaRPr lang="de-DE" altLang="de-DE" sz="1400" dirty="0"/>
              </a:p>
              <a:p>
                <a:endParaRPr lang="de-DE" altLang="de-DE" sz="1400" dirty="0"/>
              </a:p>
            </p:txBody>
          </p:sp>
        </mc:Choice>
        <mc:Fallback xmlns=""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73D8BFCF-8909-43BB-93A0-6C60EED4A5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800099"/>
                <a:ext cx="6372200" cy="29761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2577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uiExpand="1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2E551D-44D0-8058-6D46-4D50B3D194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435680"/>
          </a:xfrm>
        </p:spPr>
        <p:txBody>
          <a:bodyPr/>
          <a:lstStyle/>
          <a:p>
            <a:r>
              <a:rPr lang="en-DE" b="1" dirty="0"/>
              <a:t>Beispiel</a:t>
            </a:r>
            <a:r>
              <a:rPr lang="en-DE" dirty="0"/>
              <a:t>: Stack(Int)</a:t>
            </a:r>
            <a:endParaRPr lang="en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159530-435F-DD70-53E1-1A0B1D5FC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Stack in Bildern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6772D-F289-F075-BDCF-F67077C0E682}"/>
              </a:ext>
            </a:extLst>
          </p:cNvPr>
          <p:cNvSpPr txBox="1"/>
          <p:nvPr/>
        </p:nvSpPr>
        <p:spPr bwMode="gray">
          <a:xfrm>
            <a:off x="1186963" y="3228902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42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16A1CE-136C-8DB6-76A4-4890D0C2A08D}"/>
              </a:ext>
            </a:extLst>
          </p:cNvPr>
          <p:cNvSpPr txBox="1"/>
          <p:nvPr/>
        </p:nvSpPr>
        <p:spPr bwMode="gray">
          <a:xfrm>
            <a:off x="179512" y="3240452"/>
            <a:ext cx="504056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empty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A51E29-0826-C85E-4C58-AC91A0FD6C62}"/>
              </a:ext>
            </a:extLst>
          </p:cNvPr>
          <p:cNvSpPr txBox="1"/>
          <p:nvPr/>
        </p:nvSpPr>
        <p:spPr bwMode="gray">
          <a:xfrm>
            <a:off x="2195075" y="3224998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63F3BC-E005-399C-A07F-C58F19849A17}"/>
              </a:ext>
            </a:extLst>
          </p:cNvPr>
          <p:cNvSpPr txBox="1"/>
          <p:nvPr/>
        </p:nvSpPr>
        <p:spPr bwMode="gray">
          <a:xfrm>
            <a:off x="2195075" y="2789318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DD00A9-C22B-3663-13B8-841238D1F223}"/>
              </a:ext>
            </a:extLst>
          </p:cNvPr>
          <p:cNvSpPr txBox="1"/>
          <p:nvPr/>
        </p:nvSpPr>
        <p:spPr bwMode="gray">
          <a:xfrm>
            <a:off x="3203187" y="3224998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42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1C31EF-94AE-802F-0669-B4EA9FCCE557}"/>
              </a:ext>
            </a:extLst>
          </p:cNvPr>
          <p:cNvSpPr txBox="1"/>
          <p:nvPr/>
        </p:nvSpPr>
        <p:spPr bwMode="gray">
          <a:xfrm>
            <a:off x="3203187" y="2789318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78CCCA-85E2-3005-B19B-73C51E616C42}"/>
              </a:ext>
            </a:extLst>
          </p:cNvPr>
          <p:cNvSpPr txBox="1"/>
          <p:nvPr/>
        </p:nvSpPr>
        <p:spPr bwMode="gray">
          <a:xfrm>
            <a:off x="3203187" y="2353638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406A34-12C2-394A-2A4C-EB280A669D71}"/>
              </a:ext>
            </a:extLst>
          </p:cNvPr>
          <p:cNvSpPr txBox="1"/>
          <p:nvPr/>
        </p:nvSpPr>
        <p:spPr bwMode="gray">
          <a:xfrm>
            <a:off x="4210798" y="3224998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DA1CF4-5F0A-3C0F-D7F9-7DFEEB85EA69}"/>
              </a:ext>
            </a:extLst>
          </p:cNvPr>
          <p:cNvSpPr txBox="1"/>
          <p:nvPr/>
        </p:nvSpPr>
        <p:spPr bwMode="gray">
          <a:xfrm>
            <a:off x="4210798" y="2789318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5AFF4B-2643-5F91-0FEE-B9FF37AD4725}"/>
              </a:ext>
            </a:extLst>
          </p:cNvPr>
          <p:cNvSpPr txBox="1"/>
          <p:nvPr/>
        </p:nvSpPr>
        <p:spPr bwMode="gray">
          <a:xfrm>
            <a:off x="5219413" y="3224998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42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7BFDDE-4B97-04C0-969B-D256EF4F9E90}"/>
              </a:ext>
            </a:extLst>
          </p:cNvPr>
          <p:cNvSpPr txBox="1"/>
          <p:nvPr/>
        </p:nvSpPr>
        <p:spPr bwMode="gray">
          <a:xfrm>
            <a:off x="6225700" y="3232254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09607D-3EE7-C10E-4C1A-56E24E47EFF1}"/>
              </a:ext>
            </a:extLst>
          </p:cNvPr>
          <p:cNvSpPr txBox="1"/>
          <p:nvPr/>
        </p:nvSpPr>
        <p:spPr bwMode="gray">
          <a:xfrm>
            <a:off x="6225700" y="2796574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FFC71B-CE05-15D0-6C1E-E3CA05166076}"/>
              </a:ext>
            </a:extLst>
          </p:cNvPr>
          <p:cNvSpPr txBox="1"/>
          <p:nvPr/>
        </p:nvSpPr>
        <p:spPr bwMode="gray">
          <a:xfrm>
            <a:off x="7231987" y="3224998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98F304-6852-9A07-2589-75556661E654}"/>
              </a:ext>
            </a:extLst>
          </p:cNvPr>
          <p:cNvSpPr txBox="1"/>
          <p:nvPr/>
        </p:nvSpPr>
        <p:spPr bwMode="gray">
          <a:xfrm>
            <a:off x="7231987" y="2789318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C3D83D-3987-FD4B-8957-50A3E23C6FBD}"/>
              </a:ext>
            </a:extLst>
          </p:cNvPr>
          <p:cNvSpPr txBox="1"/>
          <p:nvPr/>
        </p:nvSpPr>
        <p:spPr bwMode="gray">
          <a:xfrm>
            <a:off x="7231987" y="2353638"/>
            <a:ext cx="504056" cy="435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10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7F539D-1DAE-2458-5223-70623BEE848E}"/>
              </a:ext>
            </a:extLst>
          </p:cNvPr>
          <p:cNvCxnSpPr>
            <a:stCxn id="9" idx="3"/>
            <a:endCxn id="4" idx="1"/>
          </p:cNvCxnSpPr>
          <p:nvPr/>
        </p:nvCxnSpPr>
        <p:spPr bwMode="gray">
          <a:xfrm flipV="1">
            <a:off x="683568" y="3446742"/>
            <a:ext cx="503395" cy="11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74DF75-D41D-C4EC-13C3-A23E6CD5B08B}"/>
                  </a:ext>
                </a:extLst>
              </p:cNvPr>
              <p:cNvSpPr txBox="1"/>
              <p:nvPr/>
            </p:nvSpPr>
            <p:spPr bwMode="gray">
              <a:xfrm>
                <a:off x="394468" y="3800426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i="0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DE" sz="1200" i="0" dirty="0" smtClean="0">
                          <a:latin typeface="Cambria Math" panose="02040503050406030204" pitchFamily="18" charset="0"/>
                        </a:rPr>
                        <m:t>ush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(42)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74DF75-D41D-C4EC-13C3-A23E6CD5B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4468" y="3800426"/>
                <a:ext cx="1020824" cy="435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3887C9D-9410-FF78-0A40-969AF601B07F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 bwMode="gray">
          <a:xfrm flipV="1">
            <a:off x="1691019" y="3442838"/>
            <a:ext cx="504056" cy="3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6AD187F-20F8-155A-90F3-2A42AFA88277}"/>
                  </a:ext>
                </a:extLst>
              </p:cNvPr>
              <p:cNvSpPr txBox="1"/>
              <p:nvPr/>
            </p:nvSpPr>
            <p:spPr bwMode="gray">
              <a:xfrm>
                <a:off x="1404013" y="3800426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i="0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DE" sz="1200" i="0" dirty="0" smtClean="0">
                          <a:latin typeface="Cambria Math" panose="02040503050406030204" pitchFamily="18" charset="0"/>
                        </a:rPr>
                        <m:t>ush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6AD187F-20F8-155A-90F3-2A42AFA88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04013" y="3800426"/>
                <a:ext cx="1020824" cy="435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A2D91D-CE2D-F1FF-0205-995AF7F2B239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 bwMode="gray">
          <a:xfrm>
            <a:off x="2699131" y="3442838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688D26-CA4B-66B4-0B20-0FF8F07288C5}"/>
                  </a:ext>
                </a:extLst>
              </p:cNvPr>
              <p:cNvSpPr txBox="1"/>
              <p:nvPr/>
            </p:nvSpPr>
            <p:spPr bwMode="gray">
              <a:xfrm>
                <a:off x="2424837" y="3796522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i="0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DE" sz="1200" i="0" dirty="0" smtClean="0">
                          <a:latin typeface="Cambria Math" panose="02040503050406030204" pitchFamily="18" charset="0"/>
                        </a:rPr>
                        <m:t>ush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688D26-CA4B-66B4-0B20-0FF8F0728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24837" y="3796522"/>
                <a:ext cx="1020824" cy="435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982F09C-E484-D7CC-6374-4B03B6FE2966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 bwMode="gray">
          <a:xfrm>
            <a:off x="3707243" y="3442838"/>
            <a:ext cx="503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C1A3264-08E3-2BDD-9FB0-E742C3F4EA50}"/>
                  </a:ext>
                </a:extLst>
              </p:cNvPr>
              <p:cNvSpPr txBox="1"/>
              <p:nvPr/>
            </p:nvSpPr>
            <p:spPr bwMode="gray">
              <a:xfrm>
                <a:off x="3455215" y="3796522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panose="02040503050406030204" pitchFamily="18" charset="0"/>
                        </a:rPr>
                        <m:t>op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 ()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C1A3264-08E3-2BDD-9FB0-E742C3F4E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55215" y="3796522"/>
                <a:ext cx="1020824" cy="4356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4987BF6-1755-AF12-01A5-7F323FF36075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 bwMode="gray">
          <a:xfrm>
            <a:off x="4714854" y="3442838"/>
            <a:ext cx="5045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F1B10F-55A0-CB39-AD5B-A9B2D5E57EDF}"/>
                  </a:ext>
                </a:extLst>
              </p:cNvPr>
              <p:cNvSpPr txBox="1"/>
              <p:nvPr/>
            </p:nvSpPr>
            <p:spPr bwMode="gray">
              <a:xfrm>
                <a:off x="4440329" y="3795236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panose="02040503050406030204" pitchFamily="18" charset="0"/>
                        </a:rPr>
                        <m:t>op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 ()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F1B10F-55A0-CB39-AD5B-A9B2D5E57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40329" y="3795236"/>
                <a:ext cx="1020824" cy="4356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07B4E41-B233-5CC2-0EDA-AEEFE35E9100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 bwMode="gray">
          <a:xfrm>
            <a:off x="5723469" y="3442838"/>
            <a:ext cx="502231" cy="7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CD86DC5-AC01-D6DA-FA29-1B82A4B068D7}"/>
                  </a:ext>
                </a:extLst>
              </p:cNvPr>
              <p:cNvSpPr txBox="1"/>
              <p:nvPr/>
            </p:nvSpPr>
            <p:spPr bwMode="gray">
              <a:xfrm>
                <a:off x="5425443" y="3802491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i="0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DE" sz="1200" i="0" dirty="0" smtClean="0">
                          <a:latin typeface="Cambria Math" panose="02040503050406030204" pitchFamily="18" charset="0"/>
                        </a:rPr>
                        <m:t>ush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CD86DC5-AC01-D6DA-FA29-1B82A4B06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25443" y="3802491"/>
                <a:ext cx="1020824" cy="4356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BFCF51-2C49-EDE4-F435-BC9ECB8137BA}"/>
              </a:ext>
            </a:extLst>
          </p:cNvPr>
          <p:cNvCxnSpPr>
            <a:cxnSpLocks/>
            <a:stCxn id="22" idx="3"/>
            <a:endCxn id="25" idx="1"/>
          </p:cNvCxnSpPr>
          <p:nvPr/>
        </p:nvCxnSpPr>
        <p:spPr bwMode="gray">
          <a:xfrm flipV="1">
            <a:off x="6729756" y="3442838"/>
            <a:ext cx="502231" cy="7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F7D34AF-9C19-8DA8-5B85-1E8A24FA4731}"/>
                  </a:ext>
                </a:extLst>
              </p:cNvPr>
              <p:cNvSpPr txBox="1"/>
              <p:nvPr/>
            </p:nvSpPr>
            <p:spPr bwMode="gray">
              <a:xfrm>
                <a:off x="6455821" y="3795235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i="0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DE" sz="1200" i="0" dirty="0" smtClean="0">
                          <a:latin typeface="Cambria Math" panose="02040503050406030204" pitchFamily="18" charset="0"/>
                        </a:rPr>
                        <m:t>ush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F7D34AF-9C19-8DA8-5B85-1E8A24FA4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55821" y="3795235"/>
                <a:ext cx="1020824" cy="4356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1C0D1339-66EE-3F14-DACF-C7FDF7EA0175}"/>
              </a:ext>
            </a:extLst>
          </p:cNvPr>
          <p:cNvSpPr txBox="1"/>
          <p:nvPr/>
        </p:nvSpPr>
        <p:spPr bwMode="gray">
          <a:xfrm>
            <a:off x="8388424" y="2360894"/>
            <a:ext cx="504056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10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3C06D92-5CCE-164D-F414-4081620D0BB0}"/>
              </a:ext>
            </a:extLst>
          </p:cNvPr>
          <p:cNvCxnSpPr>
            <a:cxnSpLocks/>
            <a:stCxn id="27" idx="3"/>
          </p:cNvCxnSpPr>
          <p:nvPr/>
        </p:nvCxnSpPr>
        <p:spPr bwMode="gray">
          <a:xfrm>
            <a:off x="7736043" y="2571478"/>
            <a:ext cx="796397" cy="7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6B99387-209A-6D48-1DA2-45C959378C1D}"/>
                  </a:ext>
                </a:extLst>
              </p:cNvPr>
              <p:cNvSpPr txBox="1"/>
              <p:nvPr/>
            </p:nvSpPr>
            <p:spPr bwMode="gray">
              <a:xfrm>
                <a:off x="7736043" y="2030506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panose="02040503050406030204" pitchFamily="18" charset="0"/>
                        </a:rPr>
                        <m:t>top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6B99387-209A-6D48-1DA2-45C959378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36043" y="2030506"/>
                <a:ext cx="1020824" cy="4356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57617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34" grpId="0"/>
      <p:bldP spid="38" grpId="0"/>
      <p:bldP spid="41" grpId="0"/>
      <p:bldP spid="47" grpId="0"/>
      <p:bldP spid="51" grpId="0"/>
      <p:bldP spid="55" grpId="0"/>
      <p:bldP spid="59" grpId="0"/>
      <p:bldP spid="60" grpId="0" animBg="1"/>
      <p:bldP spid="6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2F480D-0FEF-2CEC-1008-96C6D371CA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5869408" cy="3492153"/>
          </a:xfrm>
        </p:spPr>
        <p:txBody>
          <a:bodyPr/>
          <a:lstStyle/>
          <a:p>
            <a:r>
              <a:rPr lang="de-DE" b="1" dirty="0"/>
              <a:t>A</a:t>
            </a:r>
            <a:r>
              <a:rPr lang="de-DE" dirty="0"/>
              <a:t>: Man kann einen Stack nicht effizient mit einem Feld implementieren!</a:t>
            </a:r>
          </a:p>
          <a:p>
            <a:endParaRPr lang="de-DE" dirty="0"/>
          </a:p>
          <a:p>
            <a:endParaRPr lang="de-DE" b="1" dirty="0"/>
          </a:p>
          <a:p>
            <a:r>
              <a:rPr lang="de-DE" b="1" dirty="0"/>
              <a:t>B</a:t>
            </a:r>
            <a:r>
              <a:rPr lang="de-DE" dirty="0"/>
              <a:t>:</a:t>
            </a:r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r>
              <a:rPr lang="de-DE" b="1" dirty="0"/>
              <a:t>C</a:t>
            </a:r>
            <a:r>
              <a:rPr lang="de-DE" dirty="0"/>
              <a:t>: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5F0F8D-80F5-C9A3-B07F-2D061A1C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Quiz: Implementierung eines Stacks</a:t>
            </a:r>
          </a:p>
        </p:txBody>
      </p:sp>
      <p:sp>
        <p:nvSpPr>
          <p:cNvPr id="4" name="Rechteck 28">
            <a:extLst>
              <a:ext uri="{FF2B5EF4-FFF2-40B4-BE49-F238E27FC236}">
                <a16:creationId xmlns:a16="http://schemas.microsoft.com/office/drawing/2014/main" id="{AA2CFDC2-1587-C332-0504-EF0A2FDBB4AF}"/>
              </a:ext>
            </a:extLst>
          </p:cNvPr>
          <p:cNvSpPr/>
          <p:nvPr/>
        </p:nvSpPr>
        <p:spPr bwMode="gray">
          <a:xfrm>
            <a:off x="6335428" y="1679660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echteck 30">
            <a:extLst>
              <a:ext uri="{FF2B5EF4-FFF2-40B4-BE49-F238E27FC236}">
                <a16:creationId xmlns:a16="http://schemas.microsoft.com/office/drawing/2014/main" id="{13CAC513-3088-D7CF-D85E-C3679D197D34}"/>
              </a:ext>
            </a:extLst>
          </p:cNvPr>
          <p:cNvSpPr/>
          <p:nvPr/>
        </p:nvSpPr>
        <p:spPr bwMode="gray">
          <a:xfrm>
            <a:off x="6335827" y="2883998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8" name="Rechteck 32">
            <a:extLst>
              <a:ext uri="{FF2B5EF4-FFF2-40B4-BE49-F238E27FC236}">
                <a16:creationId xmlns:a16="http://schemas.microsoft.com/office/drawing/2014/main" id="{76C7609E-A0D3-0C60-7760-800463C6722E}"/>
              </a:ext>
            </a:extLst>
          </p:cNvPr>
          <p:cNvSpPr/>
          <p:nvPr/>
        </p:nvSpPr>
        <p:spPr bwMode="gray">
          <a:xfrm>
            <a:off x="6335827" y="1373600"/>
            <a:ext cx="900000" cy="216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Rechteck 33">
            <a:extLst>
              <a:ext uri="{FF2B5EF4-FFF2-40B4-BE49-F238E27FC236}">
                <a16:creationId xmlns:a16="http://schemas.microsoft.com/office/drawing/2014/main" id="{F81CFF3A-83C6-886B-B289-1495E7C83E96}"/>
              </a:ext>
            </a:extLst>
          </p:cNvPr>
          <p:cNvSpPr/>
          <p:nvPr/>
        </p:nvSpPr>
        <p:spPr bwMode="gray">
          <a:xfrm>
            <a:off x="6335827" y="2571750"/>
            <a:ext cx="900000" cy="216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4" name="Rechteck 44">
            <a:extLst>
              <a:ext uri="{FF2B5EF4-FFF2-40B4-BE49-F238E27FC236}">
                <a16:creationId xmlns:a16="http://schemas.microsoft.com/office/drawing/2014/main" id="{70B65003-5064-E901-4CB2-9981E26A7650}"/>
              </a:ext>
            </a:extLst>
          </p:cNvPr>
          <p:cNvSpPr/>
          <p:nvPr/>
        </p:nvSpPr>
        <p:spPr bwMode="gray">
          <a:xfrm>
            <a:off x="6335827" y="4083918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5" name="Rechteck 45">
            <a:extLst>
              <a:ext uri="{FF2B5EF4-FFF2-40B4-BE49-F238E27FC236}">
                <a16:creationId xmlns:a16="http://schemas.microsoft.com/office/drawing/2014/main" id="{0EC552D9-7999-48AA-B8BD-23C1DDDB1EDB}"/>
              </a:ext>
            </a:extLst>
          </p:cNvPr>
          <p:cNvSpPr/>
          <p:nvPr/>
        </p:nvSpPr>
        <p:spPr bwMode="gray">
          <a:xfrm>
            <a:off x="6335827" y="3778125"/>
            <a:ext cx="900000" cy="216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C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D821BD3-417E-DA48-42EE-A47459532BD4}"/>
              </a:ext>
            </a:extLst>
          </p:cNvPr>
          <p:cNvGrpSpPr/>
          <p:nvPr/>
        </p:nvGrpSpPr>
        <p:grpSpPr>
          <a:xfrm>
            <a:off x="1206037" y="2840936"/>
            <a:ext cx="576064" cy="450894"/>
            <a:chOff x="1206037" y="2840936"/>
            <a:chExt cx="576064" cy="45089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7498BE-43AA-4BA2-981D-4465A4811CBE}"/>
                </a:ext>
              </a:extLst>
            </p:cNvPr>
            <p:cNvSpPr/>
            <p:nvPr/>
          </p:nvSpPr>
          <p:spPr bwMode="gray">
            <a:xfrm>
              <a:off x="1206037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it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3332A60-EB30-93F4-189E-A02196716665}"/>
                </a:ext>
              </a:extLst>
            </p:cNvPr>
            <p:cNvSpPr/>
            <p:nvPr/>
          </p:nvSpPr>
          <p:spPr bwMode="gray">
            <a:xfrm>
              <a:off x="1206037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B7431F5-CF9A-4314-5934-9AC3B99D31CA}"/>
              </a:ext>
            </a:extLst>
          </p:cNvPr>
          <p:cNvGrpSpPr/>
          <p:nvPr/>
        </p:nvGrpSpPr>
        <p:grpSpPr>
          <a:xfrm>
            <a:off x="1830905" y="2840936"/>
            <a:ext cx="576064" cy="450894"/>
            <a:chOff x="1830905" y="2840936"/>
            <a:chExt cx="576064" cy="45089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909A19E-F8F6-5B3B-DECD-D39CF568EE74}"/>
                </a:ext>
              </a:extLst>
            </p:cNvPr>
            <p:cNvSpPr/>
            <p:nvPr/>
          </p:nvSpPr>
          <p:spPr bwMode="gray">
            <a:xfrm>
              <a:off x="1830905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was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3DE7D0D-1AD3-1736-19AA-13A990EDC65B}"/>
                </a:ext>
              </a:extLst>
            </p:cNvPr>
            <p:cNvSpPr/>
            <p:nvPr/>
          </p:nvSpPr>
          <p:spPr bwMode="gray">
            <a:xfrm>
              <a:off x="1830905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E283206-6555-291C-3BA0-621F82AF735E}"/>
              </a:ext>
            </a:extLst>
          </p:cNvPr>
          <p:cNvGrpSpPr/>
          <p:nvPr/>
        </p:nvGrpSpPr>
        <p:grpSpPr>
          <a:xfrm>
            <a:off x="2455773" y="2840936"/>
            <a:ext cx="576064" cy="450894"/>
            <a:chOff x="2455773" y="2840936"/>
            <a:chExt cx="576064" cy="45089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8D11362-464F-A3E8-1507-2187B63C5301}"/>
                </a:ext>
              </a:extLst>
            </p:cNvPr>
            <p:cNvSpPr/>
            <p:nvPr/>
          </p:nvSpPr>
          <p:spPr bwMode="gray">
            <a:xfrm>
              <a:off x="2455773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the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DB771EA-E007-81EC-0D8E-8A73822BDA34}"/>
                </a:ext>
              </a:extLst>
            </p:cNvPr>
            <p:cNvSpPr/>
            <p:nvPr/>
          </p:nvSpPr>
          <p:spPr bwMode="gray">
            <a:xfrm>
              <a:off x="2455773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88C840C-5652-F3C4-2646-8D231C560AFA}"/>
              </a:ext>
            </a:extLst>
          </p:cNvPr>
          <p:cNvGrpSpPr/>
          <p:nvPr/>
        </p:nvGrpSpPr>
        <p:grpSpPr>
          <a:xfrm>
            <a:off x="3080641" y="2840936"/>
            <a:ext cx="576064" cy="450894"/>
            <a:chOff x="3080641" y="2840936"/>
            <a:chExt cx="576064" cy="45089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6269E2-62E8-61AB-A3EC-89DDEA399544}"/>
                </a:ext>
              </a:extLst>
            </p:cNvPr>
            <p:cNvSpPr/>
            <p:nvPr/>
          </p:nvSpPr>
          <p:spPr bwMode="gray">
            <a:xfrm>
              <a:off x="3080641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best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E7004A-6ACD-CD3D-8A09-E1C5761DDD08}"/>
                </a:ext>
              </a:extLst>
            </p:cNvPr>
            <p:cNvSpPr/>
            <p:nvPr/>
          </p:nvSpPr>
          <p:spPr bwMode="gray">
            <a:xfrm>
              <a:off x="3080641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0AB82A8-9D80-AF75-BABA-623676717AD4}"/>
              </a:ext>
            </a:extLst>
          </p:cNvPr>
          <p:cNvGrpSpPr/>
          <p:nvPr/>
        </p:nvGrpSpPr>
        <p:grpSpPr>
          <a:xfrm>
            <a:off x="3705509" y="2840936"/>
            <a:ext cx="576064" cy="450894"/>
            <a:chOff x="3705509" y="2840936"/>
            <a:chExt cx="576064" cy="45089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07D17D3-74F0-E126-DC06-6F5701CBE5FB}"/>
                </a:ext>
              </a:extLst>
            </p:cNvPr>
            <p:cNvSpPr/>
            <p:nvPr/>
          </p:nvSpPr>
          <p:spPr bwMode="gray">
            <a:xfrm>
              <a:off x="3705509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of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C7850AC-54BF-BCA1-D021-4B472DFFC23F}"/>
                </a:ext>
              </a:extLst>
            </p:cNvPr>
            <p:cNvSpPr/>
            <p:nvPr/>
          </p:nvSpPr>
          <p:spPr bwMode="gray">
            <a:xfrm>
              <a:off x="3705509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FB78C2F-85FD-1340-9CA9-54DC9B4FF1FA}"/>
              </a:ext>
            </a:extLst>
          </p:cNvPr>
          <p:cNvGrpSpPr/>
          <p:nvPr/>
        </p:nvGrpSpPr>
        <p:grpSpPr>
          <a:xfrm>
            <a:off x="4330377" y="2840936"/>
            <a:ext cx="576064" cy="450894"/>
            <a:chOff x="4330377" y="2840936"/>
            <a:chExt cx="576064" cy="45089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C0EBB67-AEA4-4ACD-76F8-B364A44DC282}"/>
                </a:ext>
              </a:extLst>
            </p:cNvPr>
            <p:cNvSpPr/>
            <p:nvPr/>
          </p:nvSpPr>
          <p:spPr bwMode="gray">
            <a:xfrm>
              <a:off x="4330377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times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D0E8604-367C-2D8D-1473-D1729C65E69F}"/>
                </a:ext>
              </a:extLst>
            </p:cNvPr>
            <p:cNvSpPr/>
            <p:nvPr/>
          </p:nvSpPr>
          <p:spPr bwMode="gray">
            <a:xfrm>
              <a:off x="4330377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E6EB79D-9983-A77E-1343-330C38AD8C58}"/>
              </a:ext>
            </a:extLst>
          </p:cNvPr>
          <p:cNvGrpSpPr/>
          <p:nvPr/>
        </p:nvGrpSpPr>
        <p:grpSpPr>
          <a:xfrm>
            <a:off x="4955245" y="2840936"/>
            <a:ext cx="576064" cy="450894"/>
            <a:chOff x="4955245" y="2840936"/>
            <a:chExt cx="576064" cy="45089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363BBF-0710-75A3-3F9D-D51C61AB1CE9}"/>
                </a:ext>
              </a:extLst>
            </p:cNvPr>
            <p:cNvSpPr/>
            <p:nvPr/>
          </p:nvSpPr>
          <p:spPr bwMode="gray">
            <a:xfrm>
              <a:off x="4955245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09A5085-5E6E-E921-737D-9EB8FB6801A3}"/>
                </a:ext>
              </a:extLst>
            </p:cNvPr>
            <p:cNvSpPr/>
            <p:nvPr/>
          </p:nvSpPr>
          <p:spPr bwMode="gray">
            <a:xfrm>
              <a:off x="4955245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74ED83E-D989-1E47-53F9-A682A956EA61}"/>
              </a:ext>
            </a:extLst>
          </p:cNvPr>
          <p:cNvGrpSpPr/>
          <p:nvPr/>
        </p:nvGrpSpPr>
        <p:grpSpPr>
          <a:xfrm>
            <a:off x="5580112" y="2840936"/>
            <a:ext cx="576064" cy="450894"/>
            <a:chOff x="5580112" y="2840936"/>
            <a:chExt cx="576064" cy="45089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81E0F70-C1FE-BE74-0723-D2A9C7553746}"/>
                </a:ext>
              </a:extLst>
            </p:cNvPr>
            <p:cNvSpPr/>
            <p:nvPr/>
          </p:nvSpPr>
          <p:spPr bwMode="gray">
            <a:xfrm>
              <a:off x="5580112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DBFB17B-A829-79CF-509C-9731014477E3}"/>
                </a:ext>
              </a:extLst>
            </p:cNvPr>
            <p:cNvSpPr/>
            <p:nvPr/>
          </p:nvSpPr>
          <p:spPr bwMode="gray">
            <a:xfrm>
              <a:off x="5580112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9706CCE-FBB8-24A6-70E7-C8DAD9EC8F5A}"/>
              </a:ext>
            </a:extLst>
          </p:cNvPr>
          <p:cNvGrpSpPr/>
          <p:nvPr/>
        </p:nvGrpSpPr>
        <p:grpSpPr>
          <a:xfrm>
            <a:off x="1206037" y="4065694"/>
            <a:ext cx="576064" cy="450894"/>
            <a:chOff x="1206037" y="4065694"/>
            <a:chExt cx="576064" cy="45089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8D80912-8B9C-B33E-20C4-A8D0F30404EE}"/>
                </a:ext>
              </a:extLst>
            </p:cNvPr>
            <p:cNvSpPr/>
            <p:nvPr/>
          </p:nvSpPr>
          <p:spPr bwMode="gray">
            <a:xfrm>
              <a:off x="1206037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times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7094133-397E-DDE3-B7FF-B24F518F63FE}"/>
                </a:ext>
              </a:extLst>
            </p:cNvPr>
            <p:cNvSpPr/>
            <p:nvPr/>
          </p:nvSpPr>
          <p:spPr bwMode="gray">
            <a:xfrm>
              <a:off x="1206037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78EF994-CEE9-85B6-7C81-3D886526A08E}"/>
              </a:ext>
            </a:extLst>
          </p:cNvPr>
          <p:cNvGrpSpPr/>
          <p:nvPr/>
        </p:nvGrpSpPr>
        <p:grpSpPr>
          <a:xfrm>
            <a:off x="1830905" y="4065694"/>
            <a:ext cx="576064" cy="450894"/>
            <a:chOff x="1830905" y="4065694"/>
            <a:chExt cx="576064" cy="450894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707849A-FF76-4833-7085-DE324A07F31E}"/>
                </a:ext>
              </a:extLst>
            </p:cNvPr>
            <p:cNvSpPr/>
            <p:nvPr/>
          </p:nvSpPr>
          <p:spPr bwMode="gray">
            <a:xfrm>
              <a:off x="1830905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of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39A58DE-32E9-2999-A76C-F60D21FBEC49}"/>
                </a:ext>
              </a:extLst>
            </p:cNvPr>
            <p:cNvSpPr/>
            <p:nvPr/>
          </p:nvSpPr>
          <p:spPr bwMode="gray">
            <a:xfrm>
              <a:off x="1830905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291A3F5-3720-B874-4245-757879E8457C}"/>
              </a:ext>
            </a:extLst>
          </p:cNvPr>
          <p:cNvGrpSpPr/>
          <p:nvPr/>
        </p:nvGrpSpPr>
        <p:grpSpPr>
          <a:xfrm>
            <a:off x="2455773" y="4065694"/>
            <a:ext cx="576064" cy="450894"/>
            <a:chOff x="2455773" y="4065694"/>
            <a:chExt cx="576064" cy="450894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65A8FEA-F328-76D3-D3F5-BA6B9EB3A080}"/>
                </a:ext>
              </a:extLst>
            </p:cNvPr>
            <p:cNvSpPr/>
            <p:nvPr/>
          </p:nvSpPr>
          <p:spPr bwMode="gray">
            <a:xfrm>
              <a:off x="2455773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best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A5E6CA0-1118-4B09-3EDD-376B823E56FA}"/>
                </a:ext>
              </a:extLst>
            </p:cNvPr>
            <p:cNvSpPr/>
            <p:nvPr/>
          </p:nvSpPr>
          <p:spPr bwMode="gray">
            <a:xfrm>
              <a:off x="2455773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300F459-48C6-40A2-1DD5-C77F83466960}"/>
              </a:ext>
            </a:extLst>
          </p:cNvPr>
          <p:cNvGrpSpPr/>
          <p:nvPr/>
        </p:nvGrpSpPr>
        <p:grpSpPr>
          <a:xfrm>
            <a:off x="3080641" y="4065694"/>
            <a:ext cx="576064" cy="450894"/>
            <a:chOff x="3080641" y="4065694"/>
            <a:chExt cx="576064" cy="45089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7354EDA-1141-D4C4-E312-9075791E2BB2}"/>
                </a:ext>
              </a:extLst>
            </p:cNvPr>
            <p:cNvSpPr/>
            <p:nvPr/>
          </p:nvSpPr>
          <p:spPr bwMode="gray">
            <a:xfrm>
              <a:off x="3080641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the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D55AA58-0D4A-525B-B48B-2147B8BD64F1}"/>
                </a:ext>
              </a:extLst>
            </p:cNvPr>
            <p:cNvSpPr/>
            <p:nvPr/>
          </p:nvSpPr>
          <p:spPr bwMode="gray">
            <a:xfrm>
              <a:off x="3080641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8110FFC-FD92-BF15-8597-AC3EBF582863}"/>
              </a:ext>
            </a:extLst>
          </p:cNvPr>
          <p:cNvGrpSpPr/>
          <p:nvPr/>
        </p:nvGrpSpPr>
        <p:grpSpPr>
          <a:xfrm>
            <a:off x="3705509" y="4065694"/>
            <a:ext cx="576064" cy="450894"/>
            <a:chOff x="3705509" y="4065694"/>
            <a:chExt cx="576064" cy="45089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837C31-4A55-A3AD-328C-7374EE91F626}"/>
                </a:ext>
              </a:extLst>
            </p:cNvPr>
            <p:cNvSpPr/>
            <p:nvPr/>
          </p:nvSpPr>
          <p:spPr bwMode="gray">
            <a:xfrm>
              <a:off x="3705509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was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0075E57-9BD1-94ED-1DB3-C8A7325CDDB6}"/>
                </a:ext>
              </a:extLst>
            </p:cNvPr>
            <p:cNvSpPr/>
            <p:nvPr/>
          </p:nvSpPr>
          <p:spPr bwMode="gray">
            <a:xfrm>
              <a:off x="3705509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E627173-B430-41BD-72DB-174D33067260}"/>
              </a:ext>
            </a:extLst>
          </p:cNvPr>
          <p:cNvGrpSpPr/>
          <p:nvPr/>
        </p:nvGrpSpPr>
        <p:grpSpPr>
          <a:xfrm>
            <a:off x="4330377" y="4065694"/>
            <a:ext cx="576064" cy="450894"/>
            <a:chOff x="4330377" y="4065694"/>
            <a:chExt cx="576064" cy="450894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3B6BAF5-6BA8-2D6D-90B4-0247B02951EE}"/>
                </a:ext>
              </a:extLst>
            </p:cNvPr>
            <p:cNvSpPr/>
            <p:nvPr/>
          </p:nvSpPr>
          <p:spPr bwMode="gray">
            <a:xfrm>
              <a:off x="4330377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it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3A21E7A-610E-17E0-2C66-15630FA2D2F2}"/>
                </a:ext>
              </a:extLst>
            </p:cNvPr>
            <p:cNvSpPr/>
            <p:nvPr/>
          </p:nvSpPr>
          <p:spPr bwMode="gray">
            <a:xfrm>
              <a:off x="4330377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C087823-3AC1-0459-5314-67DB0DD6C069}"/>
              </a:ext>
            </a:extLst>
          </p:cNvPr>
          <p:cNvGrpSpPr/>
          <p:nvPr/>
        </p:nvGrpSpPr>
        <p:grpSpPr>
          <a:xfrm>
            <a:off x="4955245" y="4065694"/>
            <a:ext cx="576064" cy="450894"/>
            <a:chOff x="4955245" y="4065694"/>
            <a:chExt cx="576064" cy="45089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4427029-1B21-BFE2-1D12-02F1987CA3B7}"/>
                </a:ext>
              </a:extLst>
            </p:cNvPr>
            <p:cNvSpPr/>
            <p:nvPr/>
          </p:nvSpPr>
          <p:spPr bwMode="gray">
            <a:xfrm>
              <a:off x="4955245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AD9B58C-2584-6DA1-31C6-4CA774FCB391}"/>
                </a:ext>
              </a:extLst>
            </p:cNvPr>
            <p:cNvSpPr/>
            <p:nvPr/>
          </p:nvSpPr>
          <p:spPr bwMode="gray">
            <a:xfrm>
              <a:off x="4955245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BD0B261-4962-C96D-5BA2-79C72FD9FB11}"/>
              </a:ext>
            </a:extLst>
          </p:cNvPr>
          <p:cNvGrpSpPr/>
          <p:nvPr/>
        </p:nvGrpSpPr>
        <p:grpSpPr>
          <a:xfrm>
            <a:off x="5580112" y="4065694"/>
            <a:ext cx="576064" cy="450894"/>
            <a:chOff x="5580112" y="4065694"/>
            <a:chExt cx="576064" cy="45089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7E5DDED-AFF8-B34C-14F8-347084CD90A0}"/>
                </a:ext>
              </a:extLst>
            </p:cNvPr>
            <p:cNvSpPr/>
            <p:nvPr/>
          </p:nvSpPr>
          <p:spPr bwMode="gray">
            <a:xfrm>
              <a:off x="5580112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1B58551-269F-9191-DFF6-45827AD3E44A}"/>
                </a:ext>
              </a:extLst>
            </p:cNvPr>
            <p:cNvSpPr/>
            <p:nvPr/>
          </p:nvSpPr>
          <p:spPr bwMode="gray">
            <a:xfrm>
              <a:off x="5580112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6C25B9B-720E-64B6-C989-2CDEA4F7FCB7}"/>
              </a:ext>
            </a:extLst>
          </p:cNvPr>
          <p:cNvCxnSpPr>
            <a:cxnSpLocks/>
            <a:endCxn id="21" idx="0"/>
          </p:cNvCxnSpPr>
          <p:nvPr/>
        </p:nvCxnSpPr>
        <p:spPr bwMode="gray">
          <a:xfrm>
            <a:off x="4618409" y="2373950"/>
            <a:ext cx="0" cy="4669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5DE0D68-3A2C-A918-910F-529509AC9B58}"/>
              </a:ext>
            </a:extLst>
          </p:cNvPr>
          <p:cNvSpPr txBox="1"/>
          <p:nvPr/>
        </p:nvSpPr>
        <p:spPr bwMode="gray">
          <a:xfrm>
            <a:off x="4107997" y="2139702"/>
            <a:ext cx="1020824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dirty="0"/>
              <a:t>Spitze des Stacks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1804A5-F54F-D0F6-407A-B2F20149B597}"/>
              </a:ext>
            </a:extLst>
          </p:cNvPr>
          <p:cNvCxnSpPr>
            <a:cxnSpLocks/>
          </p:cNvCxnSpPr>
          <p:nvPr/>
        </p:nvCxnSpPr>
        <p:spPr bwMode="gray">
          <a:xfrm>
            <a:off x="1515366" y="3579862"/>
            <a:ext cx="0" cy="4669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936A0E2-788E-22D7-CD87-BFC9088995DF}"/>
              </a:ext>
            </a:extLst>
          </p:cNvPr>
          <p:cNvSpPr txBox="1"/>
          <p:nvPr/>
        </p:nvSpPr>
        <p:spPr bwMode="gray">
          <a:xfrm>
            <a:off x="1004954" y="3345614"/>
            <a:ext cx="1020824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dirty="0"/>
              <a:t>Spitze des Stacks</a:t>
            </a:r>
          </a:p>
        </p:txBody>
      </p:sp>
    </p:spTree>
    <p:extLst>
      <p:ext uri="{BB962C8B-B14F-4D97-AF65-F5344CB8AC3E}">
        <p14:creationId xmlns:p14="http://schemas.microsoft.com/office/powerpoint/2010/main" val="25009578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1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1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00"/>
                            </p:stCondLst>
                            <p:childTnLst>
                              <p:par>
                                <p:cTn id="7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1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1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1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200"/>
                            </p:stCondLst>
                            <p:childTnLst>
                              <p:par>
                                <p:cTn id="8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1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3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4" grpId="0" animBg="1"/>
      <p:bldP spid="15" grpId="0" animBg="1"/>
      <p:bldP spid="53" grpId="1"/>
      <p:bldP spid="5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46FA1FB-45E0-6FE6-90C5-55E6FA18C50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Feste Größe</a:t>
                </a:r>
                <a:r>
                  <a:rPr lang="de-DE" dirty="0"/>
                  <a:t>: Benutze ein Feld </a:t>
                </a:r>
                <a:r>
                  <a:rPr lang="de-DE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de-DE" dirty="0"/>
                  <a:t> um die Elemente im Stack zu speichern.</a:t>
                </a:r>
              </a:p>
              <a:p>
                <a:endParaRPr lang="de-DE" b="1" dirty="0"/>
              </a:p>
              <a:p>
                <a:endParaRPr lang="de-DE" b="1" dirty="0"/>
              </a:p>
              <a:p>
                <a:endParaRPr lang="de-DE" b="1" dirty="0"/>
              </a:p>
              <a:p>
                <a:endParaRPr lang="de-DE" b="1" dirty="0"/>
              </a:p>
              <a:p>
                <a:endParaRPr lang="de-DE" b="1" dirty="0"/>
              </a:p>
              <a:p>
                <a:r>
                  <a:rPr lang="de-DE" b="1" dirty="0"/>
                  <a:t>Variable Größe</a:t>
                </a:r>
                <a:r>
                  <a:rPr lang="de-DE" dirty="0"/>
                  <a:t>: Wie soll das Feld wachsen und schrumpfen?</a:t>
                </a:r>
              </a:p>
              <a:p>
                <a:pPr lvl="1"/>
                <a:r>
                  <a:rPr lang="de-DE" b="1" dirty="0"/>
                  <a:t>1. Versuch</a:t>
                </a:r>
                <a:r>
                  <a:rPr lang="de-DE" dirty="0"/>
                  <a:t>: Nach jedem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push</a:t>
                </a:r>
                <a:r>
                  <a:rPr lang="de-DE" dirty="0"/>
                  <a:t> </a:t>
                </a:r>
                <a:r>
                  <a:rPr lang="de-DE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</a:t>
                </a:r>
                <a:r>
                  <a:rPr lang="de-DE" dirty="0"/>
                  <a:t> um eins erhöhen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m:rPr>
                          <m:sty m:val="p"/>
                        </m:rPr>
                        <a:rPr lang="de-DE" i="0" dirty="0" smtClean="0">
                          <a:latin typeface="Cambria Math" panose="02040503050406030204" pitchFamily="18" charset="0"/>
                        </a:rPr>
                        <m:t>ops</m:t>
                      </m:r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2⋅1+2⋅2+2⋅3+⋯2⋅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DE" dirty="0"/>
              </a:p>
              <a:p>
                <a:pPr lvl="1"/>
                <a:r>
                  <a:rPr lang="de-DE" b="1" dirty="0"/>
                  <a:t>2. Versuch</a:t>
                </a:r>
                <a:r>
                  <a:rPr lang="de-DE" dirty="0"/>
                  <a:t>: </a:t>
                </a:r>
                <a:r>
                  <a:rPr lang="de-DE" b="1" dirty="0"/>
                  <a:t> </a:t>
                </a:r>
                <a:r>
                  <a:rPr lang="de-DE" dirty="0"/>
                  <a:t>Wenn das Feld voll ist, verdoppele die Größe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>
                          <a:latin typeface="Cambria Math" panose="02040503050406030204" pitchFamily="18" charset="0"/>
                        </a:rPr>
                        <m:t>#</m:t>
                      </m:r>
                      <m:r>
                        <m:rPr>
                          <m:sty m:val="p"/>
                        </m:rPr>
                        <a:rPr lang="de-DE" dirty="0">
                          <a:latin typeface="Cambria Math" panose="02040503050406030204" pitchFamily="18" charset="0"/>
                        </a:rPr>
                        <m:t>ops</m:t>
                      </m:r>
                      <m:r>
                        <a:rPr lang="de-DE" i="1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2+4+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+⋯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de-DE" dirty="0"/>
              </a:p>
              <a:p>
                <a:pPr lvl="1"/>
                <a:endParaRPr lang="de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46FA1FB-45E0-6FE6-90C5-55E6FA18C5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362F885-634A-11F7-F73B-B1FB55EE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 eines Stacks mit Feldern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65B07-7D6D-3995-8CB2-52856FD71817}"/>
              </a:ext>
            </a:extLst>
          </p:cNvPr>
          <p:cNvSpPr txBox="1"/>
          <p:nvPr/>
        </p:nvSpPr>
        <p:spPr bwMode="gray">
          <a:xfrm>
            <a:off x="611560" y="2264872"/>
            <a:ext cx="473190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DE" sz="1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87B6323-EFEE-EF74-1D91-7EBE5978BAC4}"/>
              </a:ext>
            </a:extLst>
          </p:cNvPr>
          <p:cNvGrpSpPr/>
          <p:nvPr/>
        </p:nvGrpSpPr>
        <p:grpSpPr>
          <a:xfrm>
            <a:off x="1036104" y="2264872"/>
            <a:ext cx="576064" cy="450894"/>
            <a:chOff x="1206037" y="2840936"/>
            <a:chExt cx="576064" cy="45089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9556680-74F3-50CC-2B02-024D9768B68F}"/>
                </a:ext>
              </a:extLst>
            </p:cNvPr>
            <p:cNvSpPr/>
            <p:nvPr/>
          </p:nvSpPr>
          <p:spPr bwMode="gray">
            <a:xfrm>
              <a:off x="1206037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it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EF37610-2728-2DE4-45F9-11BE86F4B6B5}"/>
                </a:ext>
              </a:extLst>
            </p:cNvPr>
            <p:cNvSpPr/>
            <p:nvPr/>
          </p:nvSpPr>
          <p:spPr bwMode="gray">
            <a:xfrm>
              <a:off x="1206037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83D5DB8-E35F-33CF-D1C7-4FB76ECDD882}"/>
              </a:ext>
            </a:extLst>
          </p:cNvPr>
          <p:cNvGrpSpPr/>
          <p:nvPr/>
        </p:nvGrpSpPr>
        <p:grpSpPr>
          <a:xfrm>
            <a:off x="1660972" y="2264872"/>
            <a:ext cx="576064" cy="450894"/>
            <a:chOff x="1830905" y="2840936"/>
            <a:chExt cx="576064" cy="45089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7647C37-230D-679C-EBB7-3138E99B710B}"/>
                </a:ext>
              </a:extLst>
            </p:cNvPr>
            <p:cNvSpPr/>
            <p:nvPr/>
          </p:nvSpPr>
          <p:spPr bwMode="gray">
            <a:xfrm>
              <a:off x="1830905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was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7E47B48-616D-52E7-B272-486CD7A9C621}"/>
                </a:ext>
              </a:extLst>
            </p:cNvPr>
            <p:cNvSpPr/>
            <p:nvPr/>
          </p:nvSpPr>
          <p:spPr bwMode="gray">
            <a:xfrm>
              <a:off x="1830905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4F7957F-D677-3764-D480-78C605D8F0AC}"/>
              </a:ext>
            </a:extLst>
          </p:cNvPr>
          <p:cNvGrpSpPr/>
          <p:nvPr/>
        </p:nvGrpSpPr>
        <p:grpSpPr>
          <a:xfrm>
            <a:off x="2285840" y="2264872"/>
            <a:ext cx="576064" cy="450894"/>
            <a:chOff x="2455773" y="2840936"/>
            <a:chExt cx="576064" cy="45089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B32FE6E-4995-80B4-D5C1-2FD1EF35DE8F}"/>
                </a:ext>
              </a:extLst>
            </p:cNvPr>
            <p:cNvSpPr/>
            <p:nvPr/>
          </p:nvSpPr>
          <p:spPr bwMode="gray">
            <a:xfrm>
              <a:off x="2455773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the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8BB178A-D21F-DC85-1541-B8AAD22C3CFC}"/>
                </a:ext>
              </a:extLst>
            </p:cNvPr>
            <p:cNvSpPr/>
            <p:nvPr/>
          </p:nvSpPr>
          <p:spPr bwMode="gray">
            <a:xfrm>
              <a:off x="2455773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A6A9C7-7380-FE3A-1F5A-2A5364E5097D}"/>
              </a:ext>
            </a:extLst>
          </p:cNvPr>
          <p:cNvGrpSpPr/>
          <p:nvPr/>
        </p:nvGrpSpPr>
        <p:grpSpPr>
          <a:xfrm>
            <a:off x="2910708" y="2264872"/>
            <a:ext cx="576064" cy="450894"/>
            <a:chOff x="3080641" y="2840936"/>
            <a:chExt cx="576064" cy="45089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FC4B33C-77E2-762F-236D-640E41ECBA72}"/>
                </a:ext>
              </a:extLst>
            </p:cNvPr>
            <p:cNvSpPr/>
            <p:nvPr/>
          </p:nvSpPr>
          <p:spPr bwMode="gray">
            <a:xfrm>
              <a:off x="3080641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best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8228A38-3400-6658-31A9-6D979DCA5DB6}"/>
                </a:ext>
              </a:extLst>
            </p:cNvPr>
            <p:cNvSpPr/>
            <p:nvPr/>
          </p:nvSpPr>
          <p:spPr bwMode="gray">
            <a:xfrm>
              <a:off x="3080641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1E3E84-089E-0B7A-E982-62554B52C354}"/>
              </a:ext>
            </a:extLst>
          </p:cNvPr>
          <p:cNvGrpSpPr/>
          <p:nvPr/>
        </p:nvGrpSpPr>
        <p:grpSpPr>
          <a:xfrm>
            <a:off x="3535576" y="2264872"/>
            <a:ext cx="576064" cy="450894"/>
            <a:chOff x="3705509" y="2840936"/>
            <a:chExt cx="576064" cy="45089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D7034BA-73BF-23C1-5514-F08BAAAFD285}"/>
                </a:ext>
              </a:extLst>
            </p:cNvPr>
            <p:cNvSpPr/>
            <p:nvPr/>
          </p:nvSpPr>
          <p:spPr bwMode="gray">
            <a:xfrm>
              <a:off x="3705509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of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C52511F-EDC7-6F52-91B9-CCCEDA6B4795}"/>
                </a:ext>
              </a:extLst>
            </p:cNvPr>
            <p:cNvSpPr/>
            <p:nvPr/>
          </p:nvSpPr>
          <p:spPr bwMode="gray">
            <a:xfrm>
              <a:off x="3705509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C49E96C-73AF-BA6C-28D6-887BD598FF9D}"/>
              </a:ext>
            </a:extLst>
          </p:cNvPr>
          <p:cNvGrpSpPr/>
          <p:nvPr/>
        </p:nvGrpSpPr>
        <p:grpSpPr>
          <a:xfrm>
            <a:off x="4160444" y="2264872"/>
            <a:ext cx="576064" cy="450894"/>
            <a:chOff x="4330377" y="2840936"/>
            <a:chExt cx="576064" cy="45089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8076D53-5F46-0B36-CFE3-B42992545353}"/>
                </a:ext>
              </a:extLst>
            </p:cNvPr>
            <p:cNvSpPr/>
            <p:nvPr/>
          </p:nvSpPr>
          <p:spPr bwMode="gray">
            <a:xfrm>
              <a:off x="4330377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times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76B4243-BAC9-B755-ACA0-A9B8288256F0}"/>
                </a:ext>
              </a:extLst>
            </p:cNvPr>
            <p:cNvSpPr/>
            <p:nvPr/>
          </p:nvSpPr>
          <p:spPr bwMode="gray">
            <a:xfrm>
              <a:off x="4330377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83D0440-E5B5-509C-A18C-033BAAA4C3C1}"/>
              </a:ext>
            </a:extLst>
          </p:cNvPr>
          <p:cNvGrpSpPr/>
          <p:nvPr/>
        </p:nvGrpSpPr>
        <p:grpSpPr>
          <a:xfrm>
            <a:off x="4785312" y="2264872"/>
            <a:ext cx="576064" cy="450894"/>
            <a:chOff x="4955245" y="2840936"/>
            <a:chExt cx="576064" cy="450894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D00B266-19DD-66F8-5C1D-97686504E5E3}"/>
                </a:ext>
              </a:extLst>
            </p:cNvPr>
            <p:cNvSpPr/>
            <p:nvPr/>
          </p:nvSpPr>
          <p:spPr bwMode="gray">
            <a:xfrm>
              <a:off x="4955245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34AF406-9507-98FA-B3AF-19916088B3EE}"/>
                </a:ext>
              </a:extLst>
            </p:cNvPr>
            <p:cNvSpPr/>
            <p:nvPr/>
          </p:nvSpPr>
          <p:spPr bwMode="gray">
            <a:xfrm>
              <a:off x="4955245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DC4BCD1-BEB2-B049-49B7-873C663C8433}"/>
              </a:ext>
            </a:extLst>
          </p:cNvPr>
          <p:cNvGrpSpPr/>
          <p:nvPr/>
        </p:nvGrpSpPr>
        <p:grpSpPr>
          <a:xfrm>
            <a:off x="5410179" y="2264872"/>
            <a:ext cx="576064" cy="450894"/>
            <a:chOff x="5580112" y="2840936"/>
            <a:chExt cx="576064" cy="45089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C9AE814-4B84-2348-67D0-2D1661FAB45C}"/>
                </a:ext>
              </a:extLst>
            </p:cNvPr>
            <p:cNvSpPr/>
            <p:nvPr/>
          </p:nvSpPr>
          <p:spPr bwMode="gray">
            <a:xfrm>
              <a:off x="5580112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0F4696A-A431-4497-C518-C23C71E144B7}"/>
                </a:ext>
              </a:extLst>
            </p:cNvPr>
            <p:cNvSpPr/>
            <p:nvPr/>
          </p:nvSpPr>
          <p:spPr bwMode="gray">
            <a:xfrm>
              <a:off x="5580112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29332A5-CEF1-967F-99C9-BF2C709435A7}"/>
              </a:ext>
            </a:extLst>
          </p:cNvPr>
          <p:cNvCxnSpPr>
            <a:cxnSpLocks/>
            <a:endCxn id="47" idx="0"/>
          </p:cNvCxnSpPr>
          <p:nvPr/>
        </p:nvCxnSpPr>
        <p:spPr bwMode="gray">
          <a:xfrm>
            <a:off x="4448476" y="1797886"/>
            <a:ext cx="0" cy="4669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DFB1B6A-EE75-216C-52EE-1F008C0F7BAD}"/>
              </a:ext>
            </a:extLst>
          </p:cNvPr>
          <p:cNvSpPr txBox="1"/>
          <p:nvPr/>
        </p:nvSpPr>
        <p:spPr bwMode="gray">
          <a:xfrm>
            <a:off x="3938064" y="1563638"/>
            <a:ext cx="1020824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dirty="0"/>
              <a:t>Spitze des Stacks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61D6F5-83D2-B949-4EC3-A465952B39E9}"/>
              </a:ext>
            </a:extLst>
          </p:cNvPr>
          <p:cNvSpPr txBox="1"/>
          <p:nvPr/>
        </p:nvSpPr>
        <p:spPr bwMode="gray">
          <a:xfrm>
            <a:off x="4887625" y="2715766"/>
            <a:ext cx="473190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en-DE" sz="10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7C77D877-25B9-5E48-BBED-53CEE05B5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81" y="1851670"/>
            <a:ext cx="2365471" cy="24935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15DE2443-47D1-7E21-D01D-5FBC8D445F04}"/>
              </a:ext>
            </a:extLst>
          </p:cNvPr>
          <p:cNvSpPr txBox="1"/>
          <p:nvPr/>
        </p:nvSpPr>
        <p:spPr bwMode="gray">
          <a:xfrm>
            <a:off x="1903349" y="4563091"/>
            <a:ext cx="4219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hlinkClick r:id="rId4"/>
              </a:rPr>
              <a:t>stack.h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0047089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6" grpId="0"/>
      <p:bldP spid="57" grpId="0"/>
      <p:bldP spid="6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Abstrakte Datentypen</a:t>
            </a:r>
          </a:p>
          <a:p>
            <a:pPr marL="342900" indent="-342900"/>
            <a:r>
              <a:rPr lang="de-DE" altLang="en-DE" dirty="0"/>
              <a:t>Stapel (</a:t>
            </a:r>
            <a:r>
              <a:rPr lang="en-US" altLang="en-DE" i="1" dirty="0"/>
              <a:t>stacks</a:t>
            </a:r>
            <a:r>
              <a:rPr lang="de-DE" altLang="en-DE" dirty="0"/>
              <a:t>)</a:t>
            </a:r>
          </a:p>
          <a:p>
            <a:pPr marL="614125" lvl="1" indent="-342900"/>
            <a:r>
              <a:rPr lang="de-DE" altLang="en-DE" b="1" dirty="0"/>
              <a:t>Auswertung Arithmetischer Ausdrücke</a:t>
            </a:r>
          </a:p>
          <a:p>
            <a:pPr marL="342900" indent="-342900"/>
            <a:r>
              <a:rPr lang="de-DE" altLang="en-DE" dirty="0"/>
              <a:t>Warteschlangen (</a:t>
            </a:r>
            <a:r>
              <a:rPr lang="en-US" altLang="en-DE" i="1" dirty="0"/>
              <a:t>queue</a:t>
            </a:r>
            <a:r>
              <a:rPr lang="de-DE" altLang="en-DE" dirty="0"/>
              <a:t>)</a:t>
            </a:r>
          </a:p>
          <a:p>
            <a:pPr marL="342900" indent="-342900"/>
            <a:r>
              <a:rPr lang="de-DE" altLang="en-DE" dirty="0"/>
              <a:t>Listen (</a:t>
            </a:r>
            <a:r>
              <a:rPr lang="en-US" altLang="en-DE" i="1" dirty="0"/>
              <a:t>lists</a:t>
            </a:r>
            <a:r>
              <a:rPr lang="de-DE" altLang="en-DE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61687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F50021-01D9-05D7-149F-CC3EE1B1A7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de-DE" b="1" dirty="0"/>
              <a:t>Arithmetischer Ausdruck</a:t>
            </a:r>
            <a:r>
              <a:rPr lang="de-DE" altLang="de-DE" dirty="0"/>
              <a:t>: Sprache definiert durch folgende EBNF</a:t>
            </a:r>
          </a:p>
          <a:p>
            <a:pPr marL="268287" lvl="1" indent="0" algn="ctr">
              <a:buNone/>
            </a:pPr>
            <a:endParaRPr lang="de-DE" altLang="de-DE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8287" lvl="1" indent="0" algn="ctr">
              <a:buNone/>
            </a:pP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::=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DE" altLang="de-DE" sz="1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268287" lvl="1" indent="0" algn="ctr">
              <a:buNone/>
            </a:pP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alt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endParaRPr lang="de-DE" altLang="de-DE" b="1" dirty="0"/>
          </a:p>
          <a:p>
            <a:pPr lvl="1"/>
            <a:r>
              <a:rPr lang="de-DE" altLang="de-DE" b="1" dirty="0"/>
              <a:t>Beispiele</a:t>
            </a:r>
            <a:r>
              <a:rPr lang="de-DE" altLang="de-DE" dirty="0"/>
              <a:t>: </a:t>
            </a:r>
            <a:r>
              <a:rPr lang="de-DE" alt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( 1 + 1 ) </a:t>
            </a:r>
            <a:r>
              <a:rPr lang="de-DE" altLang="de-DE" dirty="0"/>
              <a:t>oder </a:t>
            </a:r>
            <a:r>
              <a:rPr lang="de-DE" alt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( 1 + ( ( 2 + 3 ) * ( 4 * 5 ) )</a:t>
            </a:r>
            <a:r>
              <a:rPr lang="de-DE" altLang="de-DE" b="1" dirty="0"/>
              <a:t> </a:t>
            </a:r>
          </a:p>
          <a:p>
            <a:endParaRPr lang="de-DE" altLang="de-DE" b="1" dirty="0"/>
          </a:p>
          <a:p>
            <a:r>
              <a:rPr lang="de-DE" altLang="de-DE" b="1" dirty="0"/>
              <a:t>Auswertung</a:t>
            </a:r>
            <a:r>
              <a:rPr lang="de-DE" altLang="de-DE" dirty="0"/>
              <a:t>: Wert des Ausdrucks nach Anwendung von Arithmetik</a:t>
            </a:r>
          </a:p>
          <a:p>
            <a:pPr lvl="1"/>
            <a:r>
              <a:rPr lang="de-DE" altLang="de-DE" b="1" dirty="0"/>
              <a:t>Beispiel</a:t>
            </a:r>
            <a:r>
              <a:rPr lang="de-DE" altLang="de-DE" dirty="0"/>
              <a:t>: </a:t>
            </a:r>
            <a:r>
              <a:rPr lang="de-DE" alt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</a:t>
            </a:r>
            <a:r>
              <a:rPr lang="de-DE" alt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(“( ( 1 + ( 2 </a:t>
            </a:r>
            <a:r>
              <a:rPr lang="en-US" altLang="de-DE" b="1" dirty="0">
                <a:latin typeface="Courier New" panose="02070309020205020404" pitchFamily="49" charset="0"/>
                <a:cs typeface="Courier New" panose="02070309020205020404" pitchFamily="49" charset="0"/>
                <a:sym typeface="Symbol" pitchFamily="18" charset="2"/>
              </a:rPr>
              <a:t>*</a:t>
            </a:r>
            <a:r>
              <a:rPr lang="de-DE" alt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3 ) ) </a:t>
            </a:r>
            <a:r>
              <a:rPr lang="de-DE" altLang="de-DE" b="1" dirty="0">
                <a:latin typeface="Courier New" panose="02070309020205020404" pitchFamily="49" charset="0"/>
                <a:cs typeface="Courier New" panose="02070309020205020404" pitchFamily="49" charset="0"/>
                <a:sym typeface="Symbol" pitchFamily="18" charset="2"/>
              </a:rPr>
              <a:t>* </a:t>
            </a:r>
            <a:r>
              <a:rPr lang="de-DE" alt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( 2 + 1 ) )“) </a:t>
            </a:r>
          </a:p>
          <a:p>
            <a:pPr lvl="2"/>
            <a:r>
              <a:rPr lang="de-DE" altLang="de-DE" dirty="0"/>
              <a:t>Hat den Rückgabewert 21</a:t>
            </a:r>
          </a:p>
          <a:p>
            <a:pPr lvl="2"/>
            <a:endParaRPr lang="de-DE" altLang="de-DE" dirty="0"/>
          </a:p>
          <a:p>
            <a:r>
              <a:rPr lang="de-DE" altLang="de-DE" b="1" dirty="0"/>
              <a:t>Dijkstras Algorithmus</a:t>
            </a:r>
            <a:r>
              <a:rPr lang="de-DE" altLang="de-DE" dirty="0"/>
              <a:t>: Auswertung solcher Ausdrücke durch Nutzung zweier Stacks (einen für Operatoren und einen für Teilergebnisse)</a:t>
            </a:r>
          </a:p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4ED154-F14B-9395-4645-990A9B88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Auswertung Arithmetischer Ausdrücke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B96F76-FF46-011E-C619-DE75288A1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619" y="1239837"/>
            <a:ext cx="1208733" cy="1611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D46E8D-1719-7DD1-B747-979D6BB54805}"/>
              </a:ext>
            </a:extLst>
          </p:cNvPr>
          <p:cNvSpPr txBox="1"/>
          <p:nvPr/>
        </p:nvSpPr>
        <p:spPr bwMode="gray">
          <a:xfrm>
            <a:off x="7681936" y="2881268"/>
            <a:ext cx="1055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Edsger</a:t>
            </a: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Dijkstra</a:t>
            </a:r>
            <a:endParaRPr lang="en-US" sz="800" b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/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(1930 – </a:t>
            </a:r>
            <a:r>
              <a:rPr lang="de-DE" sz="800" b="1" dirty="0">
                <a:solidFill>
                  <a:srgbClr val="202122"/>
                </a:solidFill>
                <a:latin typeface="Arial" panose="020B0604020202020204" pitchFamily="34" charset="0"/>
              </a:rPr>
              <a:t>2002</a:t>
            </a:r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1355812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8029E36-63C9-5B92-44C8-6D4CB36C39B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Eingabe</a:t>
                </a:r>
                <a:r>
                  <a:rPr lang="en-DE" dirty="0"/>
                  <a:t>: Liste von Zeichen des artihmetischen Ausdrucks (</a:t>
                </a:r>
                <a:r>
                  <a:rPr lang="en-DE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expr_list</a:t>
                </a:r>
                <a:r>
                  <a:rPr lang="en-DE" dirty="0"/>
                  <a:t>)</a:t>
                </a:r>
              </a:p>
              <a:p>
                <a:r>
                  <a:rPr lang="en-DE" b="1" dirty="0"/>
                  <a:t>Ausgabe</a:t>
                </a:r>
                <a:r>
                  <a:rPr lang="en-DE" dirty="0"/>
                  <a:t>: Werte des artihmetischen Ausdrucks</a:t>
                </a:r>
              </a:p>
              <a:p>
                <a:r>
                  <a:rPr lang="en-DE" b="1" dirty="0"/>
                  <a:t>Algorithmus</a:t>
                </a:r>
                <a:r>
                  <a:rPr lang="en-DE" dirty="0"/>
                  <a:t>:</a:t>
                </a:r>
              </a:p>
              <a:p>
                <a:pPr marL="268287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dirty="0">
                            <a:latin typeface="Cambria Math" panose="02040503050406030204" pitchFamily="18" charset="0"/>
                          </a:rPr>
                          <m:t>ops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latin typeface="Cambria Math" panose="02040503050406030204" pitchFamily="18" charset="0"/>
                      </a:rPr>
                      <m:t>empty</m:t>
                    </m:r>
                  </m:oMath>
                </a14:m>
                <a:r>
                  <a:rPr lang="en-DE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1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vals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latin typeface="Cambria Math" panose="02040503050406030204" pitchFamily="18" charset="0"/>
                      </a:rPr>
                      <m:t>empty</m:t>
                    </m:r>
                  </m:oMath>
                </a14:m>
                <a:endParaRPr lang="en-DE" sz="1200" dirty="0"/>
              </a:p>
              <a:p>
                <a:pPr marL="268287" lvl="1" indent="0">
                  <a:buNone/>
                </a:pPr>
                <a:r>
                  <a:rPr lang="en-US" sz="1200" b="1" dirty="0"/>
                  <a:t>for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b="1" dirty="0"/>
                  <a:t>in </a:t>
                </a:r>
                <a:r>
                  <a:rPr lang="en-US" sz="12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expr_list</a:t>
                </a:r>
                <a:r>
                  <a:rPr lang="en-DE" sz="1200" b="1" dirty="0"/>
                  <a:t> do</a:t>
                </a:r>
              </a:p>
              <a:p>
                <a:pPr marL="536575" lvl="2" indent="0">
                  <a:buNone/>
                </a:pPr>
                <a:r>
                  <a:rPr lang="en-DE" sz="1200" b="1" dirty="0"/>
                  <a:t>	</a:t>
                </a:r>
                <a:r>
                  <a:rPr lang="en-GB" sz="1200" b="1" dirty="0" err="1"/>
                  <a:t>i</a:t>
                </a:r>
                <a:r>
                  <a:rPr lang="en-DE" sz="1200" b="1" dirty="0"/>
                  <a:t>f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+,−,∗,/ </m:t>
                        </m:r>
                      </m:e>
                    </m:d>
                  </m:oMath>
                </a14:m>
                <a:r>
                  <a:rPr lang="en-DE" sz="1200" dirty="0"/>
                  <a:t> </a:t>
                </a:r>
                <a:r>
                  <a:rPr lang="en-DE" sz="1200" b="1" dirty="0"/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DE" sz="1200" i="0" dirty="0" smtClean="0">
                        <a:latin typeface="Cambria Math" panose="02040503050406030204" pitchFamily="18" charset="0"/>
                      </a:rPr>
                      <m:t>push</m:t>
                    </m:r>
                    <m:d>
                      <m:dPr>
                        <m:ctrlPr>
                          <a:rPr lang="en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dirty="0" smtClean="0">
                                <a:latin typeface="Cambria Math" panose="02040503050406030204" pitchFamily="18" charset="0"/>
                              </a:rPr>
                              <m:t>ops</m:t>
                            </m:r>
                          </m:sub>
                        </m:s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1200" dirty="0"/>
              </a:p>
              <a:p>
                <a:pPr marL="536575" lvl="2" indent="0">
                  <a:buNone/>
                </a:pPr>
                <a:r>
                  <a:rPr lang="en-GB" sz="1200" b="1" dirty="0"/>
                  <a:t>	</a:t>
                </a:r>
                <a:r>
                  <a:rPr lang="en-GB" sz="1200" b="1" dirty="0" err="1"/>
                  <a:t>i</a:t>
                </a:r>
                <a:r>
                  <a:rPr lang="en-DE" sz="1200" b="1" dirty="0"/>
                  <a:t>f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DE" sz="1200" dirty="0"/>
                  <a:t> </a:t>
                </a:r>
                <a:r>
                  <a:rPr lang="en-DE" sz="1200" b="1" dirty="0"/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DE" sz="1200" i="0" dirty="0" smtClean="0">
                        <a:latin typeface="Cambria Math" panose="02040503050406030204" pitchFamily="18" charset="0"/>
                      </a:rPr>
                      <m:t>push</m:t>
                    </m:r>
                    <m:d>
                      <m:dPr>
                        <m:ctrlPr>
                          <a:rPr lang="en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1200" dirty="0"/>
              </a:p>
              <a:p>
                <a:pPr marL="536575" lvl="2" indent="0">
                  <a:buNone/>
                </a:pPr>
                <a:r>
                  <a:rPr lang="en-GB" sz="1200" b="1" dirty="0"/>
                  <a:t>	</a:t>
                </a:r>
                <a:r>
                  <a:rPr lang="en-GB" sz="1200" b="1" dirty="0" err="1"/>
                  <a:t>i</a:t>
                </a:r>
                <a:r>
                  <a:rPr lang="en-DE" sz="1200" b="1" dirty="0"/>
                  <a:t>f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= )</m:t>
                    </m:r>
                  </m:oMath>
                </a14:m>
                <a:r>
                  <a:rPr lang="en-DE" sz="1200" dirty="0"/>
                  <a:t> </a:t>
                </a:r>
                <a:r>
                  <a:rPr lang="en-DE" sz="1200" b="1" dirty="0"/>
                  <a:t>then</a:t>
                </a:r>
              </a:p>
              <a:p>
                <a:pPr marL="536575" lvl="2" indent="0">
                  <a:buNone/>
                </a:pPr>
                <a:r>
                  <a:rPr lang="en-DE" sz="1200" b="1" dirty="0"/>
                  <a:t>		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DE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DE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DE" sz="1200" i="0" dirty="0" smtClean="0">
                        <a:latin typeface="Cambria Math" panose="02040503050406030204" pitchFamily="18" charset="0"/>
                      </a:rPr>
                      <m:t>pop</m:t>
                    </m:r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DE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DE" sz="1200" i="0" dirty="0" smtClean="0">
                            <a:latin typeface="Cambria Math" panose="02040503050406030204" pitchFamily="18" charset="0"/>
                          </a:rPr>
                          <m:t>ops</m:t>
                        </m:r>
                      </m:sub>
                    </m:sSub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DE" sz="1200" dirty="0"/>
              </a:p>
              <a:p>
                <a:pPr marL="536575" lvl="2" indent="0">
                  <a:buNone/>
                </a:pPr>
                <a:r>
                  <a:rPr lang="en-DE" sz="12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DE" sz="1200" i="0" dirty="0" smtClean="0">
                        <a:latin typeface="Cambria Math" panose="02040503050406030204" pitchFamily="18" charset="0"/>
                      </a:rPr>
                      <m:t>pop</m:t>
                    </m:r>
                    <m:d>
                      <m:dPr>
                        <m:ctrlPr>
                          <a:rPr lang="en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DE" sz="1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12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DE" sz="120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</m:e>
                    </m:d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…, </m:t>
                    </m:r>
                    <m:sSub>
                      <m:sSubPr>
                        <m:ctrlPr>
                          <a:rPr lang="en-DE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DE" sz="1200" i="0" dirty="0" smtClean="0">
                        <a:latin typeface="Cambria Math" panose="02040503050406030204" pitchFamily="18" charset="0"/>
                      </a:rPr>
                      <m:t>pop</m:t>
                    </m:r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DE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DE" sz="1200" i="0" dirty="0" smtClean="0">
                            <a:latin typeface="Cambria Math" panose="02040503050406030204" pitchFamily="18" charset="0"/>
                          </a:rPr>
                          <m:t>vals</m:t>
                        </m:r>
                      </m:sub>
                    </m:sSub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DE" sz="1200" dirty="0"/>
              </a:p>
              <a:p>
                <a:pPr marL="536575" lvl="2" indent="0">
                  <a:buNone/>
                </a:pPr>
                <a:r>
                  <a:rPr lang="en-DE" sz="1200" dirty="0"/>
                  <a:t>		Berechne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DE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DE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DE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DE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DE" sz="1200" dirty="0"/>
                  <a:t> 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DE" sz="1200" i="0" dirty="0" smtClean="0">
                        <a:latin typeface="Cambria Math" panose="02040503050406030204" pitchFamily="18" charset="0"/>
                      </a:rPr>
                      <m:t>push</m:t>
                    </m:r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DE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DE" sz="1200" i="0" dirty="0" smtClean="0">
                            <a:latin typeface="Cambria Math" panose="02040503050406030204" pitchFamily="18" charset="0"/>
                          </a:rPr>
                          <m:t>vals</m:t>
                        </m:r>
                      </m:sub>
                    </m:sSub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DE" sz="1200" dirty="0"/>
              </a:p>
              <a:p>
                <a:pPr marL="536575" lvl="2" indent="0">
                  <a:buNone/>
                </a:pPr>
                <a:r>
                  <a:rPr lang="en-DE" sz="1200" b="1" dirty="0"/>
                  <a:t>	end</a:t>
                </a:r>
              </a:p>
              <a:p>
                <a:pPr marL="268287" lvl="1" indent="0">
                  <a:buNone/>
                </a:pPr>
                <a:r>
                  <a:rPr lang="en-DE" sz="1200" b="1" dirty="0"/>
                  <a:t>end</a:t>
                </a:r>
              </a:p>
              <a:p>
                <a:pPr marL="268287" lvl="1" indent="0">
                  <a:buNone/>
                </a:pPr>
                <a:r>
                  <a:rPr lang="en-DE" sz="1200" b="1" dirty="0"/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DE" sz="1200" i="0" dirty="0" smtClean="0">
                        <a:latin typeface="Cambria Math" panose="02040503050406030204" pitchFamily="18" charset="0"/>
                      </a:rPr>
                      <m:t>pop</m:t>
                    </m:r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DE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DE" sz="1200" i="0" dirty="0" smtClean="0">
                            <a:latin typeface="Cambria Math" panose="02040503050406030204" pitchFamily="18" charset="0"/>
                          </a:rPr>
                          <m:t>vals</m:t>
                        </m:r>
                      </m:sub>
                    </m:sSub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DE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8029E36-63C9-5B92-44C8-6D4CB36C39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 b="-78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95495F8-81C6-D05A-1BA2-631910002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Dijkstra’s Algorithmus</a:t>
            </a:r>
          </a:p>
        </p:txBody>
      </p:sp>
    </p:spTree>
    <p:extLst>
      <p:ext uri="{BB962C8B-B14F-4D97-AF65-F5344CB8AC3E}">
        <p14:creationId xmlns:p14="http://schemas.microsoft.com/office/powerpoint/2010/main" val="38606208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7F928E7B-80A6-15CA-51C3-542FD28ACF94}"/>
              </a:ext>
            </a:extLst>
          </p:cNvPr>
          <p:cNvSpPr/>
          <p:nvPr/>
        </p:nvSpPr>
        <p:spPr bwMode="gray">
          <a:xfrm>
            <a:off x="2836066" y="3529619"/>
            <a:ext cx="18152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*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2F6ACD-66D8-B1FF-33D6-C491B20F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Dijkstra’s Algorithmus (Beispiel)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36BCC-1F1A-94E4-F0EF-AA2170F68F93}"/>
              </a:ext>
            </a:extLst>
          </p:cNvPr>
          <p:cNvSpPr txBox="1"/>
          <p:nvPr/>
        </p:nvSpPr>
        <p:spPr bwMode="gray">
          <a:xfrm>
            <a:off x="766737" y="1347614"/>
            <a:ext cx="936104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( 1 + ( 2 * 3 )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F8800-B969-833A-3C1A-6E16A9B1891A}"/>
              </a:ext>
            </a:extLst>
          </p:cNvPr>
          <p:cNvSpPr txBox="1"/>
          <p:nvPr/>
        </p:nvSpPr>
        <p:spPr bwMode="gray">
          <a:xfrm>
            <a:off x="766737" y="1734203"/>
            <a:ext cx="936104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1 + ( 2 * 3 )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093818-9DDF-6630-660A-573F2421486E}"/>
              </a:ext>
            </a:extLst>
          </p:cNvPr>
          <p:cNvSpPr txBox="1"/>
          <p:nvPr/>
        </p:nvSpPr>
        <p:spPr bwMode="gray">
          <a:xfrm>
            <a:off x="766737" y="2120792"/>
            <a:ext cx="936104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 + ( 2 * 3 )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7C0D7-BE01-3C86-C107-D823626D61B6}"/>
              </a:ext>
            </a:extLst>
          </p:cNvPr>
          <p:cNvSpPr txBox="1"/>
          <p:nvPr/>
        </p:nvSpPr>
        <p:spPr bwMode="gray">
          <a:xfrm>
            <a:off x="766737" y="2507381"/>
            <a:ext cx="936104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  ( 2 * 3 )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C5879-233B-1D0D-744B-41C5C567D60F}"/>
              </a:ext>
            </a:extLst>
          </p:cNvPr>
          <p:cNvSpPr txBox="1"/>
          <p:nvPr/>
        </p:nvSpPr>
        <p:spPr bwMode="gray">
          <a:xfrm>
            <a:off x="766737" y="2893970"/>
            <a:ext cx="936104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  2 * 3 ) 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E04C8F-1BF9-1992-64C4-CF9F85D21196}"/>
              </a:ext>
            </a:extLst>
          </p:cNvPr>
          <p:cNvSpPr txBox="1"/>
          <p:nvPr/>
        </p:nvSpPr>
        <p:spPr bwMode="gray">
          <a:xfrm>
            <a:off x="766737" y="3280559"/>
            <a:ext cx="936104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   * 3 ) 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31A6A-8518-9A10-1E60-3FEBA5BECAE8}"/>
              </a:ext>
            </a:extLst>
          </p:cNvPr>
          <p:cNvSpPr txBox="1"/>
          <p:nvPr/>
        </p:nvSpPr>
        <p:spPr bwMode="gray">
          <a:xfrm>
            <a:off x="766737" y="3667148"/>
            <a:ext cx="936104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    3 )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48B1C8-411E-F85E-BF0E-EB74B23342F2}"/>
              </a:ext>
            </a:extLst>
          </p:cNvPr>
          <p:cNvSpPr txBox="1"/>
          <p:nvPr/>
        </p:nvSpPr>
        <p:spPr bwMode="gray">
          <a:xfrm>
            <a:off x="766737" y="4053737"/>
            <a:ext cx="936104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     )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73A67-90CD-F507-5584-381C0447914E}"/>
              </a:ext>
            </a:extLst>
          </p:cNvPr>
          <p:cNvSpPr txBox="1"/>
          <p:nvPr/>
        </p:nvSpPr>
        <p:spPr bwMode="gray">
          <a:xfrm>
            <a:off x="766737" y="4440326"/>
            <a:ext cx="936104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      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F2E188D-42F0-D39A-6CD5-2F2B950C0759}"/>
              </a:ext>
            </a:extLst>
          </p:cNvPr>
          <p:cNvGrpSpPr/>
          <p:nvPr/>
        </p:nvGrpSpPr>
        <p:grpSpPr>
          <a:xfrm>
            <a:off x="2051720" y="1127644"/>
            <a:ext cx="1590283" cy="349294"/>
            <a:chOff x="2987824" y="1127644"/>
            <a:chExt cx="1590283" cy="34929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86761-1415-EE23-2797-CBBCE026B5F0}"/>
                </a:ext>
              </a:extLst>
            </p:cNvPr>
            <p:cNvSpPr/>
            <p:nvPr/>
          </p:nvSpPr>
          <p:spPr bwMode="gray">
            <a:xfrm>
              <a:off x="2987824" y="1168872"/>
              <a:ext cx="1152128" cy="14401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D01C04-26D4-C10C-1E7D-FD03EF691826}"/>
                </a:ext>
              </a:extLst>
            </p:cNvPr>
            <p:cNvSpPr/>
            <p:nvPr/>
          </p:nvSpPr>
          <p:spPr bwMode="gray">
            <a:xfrm>
              <a:off x="2987824" y="1312888"/>
              <a:ext cx="1152128" cy="1440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96C8EC4-5E0E-755B-4588-9BA216A9FEB9}"/>
                    </a:ext>
                  </a:extLst>
                </p:cNvPr>
                <p:cNvSpPr txBox="1"/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>
                                <a:latin typeface="Cambria Math" panose="02040503050406030204" pitchFamily="18" charset="0"/>
                              </a:rPr>
                              <m:t>ops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96C8EC4-5E0E-755B-4588-9BA216A9F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B70B083-46D5-9FD4-DEB1-529112E1F0A4}"/>
                    </a:ext>
                  </a:extLst>
                </p:cNvPr>
                <p:cNvSpPr txBox="1"/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B70B083-46D5-9FD4-DEB1-529112E1F0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52D2E6-3DBC-D10D-CF38-7A8433D4AB85}"/>
              </a:ext>
            </a:extLst>
          </p:cNvPr>
          <p:cNvGrpSpPr/>
          <p:nvPr/>
        </p:nvGrpSpPr>
        <p:grpSpPr>
          <a:xfrm>
            <a:off x="2051720" y="1521102"/>
            <a:ext cx="1590283" cy="349294"/>
            <a:chOff x="2987824" y="1127644"/>
            <a:chExt cx="1590283" cy="34929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628B23-264C-6D19-427D-A2C1D8C6943C}"/>
                </a:ext>
              </a:extLst>
            </p:cNvPr>
            <p:cNvSpPr/>
            <p:nvPr/>
          </p:nvSpPr>
          <p:spPr bwMode="gray">
            <a:xfrm>
              <a:off x="2987824" y="1168872"/>
              <a:ext cx="1152128" cy="14401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2DBE58B-CD23-2A3D-B576-305BE5C31C50}"/>
                </a:ext>
              </a:extLst>
            </p:cNvPr>
            <p:cNvSpPr/>
            <p:nvPr/>
          </p:nvSpPr>
          <p:spPr bwMode="gray">
            <a:xfrm>
              <a:off x="2987824" y="1312888"/>
              <a:ext cx="1152128" cy="1440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5C12E9E-722B-6060-699D-8F9C443FED5F}"/>
                    </a:ext>
                  </a:extLst>
                </p:cNvPr>
                <p:cNvSpPr txBox="1"/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>
                                <a:latin typeface="Cambria Math" panose="02040503050406030204" pitchFamily="18" charset="0"/>
                              </a:rPr>
                              <m:t>ops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5C12E9E-722B-6060-699D-8F9C443FE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54D406D-110E-BF20-9FAB-E3E74830952A}"/>
                    </a:ext>
                  </a:extLst>
                </p:cNvPr>
                <p:cNvSpPr txBox="1"/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54D406D-110E-BF20-9FAB-E3E748309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4C1511D-CE5F-EC06-A499-59470153BC95}"/>
              </a:ext>
            </a:extLst>
          </p:cNvPr>
          <p:cNvGrpSpPr/>
          <p:nvPr/>
        </p:nvGrpSpPr>
        <p:grpSpPr>
          <a:xfrm>
            <a:off x="2051720" y="1914560"/>
            <a:ext cx="1590283" cy="349294"/>
            <a:chOff x="2987824" y="1127644"/>
            <a:chExt cx="1590283" cy="34929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EF7B728-FA10-E0CE-A339-E557AF2B321E}"/>
                </a:ext>
              </a:extLst>
            </p:cNvPr>
            <p:cNvSpPr/>
            <p:nvPr/>
          </p:nvSpPr>
          <p:spPr bwMode="gray">
            <a:xfrm>
              <a:off x="2987824" y="1168872"/>
              <a:ext cx="1152128" cy="14401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CF155A4-3C44-221E-D15B-21AB26C00AE6}"/>
                </a:ext>
              </a:extLst>
            </p:cNvPr>
            <p:cNvSpPr/>
            <p:nvPr/>
          </p:nvSpPr>
          <p:spPr bwMode="gray">
            <a:xfrm>
              <a:off x="2987824" y="1312888"/>
              <a:ext cx="1152128" cy="1440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4549F9B-4007-191C-EF1C-1E4A9E2F2D17}"/>
                    </a:ext>
                  </a:extLst>
                </p:cNvPr>
                <p:cNvSpPr txBox="1"/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>
                                <a:latin typeface="Cambria Math" panose="02040503050406030204" pitchFamily="18" charset="0"/>
                              </a:rPr>
                              <m:t>ops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4549F9B-4007-191C-EF1C-1E4A9E2F2D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4FE970E-0BD7-5E35-A3B1-762D190EB4DE}"/>
                    </a:ext>
                  </a:extLst>
                </p:cNvPr>
                <p:cNvSpPr txBox="1"/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4FE970E-0BD7-5E35-A3B1-762D190EB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B09F76D-1966-59A7-5E89-8E92498C5064}"/>
              </a:ext>
            </a:extLst>
          </p:cNvPr>
          <p:cNvGrpSpPr/>
          <p:nvPr/>
        </p:nvGrpSpPr>
        <p:grpSpPr>
          <a:xfrm>
            <a:off x="2051720" y="2308018"/>
            <a:ext cx="1590283" cy="349294"/>
            <a:chOff x="2987824" y="1127644"/>
            <a:chExt cx="1590283" cy="34929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898824F-D022-491C-5686-CF9BF3BA2115}"/>
                </a:ext>
              </a:extLst>
            </p:cNvPr>
            <p:cNvSpPr/>
            <p:nvPr/>
          </p:nvSpPr>
          <p:spPr bwMode="gray">
            <a:xfrm>
              <a:off x="2987824" y="1168872"/>
              <a:ext cx="1152128" cy="14401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61E4AD5-3B54-1032-DC51-68B6751F16C1}"/>
                </a:ext>
              </a:extLst>
            </p:cNvPr>
            <p:cNvSpPr/>
            <p:nvPr/>
          </p:nvSpPr>
          <p:spPr bwMode="gray">
            <a:xfrm>
              <a:off x="2987824" y="1312888"/>
              <a:ext cx="1152128" cy="1440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B56EE5E-524E-690F-1075-5EF4F9456CF7}"/>
                    </a:ext>
                  </a:extLst>
                </p:cNvPr>
                <p:cNvSpPr txBox="1"/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>
                                <a:latin typeface="Cambria Math" panose="02040503050406030204" pitchFamily="18" charset="0"/>
                              </a:rPr>
                              <m:t>ops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B56EE5E-524E-690F-1075-5EF4F9456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8151243-2894-D3CD-9881-2D2FC98456F6}"/>
                    </a:ext>
                  </a:extLst>
                </p:cNvPr>
                <p:cNvSpPr txBox="1"/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8151243-2894-D3CD-9881-2D2FC98456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5C366DB-AE59-713D-170B-DB77244BA90D}"/>
              </a:ext>
            </a:extLst>
          </p:cNvPr>
          <p:cNvGrpSpPr/>
          <p:nvPr/>
        </p:nvGrpSpPr>
        <p:grpSpPr>
          <a:xfrm>
            <a:off x="2051720" y="2701476"/>
            <a:ext cx="1590283" cy="349294"/>
            <a:chOff x="2987824" y="1127644"/>
            <a:chExt cx="1590283" cy="34929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B32E453-A1D1-F28E-3F2D-F629CB6E4DD1}"/>
                </a:ext>
              </a:extLst>
            </p:cNvPr>
            <p:cNvSpPr/>
            <p:nvPr/>
          </p:nvSpPr>
          <p:spPr bwMode="gray">
            <a:xfrm>
              <a:off x="2987824" y="1168872"/>
              <a:ext cx="1152128" cy="14401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5ABFA03-9B58-649B-4F07-A9D9BEE6A3BD}"/>
                </a:ext>
              </a:extLst>
            </p:cNvPr>
            <p:cNvSpPr/>
            <p:nvPr/>
          </p:nvSpPr>
          <p:spPr bwMode="gray">
            <a:xfrm>
              <a:off x="2987824" y="1312888"/>
              <a:ext cx="1152128" cy="1440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D86CEEC-F6A3-85F8-9F4C-F0B42978FF1E}"/>
                    </a:ext>
                  </a:extLst>
                </p:cNvPr>
                <p:cNvSpPr txBox="1"/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>
                                <a:latin typeface="Cambria Math" panose="02040503050406030204" pitchFamily="18" charset="0"/>
                              </a:rPr>
                              <m:t>ops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D86CEEC-F6A3-85F8-9F4C-F0B42978FF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51F8A5E-06E6-630E-89F6-C68E044142D2}"/>
                    </a:ext>
                  </a:extLst>
                </p:cNvPr>
                <p:cNvSpPr txBox="1"/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51F8A5E-06E6-630E-89F6-C68E044142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857E47E-CF94-19EC-FCD4-CF052556FB87}"/>
              </a:ext>
            </a:extLst>
          </p:cNvPr>
          <p:cNvGrpSpPr/>
          <p:nvPr/>
        </p:nvGrpSpPr>
        <p:grpSpPr>
          <a:xfrm>
            <a:off x="2051720" y="3094934"/>
            <a:ext cx="1590283" cy="349294"/>
            <a:chOff x="2987824" y="1127644"/>
            <a:chExt cx="1590283" cy="34929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91ED605-C309-9BA2-685F-684DA4B744AF}"/>
                </a:ext>
              </a:extLst>
            </p:cNvPr>
            <p:cNvSpPr/>
            <p:nvPr/>
          </p:nvSpPr>
          <p:spPr bwMode="gray">
            <a:xfrm>
              <a:off x="2987824" y="1168872"/>
              <a:ext cx="1152128" cy="14401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BA5670D-DBF1-78A3-6E98-E879FC6E16C9}"/>
                </a:ext>
              </a:extLst>
            </p:cNvPr>
            <p:cNvSpPr/>
            <p:nvPr/>
          </p:nvSpPr>
          <p:spPr bwMode="gray">
            <a:xfrm>
              <a:off x="2987824" y="1312888"/>
              <a:ext cx="1152128" cy="1440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83F91BF-6EFC-1BBC-0CF6-CF07100B2F74}"/>
                    </a:ext>
                  </a:extLst>
                </p:cNvPr>
                <p:cNvSpPr txBox="1"/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>
                                <a:latin typeface="Cambria Math" panose="02040503050406030204" pitchFamily="18" charset="0"/>
                              </a:rPr>
                              <m:t>ops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83F91BF-6EFC-1BBC-0CF6-CF07100B2F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5D95542-26DA-A346-29E4-8919053621EF}"/>
                    </a:ext>
                  </a:extLst>
                </p:cNvPr>
                <p:cNvSpPr txBox="1"/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5D95542-26DA-A346-29E4-891905362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45AFA7-18DF-99EB-26E1-39FCC37BBA16}"/>
              </a:ext>
            </a:extLst>
          </p:cNvPr>
          <p:cNvGrpSpPr/>
          <p:nvPr/>
        </p:nvGrpSpPr>
        <p:grpSpPr>
          <a:xfrm>
            <a:off x="2051720" y="3488392"/>
            <a:ext cx="1590283" cy="349294"/>
            <a:chOff x="2987824" y="1127644"/>
            <a:chExt cx="1590283" cy="34929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7BE195D-A2FB-194C-C256-6EB7D481EF70}"/>
                </a:ext>
              </a:extLst>
            </p:cNvPr>
            <p:cNvSpPr/>
            <p:nvPr/>
          </p:nvSpPr>
          <p:spPr bwMode="gray">
            <a:xfrm>
              <a:off x="2987824" y="1168872"/>
              <a:ext cx="1152128" cy="14401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2F43288-3180-F4E1-46BF-D013EB53E51E}"/>
                </a:ext>
              </a:extLst>
            </p:cNvPr>
            <p:cNvSpPr/>
            <p:nvPr/>
          </p:nvSpPr>
          <p:spPr bwMode="gray">
            <a:xfrm>
              <a:off x="2987824" y="1312888"/>
              <a:ext cx="1152128" cy="1440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7F9D451-FA5C-A528-1CF1-BDE2EE5DE71F}"/>
                    </a:ext>
                  </a:extLst>
                </p:cNvPr>
                <p:cNvSpPr txBox="1"/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>
                                <a:latin typeface="Cambria Math" panose="02040503050406030204" pitchFamily="18" charset="0"/>
                              </a:rPr>
                              <m:t>ops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7F9D451-FA5C-A528-1CF1-BDE2EE5DE7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BE5BA1E-967C-5AE8-3177-D2E82B8B1E68}"/>
                    </a:ext>
                  </a:extLst>
                </p:cNvPr>
                <p:cNvSpPr txBox="1"/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BE5BA1E-967C-5AE8-3177-D2E82B8B1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064704F-3D23-255D-DB5F-A57572AAF6E5}"/>
              </a:ext>
            </a:extLst>
          </p:cNvPr>
          <p:cNvGrpSpPr/>
          <p:nvPr/>
        </p:nvGrpSpPr>
        <p:grpSpPr>
          <a:xfrm>
            <a:off x="2051720" y="3881850"/>
            <a:ext cx="1590283" cy="349294"/>
            <a:chOff x="2987824" y="1127644"/>
            <a:chExt cx="1590283" cy="34929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AC2A527-90F1-50FC-36AC-C33A74E955EB}"/>
                </a:ext>
              </a:extLst>
            </p:cNvPr>
            <p:cNvSpPr/>
            <p:nvPr/>
          </p:nvSpPr>
          <p:spPr bwMode="gray">
            <a:xfrm>
              <a:off x="2987824" y="1168872"/>
              <a:ext cx="1152128" cy="14401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4D53E33-59C0-A0E9-36C0-99CFF328257A}"/>
                </a:ext>
              </a:extLst>
            </p:cNvPr>
            <p:cNvSpPr/>
            <p:nvPr/>
          </p:nvSpPr>
          <p:spPr bwMode="gray">
            <a:xfrm>
              <a:off x="2987824" y="1312888"/>
              <a:ext cx="1152128" cy="1440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07EA95C-404D-6FF8-27F1-D080991C063F}"/>
                    </a:ext>
                  </a:extLst>
                </p:cNvPr>
                <p:cNvSpPr txBox="1"/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>
                                <a:latin typeface="Cambria Math" panose="02040503050406030204" pitchFamily="18" charset="0"/>
                              </a:rPr>
                              <m:t>ops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07EA95C-404D-6FF8-27F1-D080991C0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1641AEB-FCD2-86F6-F6CC-B3603EF9EECE}"/>
                    </a:ext>
                  </a:extLst>
                </p:cNvPr>
                <p:cNvSpPr txBox="1"/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1641AEB-FCD2-86F6-F6CC-B3603EF9EE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F34B2CD-482B-5F54-7A9B-CA0500CC81F3}"/>
              </a:ext>
            </a:extLst>
          </p:cNvPr>
          <p:cNvGrpSpPr/>
          <p:nvPr/>
        </p:nvGrpSpPr>
        <p:grpSpPr>
          <a:xfrm>
            <a:off x="2051720" y="4275308"/>
            <a:ext cx="1590283" cy="349294"/>
            <a:chOff x="2987824" y="1127644"/>
            <a:chExt cx="1590283" cy="349294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54BCE8F-2F9B-CE97-AC57-A4628FAF81CF}"/>
                </a:ext>
              </a:extLst>
            </p:cNvPr>
            <p:cNvSpPr/>
            <p:nvPr/>
          </p:nvSpPr>
          <p:spPr bwMode="gray">
            <a:xfrm>
              <a:off x="2987824" y="1168872"/>
              <a:ext cx="1152128" cy="14401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346C822-C9C4-1AA8-1387-DB8A81906C3D}"/>
                </a:ext>
              </a:extLst>
            </p:cNvPr>
            <p:cNvSpPr/>
            <p:nvPr/>
          </p:nvSpPr>
          <p:spPr bwMode="gray">
            <a:xfrm>
              <a:off x="2987824" y="1312888"/>
              <a:ext cx="1152128" cy="1440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25E0752-B068-4B03-B3D5-5855F93EA99B}"/>
                    </a:ext>
                  </a:extLst>
                </p:cNvPr>
                <p:cNvSpPr txBox="1"/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>
                                <a:latin typeface="Cambria Math" panose="02040503050406030204" pitchFamily="18" charset="0"/>
                              </a:rPr>
                              <m:t>ops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25E0752-B068-4B03-B3D5-5855F93EA9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47D49B8-20FB-3415-B8CC-178E66853213}"/>
                    </a:ext>
                  </a:extLst>
                </p:cNvPr>
                <p:cNvSpPr txBox="1"/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47D49B8-20FB-3415-B8CC-178E66853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7D220D3-BD42-87C5-DF20-7CD1B4C5B264}"/>
              </a:ext>
            </a:extLst>
          </p:cNvPr>
          <p:cNvGrpSpPr/>
          <p:nvPr/>
        </p:nvGrpSpPr>
        <p:grpSpPr>
          <a:xfrm>
            <a:off x="2051720" y="4668769"/>
            <a:ext cx="1590283" cy="349294"/>
            <a:chOff x="2987824" y="1127644"/>
            <a:chExt cx="1590283" cy="349294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F56DBF3-2C01-66D5-B1EF-B960C6BDBBB5}"/>
                </a:ext>
              </a:extLst>
            </p:cNvPr>
            <p:cNvSpPr/>
            <p:nvPr/>
          </p:nvSpPr>
          <p:spPr bwMode="gray">
            <a:xfrm>
              <a:off x="2987824" y="1168872"/>
              <a:ext cx="1152128" cy="14401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948E974-B247-DD0F-913C-36BB66937ED4}"/>
                </a:ext>
              </a:extLst>
            </p:cNvPr>
            <p:cNvSpPr/>
            <p:nvPr/>
          </p:nvSpPr>
          <p:spPr bwMode="gray">
            <a:xfrm>
              <a:off x="2987824" y="1312888"/>
              <a:ext cx="1152128" cy="1440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107AF60-5E19-4C54-FABA-5A119FEB83F7}"/>
                    </a:ext>
                  </a:extLst>
                </p:cNvPr>
                <p:cNvSpPr txBox="1"/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>
                                <a:latin typeface="Cambria Math" panose="02040503050406030204" pitchFamily="18" charset="0"/>
                              </a:rPr>
                              <m:t>ops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107AF60-5E19-4C54-FABA-5A119FEB8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02676" y="1127644"/>
                  <a:ext cx="463219" cy="22647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0C7041B-2D54-C5C6-EFE7-C9BE3BA03D06}"/>
                    </a:ext>
                  </a:extLst>
                </p:cNvPr>
                <p:cNvSpPr txBox="1"/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DE" sz="80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800" b="0" i="0" dirty="0" smtClean="0">
                                <a:latin typeface="Cambria Math" panose="02040503050406030204" pitchFamily="18" charset="0"/>
                              </a:rPr>
                              <m:t>vals</m:t>
                            </m:r>
                          </m:sub>
                        </m:sSub>
                      </m:oMath>
                    </m:oMathPara>
                  </a14:m>
                  <a:endParaRPr lang="en-DE" sz="800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0C7041B-2D54-C5C6-EFE7-C9BE3BA03D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114888" y="1261494"/>
                  <a:ext cx="463219" cy="21544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4B70F312-C9B0-4A8A-FB3A-D561D9749F47}"/>
              </a:ext>
            </a:extLst>
          </p:cNvPr>
          <p:cNvSpPr/>
          <p:nvPr/>
        </p:nvSpPr>
        <p:spPr bwMode="gray">
          <a:xfrm>
            <a:off x="3022326" y="2097077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FBCCABA-AD05-8CA5-0425-0E0299405E12}"/>
              </a:ext>
            </a:extLst>
          </p:cNvPr>
          <p:cNvSpPr/>
          <p:nvPr/>
        </p:nvSpPr>
        <p:spPr bwMode="gray">
          <a:xfrm>
            <a:off x="3021273" y="2349246"/>
            <a:ext cx="18152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+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CADA04B-AAC7-1AAD-18CC-B0F08E4EB0C2}"/>
              </a:ext>
            </a:extLst>
          </p:cNvPr>
          <p:cNvSpPr/>
          <p:nvPr/>
        </p:nvSpPr>
        <p:spPr bwMode="gray">
          <a:xfrm>
            <a:off x="3022326" y="2493262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811B0A5-8FEB-4A9C-5C06-3E65A64945A4}"/>
              </a:ext>
            </a:extLst>
          </p:cNvPr>
          <p:cNvSpPr/>
          <p:nvPr/>
        </p:nvSpPr>
        <p:spPr bwMode="gray">
          <a:xfrm>
            <a:off x="3021273" y="2742704"/>
            <a:ext cx="18152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+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0B02FC9-8F82-C0FB-3A09-CE85D0107FFF}"/>
              </a:ext>
            </a:extLst>
          </p:cNvPr>
          <p:cNvSpPr/>
          <p:nvPr/>
        </p:nvSpPr>
        <p:spPr bwMode="gray">
          <a:xfrm>
            <a:off x="3022326" y="2886720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6B3BBEB-4547-569F-ABEE-459A118F9955}"/>
              </a:ext>
            </a:extLst>
          </p:cNvPr>
          <p:cNvSpPr/>
          <p:nvPr/>
        </p:nvSpPr>
        <p:spPr bwMode="gray">
          <a:xfrm>
            <a:off x="3020220" y="3136162"/>
            <a:ext cx="18152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+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458115F-E390-BC1C-E19E-AA742CB7A525}"/>
              </a:ext>
            </a:extLst>
          </p:cNvPr>
          <p:cNvSpPr/>
          <p:nvPr/>
        </p:nvSpPr>
        <p:spPr bwMode="gray">
          <a:xfrm>
            <a:off x="3021273" y="3280178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02EDE34-4BEE-549B-DFC3-16424E6D90C5}"/>
              </a:ext>
            </a:extLst>
          </p:cNvPr>
          <p:cNvSpPr/>
          <p:nvPr/>
        </p:nvSpPr>
        <p:spPr bwMode="gray">
          <a:xfrm>
            <a:off x="2838172" y="3280175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2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013433E-27CB-5F87-2D0B-AD3B2BD33526}"/>
              </a:ext>
            </a:extLst>
          </p:cNvPr>
          <p:cNvSpPr/>
          <p:nvPr/>
        </p:nvSpPr>
        <p:spPr bwMode="gray">
          <a:xfrm>
            <a:off x="3020220" y="3529620"/>
            <a:ext cx="18152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+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66C476D-4D64-2355-F33C-BE0B03633B51}"/>
              </a:ext>
            </a:extLst>
          </p:cNvPr>
          <p:cNvSpPr/>
          <p:nvPr/>
        </p:nvSpPr>
        <p:spPr bwMode="gray">
          <a:xfrm>
            <a:off x="3021273" y="3673636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66FAB75-0E06-DE7A-C335-8D9EC0879AA8}"/>
              </a:ext>
            </a:extLst>
          </p:cNvPr>
          <p:cNvSpPr/>
          <p:nvPr/>
        </p:nvSpPr>
        <p:spPr bwMode="gray">
          <a:xfrm>
            <a:off x="2838172" y="3673633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2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11ADE01-85EE-D472-95FF-574038737DD2}"/>
              </a:ext>
            </a:extLst>
          </p:cNvPr>
          <p:cNvSpPr/>
          <p:nvPr/>
        </p:nvSpPr>
        <p:spPr bwMode="gray">
          <a:xfrm>
            <a:off x="2836066" y="3923074"/>
            <a:ext cx="18152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*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E346415-19A1-3A11-6951-1CB125AA847D}"/>
              </a:ext>
            </a:extLst>
          </p:cNvPr>
          <p:cNvSpPr/>
          <p:nvPr/>
        </p:nvSpPr>
        <p:spPr bwMode="gray">
          <a:xfrm>
            <a:off x="3020220" y="3923075"/>
            <a:ext cx="18152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+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17547B2-2AAC-FF68-DCED-B8A4F33C5B97}"/>
              </a:ext>
            </a:extLst>
          </p:cNvPr>
          <p:cNvSpPr/>
          <p:nvPr/>
        </p:nvSpPr>
        <p:spPr bwMode="gray">
          <a:xfrm>
            <a:off x="3021273" y="4067091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109C7CB-CB35-6BF2-FC22-7A2B7319DDED}"/>
              </a:ext>
            </a:extLst>
          </p:cNvPr>
          <p:cNvSpPr/>
          <p:nvPr/>
        </p:nvSpPr>
        <p:spPr bwMode="gray">
          <a:xfrm>
            <a:off x="2838172" y="4067088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2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7FFCFAE-D8ED-64E1-5CCA-F9BFACCFAB6C}"/>
              </a:ext>
            </a:extLst>
          </p:cNvPr>
          <p:cNvSpPr/>
          <p:nvPr/>
        </p:nvSpPr>
        <p:spPr bwMode="gray">
          <a:xfrm>
            <a:off x="2651912" y="4067088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3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F2D19D7-8216-9D0E-D0FE-4256A7F645A4}"/>
              </a:ext>
            </a:extLst>
          </p:cNvPr>
          <p:cNvSpPr/>
          <p:nvPr/>
        </p:nvSpPr>
        <p:spPr bwMode="gray">
          <a:xfrm>
            <a:off x="3023550" y="4316536"/>
            <a:ext cx="18152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+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2D492D0-999E-9DA0-27E8-90C28A0737EC}"/>
              </a:ext>
            </a:extLst>
          </p:cNvPr>
          <p:cNvSpPr/>
          <p:nvPr/>
        </p:nvSpPr>
        <p:spPr bwMode="gray">
          <a:xfrm>
            <a:off x="3024603" y="4460552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8F1176B-E30C-ACD2-AA7E-8E182FF8F97A}"/>
              </a:ext>
            </a:extLst>
          </p:cNvPr>
          <p:cNvSpPr/>
          <p:nvPr/>
        </p:nvSpPr>
        <p:spPr bwMode="gray">
          <a:xfrm>
            <a:off x="2841502" y="4460549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6</a:t>
            </a:r>
            <a:endParaRPr lang="en-DE" sz="1200" b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C159E87-74FD-48FE-26C7-D9353C7B8C10}"/>
              </a:ext>
            </a:extLst>
          </p:cNvPr>
          <p:cNvSpPr/>
          <p:nvPr/>
        </p:nvSpPr>
        <p:spPr bwMode="gray">
          <a:xfrm>
            <a:off x="3020220" y="4854013"/>
            <a:ext cx="181522" cy="144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7</a:t>
            </a:r>
            <a:endParaRPr lang="en-DE" sz="1200" b="1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C3AA4B-BA99-7F60-A5EF-7F3E1821FF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6088" y="1281138"/>
            <a:ext cx="3575577" cy="2549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10CACC-7A1D-EBFE-FA4A-DAD00EA1D1DB}"/>
              </a:ext>
            </a:extLst>
          </p:cNvPr>
          <p:cNvSpPr txBox="1"/>
          <p:nvPr/>
        </p:nvSpPr>
        <p:spPr bwMode="gray">
          <a:xfrm>
            <a:off x="3433626" y="4094013"/>
            <a:ext cx="4219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hlinkClick r:id="rId9"/>
              </a:rPr>
              <a:t>eval_exp.cpp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5412333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65" grpId="0" animBg="1"/>
      <p:bldP spid="67" grpId="0" animBg="1"/>
      <p:bldP spid="66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3" grpId="0" animBg="1"/>
      <p:bldP spid="84" grpId="0" animBg="1"/>
      <p:bldP spid="85" grpId="0" animBg="1"/>
      <p:bldP spid="87" grpId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6A8A6D-B39E-61C7-EBAC-03DC568FA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021536" cy="3563938"/>
          </a:xfrm>
        </p:spPr>
        <p:txBody>
          <a:bodyPr/>
          <a:lstStyle/>
          <a:p>
            <a:r>
              <a:rPr lang="de-DE" b="1" dirty="0"/>
              <a:t>Frage: </a:t>
            </a:r>
            <a:r>
              <a:rPr lang="de-DE" dirty="0"/>
              <a:t>Warum ist der Algorithmus </a:t>
            </a:r>
            <a:r>
              <a:rPr lang="de-DE" b="1" dirty="0"/>
              <a:t>korrekt</a:t>
            </a:r>
            <a:r>
              <a:rPr lang="de-DE" dirty="0"/>
              <a:t>?</a:t>
            </a:r>
          </a:p>
          <a:p>
            <a:r>
              <a:rPr lang="de-DE" b="1" dirty="0"/>
              <a:t>Antwort</a:t>
            </a:r>
            <a:r>
              <a:rPr lang="de-DE" dirty="0"/>
              <a:t>: 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Jedes Mal wenn ein Ausdruck von Klammern umrundet wird, werden die beiden Operatoren von </a:t>
            </a:r>
            <a:r>
              <a:rPr lang="en-US" sz="1200" i="1" dirty="0"/>
              <a:t>value</a:t>
            </a:r>
            <a:r>
              <a:rPr lang="de-DE" sz="1200" dirty="0"/>
              <a:t> Stack genommen, die Operation vom </a:t>
            </a:r>
            <a:r>
              <a:rPr lang="en-US" sz="1200" i="1" dirty="0"/>
              <a:t>ops</a:t>
            </a:r>
            <a:r>
              <a:rPr lang="de-DE" sz="1200" dirty="0"/>
              <a:t> Stack und das Ergebnis zurück auf den </a:t>
            </a:r>
            <a:r>
              <a:rPr lang="en-US" sz="1200" i="1" dirty="0"/>
              <a:t>value</a:t>
            </a:r>
            <a:r>
              <a:rPr lang="de-DE" sz="1200" dirty="0"/>
              <a:t> Stack gelegt 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Der geklammerte Ausdruck wird also durch seinen Wert ersetzt!</a:t>
            </a:r>
          </a:p>
          <a:p>
            <a:r>
              <a:rPr lang="de-DE" b="1" dirty="0"/>
              <a:t>Beobachtung</a:t>
            </a:r>
            <a:r>
              <a:rPr lang="de-DE" dirty="0"/>
              <a:t>: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Der Algorithmus liefert den gleichen Wert, wenn die Operation </a:t>
            </a:r>
            <a:r>
              <a:rPr lang="de-DE" sz="1200" b="1" dirty="0"/>
              <a:t>nach</a:t>
            </a:r>
            <a:r>
              <a:rPr lang="de-DE" sz="1200" dirty="0"/>
              <a:t> den Operatoren kommt!</a:t>
            </a:r>
          </a:p>
          <a:p>
            <a:pPr marL="611187" lvl="1" indent="-342900">
              <a:buFont typeface="+mj-lt"/>
              <a:buAutoNum type="arabicPeriod"/>
            </a:pPr>
            <a:endParaRPr lang="de-DE" sz="1200" dirty="0"/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Alle Klammern sind redundant!</a:t>
            </a:r>
          </a:p>
          <a:p>
            <a:pPr marL="611187" lvl="1" indent="-342900">
              <a:buFont typeface="+mj-lt"/>
              <a:buAutoNum type="arabicPeriod"/>
            </a:pPr>
            <a:endParaRPr lang="de-DE" dirty="0"/>
          </a:p>
          <a:p>
            <a:r>
              <a:rPr lang="de-DE" b="1" dirty="0"/>
              <a:t>Schlussfolgerung</a:t>
            </a:r>
            <a:r>
              <a:rPr lang="de-DE" dirty="0"/>
              <a:t>: Der Algorithmus funktioniert für umgekehrte polnische Notation von arithmetischen Ausdrücken (z.B. Stack Maschine, Postscript, JVM)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A0DE01-969C-1BFE-A3A4-81F1A7A6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Korrektheit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6732A-CC08-C324-1719-40710D391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278798"/>
            <a:ext cx="3312368" cy="357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08A549-A452-1E14-2EB1-BE9AFA20A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3903663"/>
            <a:ext cx="1800200" cy="34471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849BEC3-652A-2836-C27B-C886E152D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068" y="1389638"/>
            <a:ext cx="1160156" cy="149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C2F2E8-9504-E407-F0DD-63B0A29FA7B7}"/>
              </a:ext>
            </a:extLst>
          </p:cNvPr>
          <p:cNvSpPr txBox="1"/>
          <p:nvPr/>
        </p:nvSpPr>
        <p:spPr bwMode="gray">
          <a:xfrm>
            <a:off x="7681936" y="2881268"/>
            <a:ext cx="1055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Jan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Łukasiewicz</a:t>
            </a:r>
            <a:endParaRPr lang="en-US" sz="800" b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/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(1878 – </a:t>
            </a:r>
            <a:r>
              <a:rPr lang="de-DE" sz="800" b="1" dirty="0">
                <a:solidFill>
                  <a:srgbClr val="202122"/>
                </a:solidFill>
                <a:latin typeface="Arial" panose="020B0604020202020204" pitchFamily="34" charset="0"/>
              </a:rPr>
              <a:t>1956</a:t>
            </a:r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5265213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Abstrakte Datentypen</a:t>
            </a:r>
          </a:p>
          <a:p>
            <a:pPr marL="342900" indent="-342900"/>
            <a:r>
              <a:rPr lang="de-DE" altLang="en-DE" dirty="0"/>
              <a:t>Stapel (</a:t>
            </a:r>
            <a:r>
              <a:rPr lang="en-US" altLang="en-DE" i="1" dirty="0"/>
              <a:t>stacks</a:t>
            </a:r>
            <a:r>
              <a:rPr lang="de-DE" altLang="en-DE" dirty="0"/>
              <a:t>)</a:t>
            </a:r>
          </a:p>
          <a:p>
            <a:pPr marL="614125" lvl="1" indent="-342900"/>
            <a:r>
              <a:rPr lang="de-DE" altLang="en-DE" dirty="0"/>
              <a:t>Auswertung Arithmetischer Ausdrücke</a:t>
            </a:r>
          </a:p>
          <a:p>
            <a:pPr marL="342900" indent="-342900"/>
            <a:r>
              <a:rPr lang="de-DE" altLang="en-DE" b="1" dirty="0"/>
              <a:t>Warteschlangen (</a:t>
            </a:r>
            <a:r>
              <a:rPr lang="en-US" altLang="en-DE" b="1" i="1" dirty="0"/>
              <a:t>queue</a:t>
            </a:r>
            <a:r>
              <a:rPr lang="de-DE" altLang="en-DE" b="1" dirty="0"/>
              <a:t>)</a:t>
            </a:r>
          </a:p>
          <a:p>
            <a:pPr marL="342900" indent="-342900"/>
            <a:r>
              <a:rPr lang="de-DE" altLang="en-DE" dirty="0"/>
              <a:t>Listen (</a:t>
            </a:r>
            <a:r>
              <a:rPr lang="en-US" altLang="en-DE" i="1" dirty="0"/>
              <a:t>lists</a:t>
            </a:r>
            <a:r>
              <a:rPr lang="de-DE" altLang="en-DE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417175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7F0C18-6F26-784D-900D-019CB008ED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333176"/>
          </a:xfrm>
        </p:spPr>
        <p:txBody>
          <a:bodyPr/>
          <a:lstStyle/>
          <a:p>
            <a:r>
              <a:rPr lang="en-DE" b="1" dirty="0"/>
              <a:t>Prinzip</a:t>
            </a:r>
            <a:r>
              <a:rPr lang="en-DE" dirty="0"/>
              <a:t>: </a:t>
            </a:r>
            <a:r>
              <a:rPr lang="en-DE" i="1" dirty="0"/>
              <a:t>First-In-First-Out </a:t>
            </a:r>
            <a:r>
              <a:rPr lang="en-DE" dirty="0"/>
              <a:t>Speicher</a:t>
            </a:r>
          </a:p>
          <a:p>
            <a:endParaRPr lang="en-DE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B3511E-523E-8F07-CEA6-543EB9A1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Queue as Abstrakter Datentyp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73D8BFCF-8909-43BB-93A0-6C60EED4A55B}"/>
                  </a:ext>
                </a:extLst>
              </p:cNvPr>
              <p:cNvSpPr/>
              <p:nvPr/>
            </p:nvSpPr>
            <p:spPr>
              <a:xfrm>
                <a:off x="611201" y="1573013"/>
                <a:ext cx="6372200" cy="3462486"/>
              </a:xfrm>
              <a:prstGeom prst="rect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type</a:t>
                </a:r>
                <a:r>
                  <a:rPr lang="de-DE" altLang="de-DE" sz="1400" dirty="0"/>
                  <a:t> Queue(T)</a:t>
                </a:r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operators</a:t>
                </a:r>
                <a:endParaRPr lang="de-DE" altLang="de-DE" sz="1400" b="1" dirty="0">
                  <a:cs typeface="Courier New" panose="02070309020205020404" pitchFamily="49" charset="0"/>
                </a:endParaRPr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empty</m:t>
                    </m:r>
                    <m:r>
                      <a:rPr lang="de-DE" altLang="de-DE" sz="140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Queue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empty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Queue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altLang="de-DE" sz="1400" dirty="0" err="1">
                        <a:latin typeface="Cambria Math" panose="02040503050406030204" pitchFamily="18" charset="0"/>
                      </a:rPr>
                      <m:t>Bool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enqueue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Queue</m:t>
                    </m:r>
                    <m: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× 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Queue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dequeue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Queue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Queue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i="0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ront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Queue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axioms</a:t>
                </a:r>
                <a:r>
                  <a:rPr lang="de-DE" altLang="de-DE" sz="1400" b="1" dirty="0"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Queue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de-DE" altLang="de-DE" sz="1400" b="1" dirty="0">
                  <a:cs typeface="Courier New" panose="02070309020205020404" pitchFamily="49" charset="0"/>
                </a:endParaRPr>
              </a:p>
              <a:p>
                <a:r>
                  <a:rPr lang="en-US" altLang="de-DE" sz="1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dequeue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enqueue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de-DE" sz="1400" b="0" i="0" dirty="0" smtClean="0">
                                <a:latin typeface="Cambria Math" panose="02040503050406030204" pitchFamily="18" charset="0"/>
                              </a:rPr>
                              <m:t>empty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         =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empty</m:t>
                    </m:r>
                  </m:oMath>
                </a14:m>
                <a:endParaRPr lang="en-US" altLang="de-DE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de-DE" sz="1400" b="0" i="0" dirty="0" smtClean="0">
                          <a:latin typeface="Cambria Math" panose="02040503050406030204" pitchFamily="18" charset="0"/>
                        </a:rPr>
                        <m:t>dequeue</m:t>
                      </m:r>
                      <m:d>
                        <m:dPr>
                          <m:ctrlPr>
                            <a:rPr lang="en-US" altLang="de-DE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de-DE" sz="1400" b="0" i="0" dirty="0" smtClean="0">
                              <a:latin typeface="Cambria Math" panose="02040503050406030204" pitchFamily="18" charset="0"/>
                            </a:rPr>
                            <m:t>enqueue</m:t>
                          </m:r>
                          <m:d>
                            <m:dPr>
                              <m:ctrlPr>
                                <a:rPr lang="en-US" altLang="de-DE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de-DE" sz="1400" b="0" i="0" dirty="0" smtClean="0">
                                  <a:latin typeface="Cambria Math" panose="02040503050406030204" pitchFamily="18" charset="0"/>
                                </a:rPr>
                                <m:t>enqueue</m:t>
                              </m:r>
                              <m:d>
                                <m:dPr>
                                  <m:ctrlPr>
                                    <a:rPr lang="en-US" altLang="de-DE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de-DE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altLang="de-DE" sz="14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de-DE" sz="1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de-DE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de-DE" sz="1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de-DE" sz="1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de-DE" sz="1400" dirty="0">
                          <a:latin typeface="Cambria Math" panose="02040503050406030204" pitchFamily="18" charset="0"/>
                        </a:rPr>
                        <m:t>enqueue</m:t>
                      </m:r>
                      <m:d>
                        <m:dPr>
                          <m:ctrlPr>
                            <a:rPr lang="en-US" altLang="de-DE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de-DE" sz="1400" dirty="0">
                              <a:latin typeface="Cambria Math" panose="02040503050406030204" pitchFamily="18" charset="0"/>
                            </a:rPr>
                            <m:t>dequeue</m:t>
                          </m:r>
                          <m:d>
                            <m:dPr>
                              <m:ctrlPr>
                                <a:rPr lang="en-US" altLang="de-DE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de-DE" sz="1400" dirty="0">
                                  <a:latin typeface="Cambria Math" panose="02040503050406030204" pitchFamily="18" charset="0"/>
                                </a:rPr>
                                <m:t>enqueue</m:t>
                              </m:r>
                              <m:d>
                                <m:dPr>
                                  <m:ctrlPr>
                                    <a:rPr lang="en-US" altLang="de-DE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de-DE" sz="1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altLang="de-DE" sz="1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de-DE" sz="1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de-DE" sz="1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de-DE" sz="1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br>
                  <a:rPr lang="en-US" altLang="de-DE" sz="1400" b="0" dirty="0"/>
                </a:br>
                <a:endParaRPr lang="de-DE" altLang="de-DE" sz="1400" dirty="0"/>
              </a:p>
              <a:p>
                <a:r>
                  <a:rPr lang="en-US" altLang="de-DE" sz="1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front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enqueue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de-DE" sz="1400" dirty="0">
                                <a:latin typeface="Cambria Math" panose="02040503050406030204" pitchFamily="18" charset="0"/>
                              </a:rPr>
                              <m:t>empty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              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de-DE" altLang="de-DE" sz="1400" dirty="0"/>
              </a:p>
              <a:p>
                <a:r>
                  <a:rPr lang="en-US" altLang="de-DE" sz="1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front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dirty="0">
                            <a:latin typeface="Cambria Math" panose="02040503050406030204" pitchFamily="18" charset="0"/>
                          </a:rPr>
                          <m:t>enqueue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de-DE" sz="1400" b="0" i="0" dirty="0" smtClean="0">
                                <a:latin typeface="Cambria Math" panose="02040503050406030204" pitchFamily="18" charset="0"/>
                              </a:rPr>
                              <m:t>enqueue</m:t>
                            </m:r>
                            <m:d>
                              <m:dPr>
                                <m:ctrlPr>
                                  <a:rPr lang="en-US" altLang="de-DE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de-DE" sz="1400" b="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de-DE" sz="14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de-DE" sz="1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front</m:t>
                    </m:r>
                    <m:d>
                      <m:dPr>
                        <m:ctrlPr>
                          <a:rPr lang="en-US" altLang="de-DE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b="0" i="0" dirty="0" smtClean="0">
                            <a:latin typeface="Cambria Math" panose="02040503050406030204" pitchFamily="18" charset="0"/>
                          </a:rPr>
                          <m:t>enqueue</m:t>
                        </m:r>
                        <m:r>
                          <a:rPr lang="en-US" altLang="de-DE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de-DE" sz="1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de-DE" sz="1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de-DE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de-DE" sz="1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de-DE" altLang="de-DE" sz="1400" dirty="0"/>
              </a:p>
              <a:p>
                <a:r>
                  <a:rPr lang="en-US" altLang="de-DE" sz="1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empty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b="0" i="0" dirty="0" smtClean="0">
                            <a:latin typeface="Cambria Math" panose="02040503050406030204" pitchFamily="18" charset="0"/>
                          </a:rPr>
                          <m:t>enqueue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false</m:t>
                    </m:r>
                  </m:oMath>
                </a14:m>
                <a:endParaRPr lang="de-DE" altLang="de-DE" sz="1400" dirty="0"/>
              </a:p>
              <a:p>
                <a:r>
                  <a:rPr lang="en-US" altLang="de-DE" sz="1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empty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b="0" i="0" dirty="0" smtClean="0">
                            <a:latin typeface="Cambria Math" panose="02040503050406030204" pitchFamily="18" charset="0"/>
                          </a:rPr>
                          <m:t>empty</m:t>
                        </m:r>
                      </m:e>
                    </m:d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                               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true</m:t>
                    </m:r>
                  </m:oMath>
                </a14:m>
                <a:endParaRPr lang="de-DE" altLang="de-DE" sz="1400" dirty="0"/>
              </a:p>
              <a:p>
                <a:endParaRPr lang="de-DE" altLang="de-DE" sz="1400" dirty="0"/>
              </a:p>
            </p:txBody>
          </p:sp>
        </mc:Choice>
        <mc:Fallback xmlns=""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73D8BFCF-8909-43BB-93A0-6C60EED4A5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01" y="1573013"/>
                <a:ext cx="6372200" cy="34624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549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uiExpand="1" build="allAtOnce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159530-435F-DD70-53E1-1A0B1D5FC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Queue in Bildern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6772D-F289-F075-BDCF-F67077C0E682}"/>
              </a:ext>
            </a:extLst>
          </p:cNvPr>
          <p:cNvSpPr txBox="1"/>
          <p:nvPr/>
        </p:nvSpPr>
        <p:spPr bwMode="gray">
          <a:xfrm>
            <a:off x="1183242" y="1755800"/>
            <a:ext cx="368803" cy="34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42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16A1CE-136C-8DB6-76A4-4890D0C2A08D}"/>
              </a:ext>
            </a:extLst>
          </p:cNvPr>
          <p:cNvSpPr txBox="1"/>
          <p:nvPr/>
        </p:nvSpPr>
        <p:spPr bwMode="gray">
          <a:xfrm>
            <a:off x="1115616" y="1131590"/>
            <a:ext cx="504056" cy="435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empty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7F539D-1DAE-2458-5223-70623BEE848E}"/>
              </a:ext>
            </a:extLst>
          </p:cNvPr>
          <p:cNvCxnSpPr>
            <a:cxnSpLocks/>
            <a:stCxn id="21" idx="2"/>
            <a:endCxn id="33" idx="0"/>
          </p:cNvCxnSpPr>
          <p:nvPr/>
        </p:nvCxnSpPr>
        <p:spPr bwMode="gray">
          <a:xfrm>
            <a:off x="1367644" y="2676949"/>
            <a:ext cx="0" cy="237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74DF75-D41D-C4EC-13C3-A23E6CD5B08B}"/>
                  </a:ext>
                </a:extLst>
              </p:cNvPr>
              <p:cNvSpPr txBox="1"/>
              <p:nvPr/>
            </p:nvSpPr>
            <p:spPr bwMode="gray">
              <a:xfrm>
                <a:off x="2774933" y="1371103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dirty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panose="02040503050406030204" pitchFamily="18" charset="0"/>
                        </a:rPr>
                        <m:t>nqueue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 (42)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74DF75-D41D-C4EC-13C3-A23E6CD5B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74933" y="1371103"/>
                <a:ext cx="1020824" cy="435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3887C9D-9410-FF78-0A40-969AF601B07F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 bwMode="gray">
          <a:xfrm flipH="1">
            <a:off x="1366179" y="3260025"/>
            <a:ext cx="1465" cy="226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A2D91D-CE2D-F1FF-0205-995AF7F2B239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 bwMode="gray">
          <a:xfrm>
            <a:off x="1367644" y="1567270"/>
            <a:ext cx="0" cy="188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3C06D92-5CCE-164D-F414-4081620D0BB0}"/>
              </a:ext>
            </a:extLst>
          </p:cNvPr>
          <p:cNvCxnSpPr>
            <a:cxnSpLocks/>
            <a:stCxn id="30" idx="3"/>
            <a:endCxn id="80" idx="1"/>
          </p:cNvCxnSpPr>
          <p:nvPr/>
        </p:nvCxnSpPr>
        <p:spPr bwMode="gray">
          <a:xfrm flipV="1">
            <a:off x="2286721" y="3075832"/>
            <a:ext cx="2557975" cy="11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6B99387-209A-6D48-1DA2-45C959378C1D}"/>
                  </a:ext>
                </a:extLst>
              </p:cNvPr>
              <p:cNvSpPr txBox="1"/>
              <p:nvPr/>
            </p:nvSpPr>
            <p:spPr bwMode="gray">
              <a:xfrm>
                <a:off x="3773557" y="2730998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panose="02040503050406030204" pitchFamily="18" charset="0"/>
                        </a:rPr>
                        <m:t>front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6B99387-209A-6D48-1DA2-45C959378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73557" y="2730998"/>
                <a:ext cx="1020824" cy="435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1944297-8F2E-4BFB-FD88-ED628A5740A8}"/>
              </a:ext>
            </a:extLst>
          </p:cNvPr>
          <p:cNvSpPr txBox="1"/>
          <p:nvPr/>
        </p:nvSpPr>
        <p:spPr bwMode="gray">
          <a:xfrm>
            <a:off x="1183242" y="2331624"/>
            <a:ext cx="368803" cy="34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F8DB0F-7BD3-DD5F-4EC8-32965B3B1921}"/>
              </a:ext>
            </a:extLst>
          </p:cNvPr>
          <p:cNvSpPr txBox="1"/>
          <p:nvPr/>
        </p:nvSpPr>
        <p:spPr bwMode="gray">
          <a:xfrm>
            <a:off x="1550580" y="2331624"/>
            <a:ext cx="368803" cy="34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42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12A163-746A-F964-80CC-043240437AA5}"/>
              </a:ext>
            </a:extLst>
          </p:cNvPr>
          <p:cNvSpPr txBox="1"/>
          <p:nvPr/>
        </p:nvSpPr>
        <p:spPr bwMode="gray">
          <a:xfrm>
            <a:off x="1550580" y="2914700"/>
            <a:ext cx="368803" cy="34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61CE4A-8DA6-A071-875E-1A4239915976}"/>
              </a:ext>
            </a:extLst>
          </p:cNvPr>
          <p:cNvSpPr txBox="1"/>
          <p:nvPr/>
        </p:nvSpPr>
        <p:spPr bwMode="gray">
          <a:xfrm>
            <a:off x="1917918" y="2914700"/>
            <a:ext cx="368803" cy="34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42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108BB8-371E-72C1-A689-528497C4CD38}"/>
              </a:ext>
            </a:extLst>
          </p:cNvPr>
          <p:cNvSpPr txBox="1"/>
          <p:nvPr/>
        </p:nvSpPr>
        <p:spPr bwMode="gray">
          <a:xfrm>
            <a:off x="1183242" y="2914700"/>
            <a:ext cx="368803" cy="34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42DFF7-2685-36DF-2DDC-0403F39FD5E4}"/>
              </a:ext>
            </a:extLst>
          </p:cNvPr>
          <p:cNvSpPr txBox="1"/>
          <p:nvPr/>
        </p:nvSpPr>
        <p:spPr bwMode="gray">
          <a:xfrm>
            <a:off x="1549115" y="3486638"/>
            <a:ext cx="368803" cy="34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1CFD40-DCBC-44FF-F5E6-F078B1213DFB}"/>
              </a:ext>
            </a:extLst>
          </p:cNvPr>
          <p:cNvSpPr txBox="1"/>
          <p:nvPr/>
        </p:nvSpPr>
        <p:spPr bwMode="gray">
          <a:xfrm>
            <a:off x="1181777" y="3486638"/>
            <a:ext cx="368803" cy="34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BB738C-F485-8B41-51DF-D6241ACC322F}"/>
              </a:ext>
            </a:extLst>
          </p:cNvPr>
          <p:cNvSpPr txBox="1"/>
          <p:nvPr/>
        </p:nvSpPr>
        <p:spPr bwMode="gray">
          <a:xfrm>
            <a:off x="1183712" y="4031109"/>
            <a:ext cx="368803" cy="34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1BFA83-1C1B-90BD-DAF9-BF0D842CA6B8}"/>
              </a:ext>
            </a:extLst>
          </p:cNvPr>
          <p:cNvSpPr txBox="1"/>
          <p:nvPr/>
        </p:nvSpPr>
        <p:spPr bwMode="gray">
          <a:xfrm>
            <a:off x="2774933" y="405764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DE" sz="1200" dirty="0" err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ECDBA5-3DC0-E46F-8DCF-740B059876BF}"/>
              </a:ext>
            </a:extLst>
          </p:cNvPr>
          <p:cNvSpPr txBox="1"/>
          <p:nvPr/>
        </p:nvSpPr>
        <p:spPr bwMode="gray">
          <a:xfrm>
            <a:off x="1549115" y="4631587"/>
            <a:ext cx="368803" cy="34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4FE3CC-150E-3E25-1D4E-21EE59CB442F}"/>
              </a:ext>
            </a:extLst>
          </p:cNvPr>
          <p:cNvSpPr txBox="1"/>
          <p:nvPr/>
        </p:nvSpPr>
        <p:spPr bwMode="gray">
          <a:xfrm>
            <a:off x="1181777" y="4631587"/>
            <a:ext cx="368803" cy="34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7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A77036E-E94D-6C38-4CCC-978658066D25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 bwMode="gray">
          <a:xfrm>
            <a:off x="1367644" y="2101125"/>
            <a:ext cx="0" cy="230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29A4FBC-CA0C-2E92-44BE-DF80527DFC94}"/>
                  </a:ext>
                </a:extLst>
              </p:cNvPr>
              <p:cNvSpPr txBox="1"/>
              <p:nvPr/>
            </p:nvSpPr>
            <p:spPr bwMode="gray">
              <a:xfrm>
                <a:off x="2774933" y="1955591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dirty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panose="02040503050406030204" pitchFamily="18" charset="0"/>
                        </a:rPr>
                        <m:t>nqueue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29A4FBC-CA0C-2E92-44BE-DF80527DF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74933" y="1955591"/>
                <a:ext cx="1020824" cy="4356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CE42D80-82BF-A1A1-9856-D974EE627C7E}"/>
                  </a:ext>
                </a:extLst>
              </p:cNvPr>
              <p:cNvSpPr txBox="1"/>
              <p:nvPr/>
            </p:nvSpPr>
            <p:spPr bwMode="gray">
              <a:xfrm>
                <a:off x="2774933" y="2533781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dirty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panose="02040503050406030204" pitchFamily="18" charset="0"/>
                        </a:rPr>
                        <m:t>nqueue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CE42D80-82BF-A1A1-9856-D974EE627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74933" y="2533781"/>
                <a:ext cx="1020824" cy="4356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B33E294-5C9F-19E3-0203-363A2FFFF013}"/>
                  </a:ext>
                </a:extLst>
              </p:cNvPr>
              <p:cNvSpPr txBox="1"/>
              <p:nvPr/>
            </p:nvSpPr>
            <p:spPr bwMode="gray">
              <a:xfrm>
                <a:off x="2774933" y="3173709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panose="02040503050406030204" pitchFamily="18" charset="0"/>
                        </a:rPr>
                        <m:t>dequeue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 ()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B33E294-5C9F-19E3-0203-363A2FFFF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74933" y="3173709"/>
                <a:ext cx="1020824" cy="4356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91C41A7-62D6-2652-06EC-6AA9A6CA600C}"/>
                  </a:ext>
                </a:extLst>
              </p:cNvPr>
              <p:cNvSpPr txBox="1"/>
              <p:nvPr/>
            </p:nvSpPr>
            <p:spPr bwMode="gray">
              <a:xfrm>
                <a:off x="2774933" y="3695614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panose="02040503050406030204" pitchFamily="18" charset="0"/>
                        </a:rPr>
                        <m:t>dequeue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 ()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91C41A7-62D6-2652-06EC-6AA9A6CA6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74933" y="3695614"/>
                <a:ext cx="1020824" cy="4356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40A8D29-3A89-DE16-27EF-4E7146B59221}"/>
                  </a:ext>
                </a:extLst>
              </p:cNvPr>
              <p:cNvSpPr txBox="1"/>
              <p:nvPr/>
            </p:nvSpPr>
            <p:spPr bwMode="gray">
              <a:xfrm>
                <a:off x="2774933" y="4219134"/>
                <a:ext cx="1020824" cy="435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200" dirty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panose="02040503050406030204" pitchFamily="18" charset="0"/>
                        </a:rPr>
                        <m:t>nqueue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DE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40A8D29-3A89-DE16-27EF-4E7146B59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74933" y="4219134"/>
                <a:ext cx="1020824" cy="4356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18E3CDC-98DC-5043-C714-5DBBFC13F254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 bwMode="gray">
          <a:xfrm>
            <a:off x="1366179" y="3831963"/>
            <a:ext cx="1935" cy="199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9B15821-AF37-4D1F-03E4-37914FBF6BC2}"/>
              </a:ext>
            </a:extLst>
          </p:cNvPr>
          <p:cNvCxnSpPr>
            <a:cxnSpLocks/>
            <a:stCxn id="43" idx="2"/>
            <a:endCxn id="49" idx="0"/>
          </p:cNvCxnSpPr>
          <p:nvPr/>
        </p:nvCxnSpPr>
        <p:spPr bwMode="gray">
          <a:xfrm flipH="1">
            <a:off x="1366179" y="4376434"/>
            <a:ext cx="1935" cy="255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1ABA2E6-50FE-59A4-11FF-8F076D0FDEA7}"/>
              </a:ext>
            </a:extLst>
          </p:cNvPr>
          <p:cNvSpPr txBox="1"/>
          <p:nvPr/>
        </p:nvSpPr>
        <p:spPr bwMode="gray">
          <a:xfrm>
            <a:off x="4844696" y="2903169"/>
            <a:ext cx="368803" cy="34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1941614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2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7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34" grpId="0"/>
      <p:bldP spid="64" grpId="0"/>
      <p:bldP spid="21" grpId="0" animBg="1"/>
      <p:bldP spid="24" grpId="0" animBg="1"/>
      <p:bldP spid="28" grpId="0" animBg="1"/>
      <p:bldP spid="30" grpId="0" animBg="1"/>
      <p:bldP spid="33" grpId="0" animBg="1"/>
      <p:bldP spid="36" grpId="0" animBg="1"/>
      <p:bldP spid="39" grpId="0" animBg="1"/>
      <p:bldP spid="43" grpId="0" animBg="1"/>
      <p:bldP spid="46" grpId="0" animBg="1"/>
      <p:bldP spid="49" grpId="0" animBg="1"/>
      <p:bldP spid="63" grpId="0"/>
      <p:bldP spid="65" grpId="0"/>
      <p:bldP spid="70" grpId="0"/>
      <p:bldP spid="71" grpId="0"/>
      <p:bldP spid="72" grpId="0"/>
      <p:bldP spid="8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2F480D-0FEF-2CEC-1008-96C6D371CA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5869408" cy="3492153"/>
          </a:xfrm>
        </p:spPr>
        <p:txBody>
          <a:bodyPr/>
          <a:lstStyle/>
          <a:p>
            <a:r>
              <a:rPr lang="de-DE" b="1" dirty="0"/>
              <a:t>A</a:t>
            </a:r>
            <a:r>
              <a:rPr lang="de-DE" dirty="0"/>
              <a:t>: Man kann eine Warteschlange nicht effizient mit einem Feld implementieren!</a:t>
            </a:r>
          </a:p>
          <a:p>
            <a:endParaRPr lang="de-DE" dirty="0"/>
          </a:p>
          <a:p>
            <a:endParaRPr lang="de-DE" b="1" dirty="0"/>
          </a:p>
          <a:p>
            <a:r>
              <a:rPr lang="de-DE" b="1" dirty="0"/>
              <a:t>B</a:t>
            </a:r>
            <a:r>
              <a:rPr lang="de-DE" dirty="0"/>
              <a:t>:</a:t>
            </a:r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r>
              <a:rPr lang="de-DE" b="1" dirty="0"/>
              <a:t>C</a:t>
            </a:r>
            <a:r>
              <a:rPr lang="de-DE" dirty="0"/>
              <a:t>: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5F0F8D-80F5-C9A3-B07F-2D061A1C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Quiz: Implementierung einer Warteschlange</a:t>
            </a:r>
          </a:p>
        </p:txBody>
      </p:sp>
      <p:sp>
        <p:nvSpPr>
          <p:cNvPr id="4" name="Rechteck 28">
            <a:extLst>
              <a:ext uri="{FF2B5EF4-FFF2-40B4-BE49-F238E27FC236}">
                <a16:creationId xmlns:a16="http://schemas.microsoft.com/office/drawing/2014/main" id="{AA2CFDC2-1587-C332-0504-EF0A2FDBB4AF}"/>
              </a:ext>
            </a:extLst>
          </p:cNvPr>
          <p:cNvSpPr/>
          <p:nvPr/>
        </p:nvSpPr>
        <p:spPr bwMode="gray">
          <a:xfrm>
            <a:off x="6335428" y="1679660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echteck 30">
            <a:extLst>
              <a:ext uri="{FF2B5EF4-FFF2-40B4-BE49-F238E27FC236}">
                <a16:creationId xmlns:a16="http://schemas.microsoft.com/office/drawing/2014/main" id="{13CAC513-3088-D7CF-D85E-C3679D197D34}"/>
              </a:ext>
            </a:extLst>
          </p:cNvPr>
          <p:cNvSpPr/>
          <p:nvPr/>
        </p:nvSpPr>
        <p:spPr bwMode="gray">
          <a:xfrm>
            <a:off x="6335827" y="2883998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8" name="Rechteck 32">
            <a:extLst>
              <a:ext uri="{FF2B5EF4-FFF2-40B4-BE49-F238E27FC236}">
                <a16:creationId xmlns:a16="http://schemas.microsoft.com/office/drawing/2014/main" id="{76C7609E-A0D3-0C60-7760-800463C6722E}"/>
              </a:ext>
            </a:extLst>
          </p:cNvPr>
          <p:cNvSpPr/>
          <p:nvPr/>
        </p:nvSpPr>
        <p:spPr bwMode="gray">
          <a:xfrm>
            <a:off x="6335827" y="1373600"/>
            <a:ext cx="900000" cy="216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Rechteck 33">
            <a:extLst>
              <a:ext uri="{FF2B5EF4-FFF2-40B4-BE49-F238E27FC236}">
                <a16:creationId xmlns:a16="http://schemas.microsoft.com/office/drawing/2014/main" id="{F81CFF3A-83C6-886B-B289-1495E7C83E96}"/>
              </a:ext>
            </a:extLst>
          </p:cNvPr>
          <p:cNvSpPr/>
          <p:nvPr/>
        </p:nvSpPr>
        <p:spPr bwMode="gray">
          <a:xfrm>
            <a:off x="6335827" y="2571750"/>
            <a:ext cx="900000" cy="216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4" name="Rechteck 44">
            <a:extLst>
              <a:ext uri="{FF2B5EF4-FFF2-40B4-BE49-F238E27FC236}">
                <a16:creationId xmlns:a16="http://schemas.microsoft.com/office/drawing/2014/main" id="{70B65003-5064-E901-4CB2-9981E26A7650}"/>
              </a:ext>
            </a:extLst>
          </p:cNvPr>
          <p:cNvSpPr/>
          <p:nvPr/>
        </p:nvSpPr>
        <p:spPr bwMode="gray">
          <a:xfrm>
            <a:off x="6335827" y="4083918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5" name="Rechteck 45">
            <a:extLst>
              <a:ext uri="{FF2B5EF4-FFF2-40B4-BE49-F238E27FC236}">
                <a16:creationId xmlns:a16="http://schemas.microsoft.com/office/drawing/2014/main" id="{0EC552D9-7999-48AA-B8BD-23C1DDDB1EDB}"/>
              </a:ext>
            </a:extLst>
          </p:cNvPr>
          <p:cNvSpPr/>
          <p:nvPr/>
        </p:nvSpPr>
        <p:spPr bwMode="gray">
          <a:xfrm>
            <a:off x="6335827" y="3778125"/>
            <a:ext cx="900000" cy="216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C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D821BD3-417E-DA48-42EE-A47459532BD4}"/>
              </a:ext>
            </a:extLst>
          </p:cNvPr>
          <p:cNvGrpSpPr/>
          <p:nvPr/>
        </p:nvGrpSpPr>
        <p:grpSpPr>
          <a:xfrm>
            <a:off x="1206037" y="2840936"/>
            <a:ext cx="576064" cy="450894"/>
            <a:chOff x="1206037" y="2840936"/>
            <a:chExt cx="576064" cy="45089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7498BE-43AA-4BA2-981D-4465A4811CBE}"/>
                </a:ext>
              </a:extLst>
            </p:cNvPr>
            <p:cNvSpPr/>
            <p:nvPr/>
          </p:nvSpPr>
          <p:spPr bwMode="gray">
            <a:xfrm>
              <a:off x="1206037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it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3332A60-EB30-93F4-189E-A02196716665}"/>
                </a:ext>
              </a:extLst>
            </p:cNvPr>
            <p:cNvSpPr/>
            <p:nvPr/>
          </p:nvSpPr>
          <p:spPr bwMode="gray">
            <a:xfrm>
              <a:off x="1206037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B7431F5-CF9A-4314-5934-9AC3B99D31CA}"/>
              </a:ext>
            </a:extLst>
          </p:cNvPr>
          <p:cNvGrpSpPr/>
          <p:nvPr/>
        </p:nvGrpSpPr>
        <p:grpSpPr>
          <a:xfrm>
            <a:off x="1830905" y="2840936"/>
            <a:ext cx="576064" cy="450894"/>
            <a:chOff x="1830905" y="2840936"/>
            <a:chExt cx="576064" cy="45089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909A19E-F8F6-5B3B-DECD-D39CF568EE74}"/>
                </a:ext>
              </a:extLst>
            </p:cNvPr>
            <p:cNvSpPr/>
            <p:nvPr/>
          </p:nvSpPr>
          <p:spPr bwMode="gray">
            <a:xfrm>
              <a:off x="1830905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was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3DE7D0D-1AD3-1736-19AA-13A990EDC65B}"/>
                </a:ext>
              </a:extLst>
            </p:cNvPr>
            <p:cNvSpPr/>
            <p:nvPr/>
          </p:nvSpPr>
          <p:spPr bwMode="gray">
            <a:xfrm>
              <a:off x="1830905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E283206-6555-291C-3BA0-621F82AF735E}"/>
              </a:ext>
            </a:extLst>
          </p:cNvPr>
          <p:cNvGrpSpPr/>
          <p:nvPr/>
        </p:nvGrpSpPr>
        <p:grpSpPr>
          <a:xfrm>
            <a:off x="2455773" y="2840936"/>
            <a:ext cx="576064" cy="450894"/>
            <a:chOff x="2455773" y="2840936"/>
            <a:chExt cx="576064" cy="45089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8D11362-464F-A3E8-1507-2187B63C5301}"/>
                </a:ext>
              </a:extLst>
            </p:cNvPr>
            <p:cNvSpPr/>
            <p:nvPr/>
          </p:nvSpPr>
          <p:spPr bwMode="gray">
            <a:xfrm>
              <a:off x="2455773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the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DB771EA-E007-81EC-0D8E-8A73822BDA34}"/>
                </a:ext>
              </a:extLst>
            </p:cNvPr>
            <p:cNvSpPr/>
            <p:nvPr/>
          </p:nvSpPr>
          <p:spPr bwMode="gray">
            <a:xfrm>
              <a:off x="2455773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88C840C-5652-F3C4-2646-8D231C560AFA}"/>
              </a:ext>
            </a:extLst>
          </p:cNvPr>
          <p:cNvGrpSpPr/>
          <p:nvPr/>
        </p:nvGrpSpPr>
        <p:grpSpPr>
          <a:xfrm>
            <a:off x="3080641" y="2840936"/>
            <a:ext cx="576064" cy="450894"/>
            <a:chOff x="3080641" y="2840936"/>
            <a:chExt cx="576064" cy="45089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6269E2-62E8-61AB-A3EC-89DDEA399544}"/>
                </a:ext>
              </a:extLst>
            </p:cNvPr>
            <p:cNvSpPr/>
            <p:nvPr/>
          </p:nvSpPr>
          <p:spPr bwMode="gray">
            <a:xfrm>
              <a:off x="3080641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best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E7004A-6ACD-CD3D-8A09-E1C5761DDD08}"/>
                </a:ext>
              </a:extLst>
            </p:cNvPr>
            <p:cNvSpPr/>
            <p:nvPr/>
          </p:nvSpPr>
          <p:spPr bwMode="gray">
            <a:xfrm>
              <a:off x="3080641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0AB82A8-9D80-AF75-BABA-623676717AD4}"/>
              </a:ext>
            </a:extLst>
          </p:cNvPr>
          <p:cNvGrpSpPr/>
          <p:nvPr/>
        </p:nvGrpSpPr>
        <p:grpSpPr>
          <a:xfrm>
            <a:off x="3705509" y="2840936"/>
            <a:ext cx="576064" cy="450894"/>
            <a:chOff x="3705509" y="2840936"/>
            <a:chExt cx="576064" cy="45089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07D17D3-74F0-E126-DC06-6F5701CBE5FB}"/>
                </a:ext>
              </a:extLst>
            </p:cNvPr>
            <p:cNvSpPr/>
            <p:nvPr/>
          </p:nvSpPr>
          <p:spPr bwMode="gray">
            <a:xfrm>
              <a:off x="3705509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of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C7850AC-54BF-BCA1-D021-4B472DFFC23F}"/>
                </a:ext>
              </a:extLst>
            </p:cNvPr>
            <p:cNvSpPr/>
            <p:nvPr/>
          </p:nvSpPr>
          <p:spPr bwMode="gray">
            <a:xfrm>
              <a:off x="3705509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FB78C2F-85FD-1340-9CA9-54DC9B4FF1FA}"/>
              </a:ext>
            </a:extLst>
          </p:cNvPr>
          <p:cNvGrpSpPr/>
          <p:nvPr/>
        </p:nvGrpSpPr>
        <p:grpSpPr>
          <a:xfrm>
            <a:off x="4330377" y="2840936"/>
            <a:ext cx="576064" cy="450894"/>
            <a:chOff x="4330377" y="2840936"/>
            <a:chExt cx="576064" cy="45089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C0EBB67-AEA4-4ACD-76F8-B364A44DC282}"/>
                </a:ext>
              </a:extLst>
            </p:cNvPr>
            <p:cNvSpPr/>
            <p:nvPr/>
          </p:nvSpPr>
          <p:spPr bwMode="gray">
            <a:xfrm>
              <a:off x="4330377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times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D0E8604-367C-2D8D-1473-D1729C65E69F}"/>
                </a:ext>
              </a:extLst>
            </p:cNvPr>
            <p:cNvSpPr/>
            <p:nvPr/>
          </p:nvSpPr>
          <p:spPr bwMode="gray">
            <a:xfrm>
              <a:off x="4330377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E6EB79D-9983-A77E-1343-330C38AD8C58}"/>
              </a:ext>
            </a:extLst>
          </p:cNvPr>
          <p:cNvGrpSpPr/>
          <p:nvPr/>
        </p:nvGrpSpPr>
        <p:grpSpPr>
          <a:xfrm>
            <a:off x="4955245" y="2840936"/>
            <a:ext cx="576064" cy="450894"/>
            <a:chOff x="4955245" y="2840936"/>
            <a:chExt cx="576064" cy="45089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363BBF-0710-75A3-3F9D-D51C61AB1CE9}"/>
                </a:ext>
              </a:extLst>
            </p:cNvPr>
            <p:cNvSpPr/>
            <p:nvPr/>
          </p:nvSpPr>
          <p:spPr bwMode="gray">
            <a:xfrm>
              <a:off x="4955245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09A5085-5E6E-E921-737D-9EB8FB6801A3}"/>
                </a:ext>
              </a:extLst>
            </p:cNvPr>
            <p:cNvSpPr/>
            <p:nvPr/>
          </p:nvSpPr>
          <p:spPr bwMode="gray">
            <a:xfrm>
              <a:off x="4955245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74ED83E-D989-1E47-53F9-A682A956EA61}"/>
              </a:ext>
            </a:extLst>
          </p:cNvPr>
          <p:cNvGrpSpPr/>
          <p:nvPr/>
        </p:nvGrpSpPr>
        <p:grpSpPr>
          <a:xfrm>
            <a:off x="5580112" y="2840936"/>
            <a:ext cx="576064" cy="450894"/>
            <a:chOff x="5580112" y="2840936"/>
            <a:chExt cx="576064" cy="45089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81E0F70-C1FE-BE74-0723-D2A9C7553746}"/>
                </a:ext>
              </a:extLst>
            </p:cNvPr>
            <p:cNvSpPr/>
            <p:nvPr/>
          </p:nvSpPr>
          <p:spPr bwMode="gray">
            <a:xfrm>
              <a:off x="5580112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DBFB17B-A829-79CF-509C-9731014477E3}"/>
                </a:ext>
              </a:extLst>
            </p:cNvPr>
            <p:cNvSpPr/>
            <p:nvPr/>
          </p:nvSpPr>
          <p:spPr bwMode="gray">
            <a:xfrm>
              <a:off x="5580112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9706CCE-FBB8-24A6-70E7-C8DAD9EC8F5A}"/>
              </a:ext>
            </a:extLst>
          </p:cNvPr>
          <p:cNvGrpSpPr/>
          <p:nvPr/>
        </p:nvGrpSpPr>
        <p:grpSpPr>
          <a:xfrm>
            <a:off x="1206037" y="4065694"/>
            <a:ext cx="576064" cy="450894"/>
            <a:chOff x="1206037" y="4065694"/>
            <a:chExt cx="576064" cy="45089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8D80912-8B9C-B33E-20C4-A8D0F30404EE}"/>
                </a:ext>
              </a:extLst>
            </p:cNvPr>
            <p:cNvSpPr/>
            <p:nvPr/>
          </p:nvSpPr>
          <p:spPr bwMode="gray">
            <a:xfrm>
              <a:off x="1206037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times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7094133-397E-DDE3-B7FF-B24F518F63FE}"/>
                </a:ext>
              </a:extLst>
            </p:cNvPr>
            <p:cNvSpPr/>
            <p:nvPr/>
          </p:nvSpPr>
          <p:spPr bwMode="gray">
            <a:xfrm>
              <a:off x="1206037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78EF994-CEE9-85B6-7C81-3D886526A08E}"/>
              </a:ext>
            </a:extLst>
          </p:cNvPr>
          <p:cNvGrpSpPr/>
          <p:nvPr/>
        </p:nvGrpSpPr>
        <p:grpSpPr>
          <a:xfrm>
            <a:off x="1830905" y="4065694"/>
            <a:ext cx="576064" cy="450894"/>
            <a:chOff x="1830905" y="4065694"/>
            <a:chExt cx="576064" cy="450894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707849A-FF76-4833-7085-DE324A07F31E}"/>
                </a:ext>
              </a:extLst>
            </p:cNvPr>
            <p:cNvSpPr/>
            <p:nvPr/>
          </p:nvSpPr>
          <p:spPr bwMode="gray">
            <a:xfrm>
              <a:off x="1830905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of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39A58DE-32E9-2999-A76C-F60D21FBEC49}"/>
                </a:ext>
              </a:extLst>
            </p:cNvPr>
            <p:cNvSpPr/>
            <p:nvPr/>
          </p:nvSpPr>
          <p:spPr bwMode="gray">
            <a:xfrm>
              <a:off x="1830905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291A3F5-3720-B874-4245-757879E8457C}"/>
              </a:ext>
            </a:extLst>
          </p:cNvPr>
          <p:cNvGrpSpPr/>
          <p:nvPr/>
        </p:nvGrpSpPr>
        <p:grpSpPr>
          <a:xfrm>
            <a:off x="2455773" y="4065694"/>
            <a:ext cx="576064" cy="450894"/>
            <a:chOff x="2455773" y="4065694"/>
            <a:chExt cx="576064" cy="450894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65A8FEA-F328-76D3-D3F5-BA6B9EB3A080}"/>
                </a:ext>
              </a:extLst>
            </p:cNvPr>
            <p:cNvSpPr/>
            <p:nvPr/>
          </p:nvSpPr>
          <p:spPr bwMode="gray">
            <a:xfrm>
              <a:off x="2455773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best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A5E6CA0-1118-4B09-3EDD-376B823E56FA}"/>
                </a:ext>
              </a:extLst>
            </p:cNvPr>
            <p:cNvSpPr/>
            <p:nvPr/>
          </p:nvSpPr>
          <p:spPr bwMode="gray">
            <a:xfrm>
              <a:off x="2455773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300F459-48C6-40A2-1DD5-C77F83466960}"/>
              </a:ext>
            </a:extLst>
          </p:cNvPr>
          <p:cNvGrpSpPr/>
          <p:nvPr/>
        </p:nvGrpSpPr>
        <p:grpSpPr>
          <a:xfrm>
            <a:off x="3080641" y="4065694"/>
            <a:ext cx="576064" cy="450894"/>
            <a:chOff x="3080641" y="4065694"/>
            <a:chExt cx="576064" cy="45089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7354EDA-1141-D4C4-E312-9075791E2BB2}"/>
                </a:ext>
              </a:extLst>
            </p:cNvPr>
            <p:cNvSpPr/>
            <p:nvPr/>
          </p:nvSpPr>
          <p:spPr bwMode="gray">
            <a:xfrm>
              <a:off x="3080641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the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D55AA58-0D4A-525B-B48B-2147B8BD64F1}"/>
                </a:ext>
              </a:extLst>
            </p:cNvPr>
            <p:cNvSpPr/>
            <p:nvPr/>
          </p:nvSpPr>
          <p:spPr bwMode="gray">
            <a:xfrm>
              <a:off x="3080641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8110FFC-FD92-BF15-8597-AC3EBF582863}"/>
              </a:ext>
            </a:extLst>
          </p:cNvPr>
          <p:cNvGrpSpPr/>
          <p:nvPr/>
        </p:nvGrpSpPr>
        <p:grpSpPr>
          <a:xfrm>
            <a:off x="3705509" y="4065694"/>
            <a:ext cx="576064" cy="450894"/>
            <a:chOff x="3705509" y="4065694"/>
            <a:chExt cx="576064" cy="45089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837C31-4A55-A3AD-328C-7374EE91F626}"/>
                </a:ext>
              </a:extLst>
            </p:cNvPr>
            <p:cNvSpPr/>
            <p:nvPr/>
          </p:nvSpPr>
          <p:spPr bwMode="gray">
            <a:xfrm>
              <a:off x="3705509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was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0075E57-9BD1-94ED-1DB3-C8A7325CDDB6}"/>
                </a:ext>
              </a:extLst>
            </p:cNvPr>
            <p:cNvSpPr/>
            <p:nvPr/>
          </p:nvSpPr>
          <p:spPr bwMode="gray">
            <a:xfrm>
              <a:off x="3705509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E627173-B430-41BD-72DB-174D33067260}"/>
              </a:ext>
            </a:extLst>
          </p:cNvPr>
          <p:cNvGrpSpPr/>
          <p:nvPr/>
        </p:nvGrpSpPr>
        <p:grpSpPr>
          <a:xfrm>
            <a:off x="4330377" y="4065694"/>
            <a:ext cx="576064" cy="450894"/>
            <a:chOff x="4330377" y="4065694"/>
            <a:chExt cx="576064" cy="450894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3B6BAF5-6BA8-2D6D-90B4-0247B02951EE}"/>
                </a:ext>
              </a:extLst>
            </p:cNvPr>
            <p:cNvSpPr/>
            <p:nvPr/>
          </p:nvSpPr>
          <p:spPr bwMode="gray">
            <a:xfrm>
              <a:off x="4330377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it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3A21E7A-610E-17E0-2C66-15630FA2D2F2}"/>
                </a:ext>
              </a:extLst>
            </p:cNvPr>
            <p:cNvSpPr/>
            <p:nvPr/>
          </p:nvSpPr>
          <p:spPr bwMode="gray">
            <a:xfrm>
              <a:off x="4330377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C087823-3AC1-0459-5314-67DB0DD6C069}"/>
              </a:ext>
            </a:extLst>
          </p:cNvPr>
          <p:cNvGrpSpPr/>
          <p:nvPr/>
        </p:nvGrpSpPr>
        <p:grpSpPr>
          <a:xfrm>
            <a:off x="4955245" y="4065694"/>
            <a:ext cx="576064" cy="450894"/>
            <a:chOff x="4955245" y="4065694"/>
            <a:chExt cx="576064" cy="45089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4427029-1B21-BFE2-1D12-02F1987CA3B7}"/>
                </a:ext>
              </a:extLst>
            </p:cNvPr>
            <p:cNvSpPr/>
            <p:nvPr/>
          </p:nvSpPr>
          <p:spPr bwMode="gray">
            <a:xfrm>
              <a:off x="4955245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AD9B58C-2584-6DA1-31C6-4CA774FCB391}"/>
                </a:ext>
              </a:extLst>
            </p:cNvPr>
            <p:cNvSpPr/>
            <p:nvPr/>
          </p:nvSpPr>
          <p:spPr bwMode="gray">
            <a:xfrm>
              <a:off x="4955245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BD0B261-4962-C96D-5BA2-79C72FD9FB11}"/>
              </a:ext>
            </a:extLst>
          </p:cNvPr>
          <p:cNvGrpSpPr/>
          <p:nvPr/>
        </p:nvGrpSpPr>
        <p:grpSpPr>
          <a:xfrm>
            <a:off x="5580112" y="4065694"/>
            <a:ext cx="576064" cy="450894"/>
            <a:chOff x="5580112" y="4065694"/>
            <a:chExt cx="576064" cy="45089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7E5DDED-AFF8-B34C-14F8-347084CD90A0}"/>
                </a:ext>
              </a:extLst>
            </p:cNvPr>
            <p:cNvSpPr/>
            <p:nvPr/>
          </p:nvSpPr>
          <p:spPr bwMode="gray">
            <a:xfrm>
              <a:off x="5580112" y="4065694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1B58551-269F-9191-DFF6-45827AD3E44A}"/>
                </a:ext>
              </a:extLst>
            </p:cNvPr>
            <p:cNvSpPr/>
            <p:nvPr/>
          </p:nvSpPr>
          <p:spPr bwMode="gray">
            <a:xfrm>
              <a:off x="5580112" y="4372572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6C25B9B-720E-64B6-C989-2CDEA4F7FCB7}"/>
              </a:ext>
            </a:extLst>
          </p:cNvPr>
          <p:cNvCxnSpPr>
            <a:cxnSpLocks/>
            <a:endCxn id="21" idx="0"/>
          </p:cNvCxnSpPr>
          <p:nvPr/>
        </p:nvCxnSpPr>
        <p:spPr bwMode="gray">
          <a:xfrm>
            <a:off x="4618409" y="2373950"/>
            <a:ext cx="0" cy="4669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5DE0D68-3A2C-A918-910F-529509AC9B58}"/>
              </a:ext>
            </a:extLst>
          </p:cNvPr>
          <p:cNvSpPr txBox="1"/>
          <p:nvPr/>
        </p:nvSpPr>
        <p:spPr bwMode="gray">
          <a:xfrm>
            <a:off x="4107997" y="2139702"/>
            <a:ext cx="1020824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dirty="0"/>
              <a:t>Ende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1804A5-F54F-D0F6-407A-B2F20149B597}"/>
              </a:ext>
            </a:extLst>
          </p:cNvPr>
          <p:cNvCxnSpPr>
            <a:cxnSpLocks/>
          </p:cNvCxnSpPr>
          <p:nvPr/>
        </p:nvCxnSpPr>
        <p:spPr bwMode="gray">
          <a:xfrm>
            <a:off x="1515366" y="3579862"/>
            <a:ext cx="0" cy="4669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936A0E2-788E-22D7-CD87-BFC9088995DF}"/>
              </a:ext>
            </a:extLst>
          </p:cNvPr>
          <p:cNvSpPr txBox="1"/>
          <p:nvPr/>
        </p:nvSpPr>
        <p:spPr bwMode="gray">
          <a:xfrm>
            <a:off x="1004954" y="3345614"/>
            <a:ext cx="1020824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dirty="0"/>
              <a:t>Ende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AFA47F-077B-B492-3380-C3E7DAA8FC0D}"/>
              </a:ext>
            </a:extLst>
          </p:cNvPr>
          <p:cNvCxnSpPr>
            <a:cxnSpLocks/>
            <a:endCxn id="16" idx="0"/>
          </p:cNvCxnSpPr>
          <p:nvPr/>
        </p:nvCxnSpPr>
        <p:spPr bwMode="gray">
          <a:xfrm flipH="1">
            <a:off x="1494069" y="2373950"/>
            <a:ext cx="1" cy="4669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6F927C4-70FF-30E5-1B22-E11338F20D03}"/>
              </a:ext>
            </a:extLst>
          </p:cNvPr>
          <p:cNvSpPr txBox="1"/>
          <p:nvPr/>
        </p:nvSpPr>
        <p:spPr bwMode="gray">
          <a:xfrm>
            <a:off x="1017778" y="2139702"/>
            <a:ext cx="1020824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dirty="0"/>
              <a:t>Anfang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9C7E96-A4B0-A7F7-EB32-4CF3AB27AF7F}"/>
              </a:ext>
            </a:extLst>
          </p:cNvPr>
          <p:cNvCxnSpPr>
            <a:cxnSpLocks/>
          </p:cNvCxnSpPr>
          <p:nvPr/>
        </p:nvCxnSpPr>
        <p:spPr bwMode="gray">
          <a:xfrm>
            <a:off x="4637587" y="3605509"/>
            <a:ext cx="0" cy="4669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60BD884-AB62-FA8F-F2BA-A104A5F023B3}"/>
              </a:ext>
            </a:extLst>
          </p:cNvPr>
          <p:cNvSpPr txBox="1"/>
          <p:nvPr/>
        </p:nvSpPr>
        <p:spPr bwMode="gray">
          <a:xfrm>
            <a:off x="4127175" y="3371261"/>
            <a:ext cx="1020824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dirty="0"/>
              <a:t>Anfang</a:t>
            </a:r>
          </a:p>
        </p:txBody>
      </p:sp>
    </p:spTree>
    <p:extLst>
      <p:ext uri="{BB962C8B-B14F-4D97-AF65-F5344CB8AC3E}">
        <p14:creationId xmlns:p14="http://schemas.microsoft.com/office/powerpoint/2010/main" val="19453790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8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1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1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0"/>
                            </p:stCondLst>
                            <p:childTnLst>
                              <p:par>
                                <p:cTn id="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1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00"/>
                            </p:stCondLst>
                            <p:childTnLst>
                              <p:par>
                                <p:cTn id="8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1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1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200"/>
                            </p:stCondLst>
                            <p:childTnLst>
                              <p:par>
                                <p:cTn id="9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1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3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8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4" grpId="0" animBg="1"/>
      <p:bldP spid="15" grpId="0" animBg="1"/>
      <p:bldP spid="53" grpId="0"/>
      <p:bldP spid="57" grpId="0"/>
      <p:bldP spid="7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6FA1FB-45E0-6FE6-90C5-55E6FA18C5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597600" cy="3563938"/>
          </a:xfrm>
        </p:spPr>
        <p:txBody>
          <a:bodyPr/>
          <a:lstStyle/>
          <a:p>
            <a:r>
              <a:rPr lang="de-DE" b="1" dirty="0"/>
              <a:t>Feste Größe</a:t>
            </a:r>
            <a:r>
              <a:rPr lang="de-DE" dirty="0"/>
              <a:t>: Benutze ein Feld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de-DE" dirty="0"/>
              <a:t> um die Elemente in der Warteschlange zu speichern.</a:t>
            </a:r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pPr lvl="1"/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62F885-634A-11F7-F73B-B1FB55EE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 einer Warteschlange mit Feldern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65B07-7D6D-3995-8CB2-52856FD71817}"/>
              </a:ext>
            </a:extLst>
          </p:cNvPr>
          <p:cNvSpPr txBox="1"/>
          <p:nvPr/>
        </p:nvSpPr>
        <p:spPr bwMode="gray">
          <a:xfrm>
            <a:off x="611560" y="2264872"/>
            <a:ext cx="473190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DE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61D6F5-83D2-B949-4EC3-A465952B39E9}"/>
              </a:ext>
            </a:extLst>
          </p:cNvPr>
          <p:cNvSpPr txBox="1"/>
          <p:nvPr/>
        </p:nvSpPr>
        <p:spPr bwMode="gray">
          <a:xfrm>
            <a:off x="4185378" y="2715766"/>
            <a:ext cx="473190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endParaRPr lang="en-DE" sz="1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DE2443-47D1-7E21-D01D-5FBC8D445F04}"/>
              </a:ext>
            </a:extLst>
          </p:cNvPr>
          <p:cNvSpPr txBox="1"/>
          <p:nvPr/>
        </p:nvSpPr>
        <p:spPr bwMode="gray">
          <a:xfrm>
            <a:off x="1245226" y="3446477"/>
            <a:ext cx="4219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hlinkClick r:id="rId2"/>
              </a:rPr>
              <a:t>queue.h</a:t>
            </a:r>
            <a:endParaRPr lang="en-US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A9CF56-31CA-5A35-DD89-4498D0D4D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80" y="1601779"/>
            <a:ext cx="2577259" cy="3250931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F9DD577-DED9-BBF3-FDA3-B2CFA4D16777}"/>
              </a:ext>
            </a:extLst>
          </p:cNvPr>
          <p:cNvGrpSpPr/>
          <p:nvPr/>
        </p:nvGrpSpPr>
        <p:grpSpPr>
          <a:xfrm>
            <a:off x="1015843" y="2264872"/>
            <a:ext cx="576064" cy="450894"/>
            <a:chOff x="1206037" y="2840936"/>
            <a:chExt cx="576064" cy="4508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4CCD010-E8D1-4E5C-C8C1-D8887C4F6BD0}"/>
                </a:ext>
              </a:extLst>
            </p:cNvPr>
            <p:cNvSpPr/>
            <p:nvPr/>
          </p:nvSpPr>
          <p:spPr bwMode="gray">
            <a:xfrm>
              <a:off x="1206037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11B078-C9BA-7164-EC5A-B03E274FBFA3}"/>
                </a:ext>
              </a:extLst>
            </p:cNvPr>
            <p:cNvSpPr/>
            <p:nvPr/>
          </p:nvSpPr>
          <p:spPr bwMode="gray">
            <a:xfrm>
              <a:off x="1206037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51FF4B8-3AD2-6BA8-88E0-5093AB127F4B}"/>
              </a:ext>
            </a:extLst>
          </p:cNvPr>
          <p:cNvGrpSpPr/>
          <p:nvPr/>
        </p:nvGrpSpPr>
        <p:grpSpPr>
          <a:xfrm>
            <a:off x="1640711" y="2264872"/>
            <a:ext cx="576064" cy="450894"/>
            <a:chOff x="1830905" y="2840936"/>
            <a:chExt cx="576064" cy="45089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77F3F3-45B0-96BA-6C84-79D2877FE57C}"/>
                </a:ext>
              </a:extLst>
            </p:cNvPr>
            <p:cNvSpPr/>
            <p:nvPr/>
          </p:nvSpPr>
          <p:spPr bwMode="gray">
            <a:xfrm>
              <a:off x="1830905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DD0407-8BD6-F669-30C8-41E41CCE9607}"/>
                </a:ext>
              </a:extLst>
            </p:cNvPr>
            <p:cNvSpPr/>
            <p:nvPr/>
          </p:nvSpPr>
          <p:spPr bwMode="gray">
            <a:xfrm>
              <a:off x="1830905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BFD6F47-07E7-D635-1EAE-E74AF2FBE519}"/>
              </a:ext>
            </a:extLst>
          </p:cNvPr>
          <p:cNvGrpSpPr/>
          <p:nvPr/>
        </p:nvGrpSpPr>
        <p:grpSpPr>
          <a:xfrm>
            <a:off x="2265579" y="2264872"/>
            <a:ext cx="576064" cy="450894"/>
            <a:chOff x="2455773" y="2840936"/>
            <a:chExt cx="576064" cy="45089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E60A1F-7701-D97D-84B4-BD0A31F5E89D}"/>
                </a:ext>
              </a:extLst>
            </p:cNvPr>
            <p:cNvSpPr/>
            <p:nvPr/>
          </p:nvSpPr>
          <p:spPr bwMode="gray">
            <a:xfrm>
              <a:off x="2455773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the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DB1EE7D-AFE7-B042-5D84-A4521382E7C1}"/>
                </a:ext>
              </a:extLst>
            </p:cNvPr>
            <p:cNvSpPr/>
            <p:nvPr/>
          </p:nvSpPr>
          <p:spPr bwMode="gray">
            <a:xfrm>
              <a:off x="2455773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48289C-F4C1-2B6F-B32D-634EBACCEAC3}"/>
              </a:ext>
            </a:extLst>
          </p:cNvPr>
          <p:cNvGrpSpPr/>
          <p:nvPr/>
        </p:nvGrpSpPr>
        <p:grpSpPr>
          <a:xfrm>
            <a:off x="2890447" y="2264872"/>
            <a:ext cx="576064" cy="450894"/>
            <a:chOff x="3080641" y="2840936"/>
            <a:chExt cx="576064" cy="45089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4D12CBE-DFF2-1759-42E4-E9E87BECD426}"/>
                </a:ext>
              </a:extLst>
            </p:cNvPr>
            <p:cNvSpPr/>
            <p:nvPr/>
          </p:nvSpPr>
          <p:spPr bwMode="gray">
            <a:xfrm>
              <a:off x="3080641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best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C77545-791D-E7D3-8B88-73A6C6D4F7CF}"/>
                </a:ext>
              </a:extLst>
            </p:cNvPr>
            <p:cNvSpPr/>
            <p:nvPr/>
          </p:nvSpPr>
          <p:spPr bwMode="gray">
            <a:xfrm>
              <a:off x="3080641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753284-5324-236C-5B89-2B993F112C81}"/>
              </a:ext>
            </a:extLst>
          </p:cNvPr>
          <p:cNvGrpSpPr/>
          <p:nvPr/>
        </p:nvGrpSpPr>
        <p:grpSpPr>
          <a:xfrm>
            <a:off x="3515315" y="2264872"/>
            <a:ext cx="576064" cy="450894"/>
            <a:chOff x="3705509" y="2840936"/>
            <a:chExt cx="576064" cy="45089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17D486F-92D8-C35B-9B29-56AA0DF8E32B}"/>
                </a:ext>
              </a:extLst>
            </p:cNvPr>
            <p:cNvSpPr/>
            <p:nvPr/>
          </p:nvSpPr>
          <p:spPr bwMode="gray">
            <a:xfrm>
              <a:off x="3705509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of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266591D-9B5F-831F-1327-47E2C8210691}"/>
                </a:ext>
              </a:extLst>
            </p:cNvPr>
            <p:cNvSpPr/>
            <p:nvPr/>
          </p:nvSpPr>
          <p:spPr bwMode="gray">
            <a:xfrm>
              <a:off x="3705509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65B6B-1749-E948-BA9A-D833EBE7F5DE}"/>
              </a:ext>
            </a:extLst>
          </p:cNvPr>
          <p:cNvGrpSpPr/>
          <p:nvPr/>
        </p:nvGrpSpPr>
        <p:grpSpPr>
          <a:xfrm>
            <a:off x="4140183" y="2264872"/>
            <a:ext cx="576064" cy="450894"/>
            <a:chOff x="4330377" y="2840936"/>
            <a:chExt cx="576064" cy="45089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F181F09-6C88-91AA-0898-668926D86ECB}"/>
                </a:ext>
              </a:extLst>
            </p:cNvPr>
            <p:cNvSpPr/>
            <p:nvPr/>
          </p:nvSpPr>
          <p:spPr bwMode="gray">
            <a:xfrm>
              <a:off x="4330377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times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CE764A6-E915-DCCB-9DA6-F5C94BA8AECB}"/>
                </a:ext>
              </a:extLst>
            </p:cNvPr>
            <p:cNvSpPr/>
            <p:nvPr/>
          </p:nvSpPr>
          <p:spPr bwMode="gray">
            <a:xfrm>
              <a:off x="4330377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F5CFCD-C400-0F1B-1A5A-43F71CAD3544}"/>
              </a:ext>
            </a:extLst>
          </p:cNvPr>
          <p:cNvGrpSpPr/>
          <p:nvPr/>
        </p:nvGrpSpPr>
        <p:grpSpPr>
          <a:xfrm>
            <a:off x="4765051" y="2264872"/>
            <a:ext cx="576064" cy="450894"/>
            <a:chOff x="4955245" y="2840936"/>
            <a:chExt cx="576064" cy="45089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07B93FC-AA00-2236-13D2-08CBF1F38F33}"/>
                </a:ext>
              </a:extLst>
            </p:cNvPr>
            <p:cNvSpPr/>
            <p:nvPr/>
          </p:nvSpPr>
          <p:spPr bwMode="gray">
            <a:xfrm>
              <a:off x="4955245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21FD4BF-F1EF-CEEC-AB91-DB9E0214777A}"/>
                </a:ext>
              </a:extLst>
            </p:cNvPr>
            <p:cNvSpPr/>
            <p:nvPr/>
          </p:nvSpPr>
          <p:spPr bwMode="gray">
            <a:xfrm>
              <a:off x="4955245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981913E-A14B-A6BD-1ED3-EE966998BE33}"/>
              </a:ext>
            </a:extLst>
          </p:cNvPr>
          <p:cNvGrpSpPr/>
          <p:nvPr/>
        </p:nvGrpSpPr>
        <p:grpSpPr>
          <a:xfrm>
            <a:off x="5389918" y="2264872"/>
            <a:ext cx="576064" cy="450894"/>
            <a:chOff x="5580112" y="2840936"/>
            <a:chExt cx="576064" cy="45089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DFE9690-CBA8-A666-B979-50B74C669186}"/>
                </a:ext>
              </a:extLst>
            </p:cNvPr>
            <p:cNvSpPr/>
            <p:nvPr/>
          </p:nvSpPr>
          <p:spPr bwMode="gray">
            <a:xfrm>
              <a:off x="5580112" y="2840936"/>
              <a:ext cx="576064" cy="2880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i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913EFCB-E8DA-42C9-CCB9-F53F25980C00}"/>
                </a:ext>
              </a:extLst>
            </p:cNvPr>
            <p:cNvSpPr/>
            <p:nvPr/>
          </p:nvSpPr>
          <p:spPr bwMode="gray">
            <a:xfrm>
              <a:off x="5580112" y="3147814"/>
              <a:ext cx="576064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dirty="0">
                  <a:solidFill>
                    <a:schemeClr val="tx1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56EC3C-B314-334A-0292-5CB18EB7813E}"/>
              </a:ext>
            </a:extLst>
          </p:cNvPr>
          <p:cNvCxnSpPr>
            <a:cxnSpLocks/>
            <a:endCxn id="21" idx="0"/>
          </p:cNvCxnSpPr>
          <p:nvPr/>
        </p:nvCxnSpPr>
        <p:spPr bwMode="gray">
          <a:xfrm>
            <a:off x="4428215" y="1797886"/>
            <a:ext cx="0" cy="4669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3D7FF64-90F6-A2A9-F604-BA620A80505E}"/>
              </a:ext>
            </a:extLst>
          </p:cNvPr>
          <p:cNvSpPr txBox="1"/>
          <p:nvPr/>
        </p:nvSpPr>
        <p:spPr bwMode="gray">
          <a:xfrm>
            <a:off x="3917803" y="1563638"/>
            <a:ext cx="1020824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dirty="0"/>
              <a:t>Ende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0D2244F-D1F8-B04A-4294-C6C3818681B4}"/>
              </a:ext>
            </a:extLst>
          </p:cNvPr>
          <p:cNvCxnSpPr>
            <a:cxnSpLocks/>
          </p:cNvCxnSpPr>
          <p:nvPr/>
        </p:nvCxnSpPr>
        <p:spPr bwMode="gray">
          <a:xfrm flipH="1">
            <a:off x="2587307" y="1797886"/>
            <a:ext cx="1" cy="4669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3836052-4510-531F-6108-3615925701A3}"/>
              </a:ext>
            </a:extLst>
          </p:cNvPr>
          <p:cNvSpPr txBox="1"/>
          <p:nvPr/>
        </p:nvSpPr>
        <p:spPr bwMode="gray">
          <a:xfrm>
            <a:off x="2111016" y="1563638"/>
            <a:ext cx="1020824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dirty="0"/>
              <a:t>Anfang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EBBABC-49D1-4DBA-F75F-69BF491D1E07}"/>
              </a:ext>
            </a:extLst>
          </p:cNvPr>
          <p:cNvSpPr txBox="1"/>
          <p:nvPr/>
        </p:nvSpPr>
        <p:spPr bwMode="gray">
          <a:xfrm>
            <a:off x="2320949" y="2715766"/>
            <a:ext cx="473190" cy="288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endParaRPr lang="en-DE" sz="1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373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3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7" grpId="0"/>
      <p:bldP spid="61" grpId="0"/>
      <p:bldP spid="58" grpId="0"/>
      <p:bldP spid="62" grpId="0"/>
      <p:bldP spid="6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Abstrakte Datentypen</a:t>
            </a:r>
          </a:p>
          <a:p>
            <a:pPr marL="342900" indent="-342900"/>
            <a:r>
              <a:rPr lang="de-DE" altLang="en-DE" dirty="0"/>
              <a:t>Stapel (</a:t>
            </a:r>
            <a:r>
              <a:rPr lang="en-US" altLang="en-DE" i="1" dirty="0"/>
              <a:t>stacks</a:t>
            </a:r>
            <a:r>
              <a:rPr lang="de-DE" altLang="en-DE" dirty="0"/>
              <a:t>)</a:t>
            </a:r>
          </a:p>
          <a:p>
            <a:pPr marL="614125" lvl="1" indent="-342900"/>
            <a:r>
              <a:rPr lang="de-DE" altLang="en-DE" dirty="0"/>
              <a:t>Auswertung Arithmetischer Ausdrücke</a:t>
            </a:r>
          </a:p>
          <a:p>
            <a:pPr marL="342900" indent="-342900"/>
            <a:r>
              <a:rPr lang="de-DE" altLang="en-DE" dirty="0"/>
              <a:t>Warteschlangen (</a:t>
            </a:r>
            <a:r>
              <a:rPr lang="en-US" altLang="en-DE" i="1" dirty="0"/>
              <a:t>queue</a:t>
            </a:r>
            <a:r>
              <a:rPr lang="de-DE" altLang="en-DE" dirty="0"/>
              <a:t>)</a:t>
            </a:r>
          </a:p>
          <a:p>
            <a:pPr marL="342900" indent="-342900"/>
            <a:r>
              <a:rPr lang="de-DE" altLang="en-DE" b="1" dirty="0"/>
              <a:t>Listen (</a:t>
            </a:r>
            <a:r>
              <a:rPr lang="en-US" altLang="en-DE" b="1" i="1" dirty="0"/>
              <a:t>lists</a:t>
            </a:r>
            <a:r>
              <a:rPr lang="de-DE" altLang="en-DE" b="1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99176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B3511E-523E-8F07-CEA6-543EB9A1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Liste as Abstrakter Datentyp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73D8BFCF-8909-43BB-93A0-6C60EED4A55B}"/>
                  </a:ext>
                </a:extLst>
              </p:cNvPr>
              <p:cNvSpPr/>
              <p:nvPr/>
            </p:nvSpPr>
            <p:spPr>
              <a:xfrm>
                <a:off x="683568" y="1800099"/>
                <a:ext cx="6372200" cy="2976199"/>
              </a:xfrm>
              <a:prstGeom prst="rect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type</a:t>
                </a:r>
                <a:r>
                  <a:rPr lang="de-DE" altLang="de-DE" sz="1400" dirty="0"/>
                  <a:t> List(T)</a:t>
                </a:r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operators</a:t>
                </a:r>
                <a:endParaRPr lang="de-DE" altLang="de-DE" sz="1400" b="1" dirty="0">
                  <a:cs typeface="Courier New" panose="02070309020205020404" pitchFamily="49" charset="0"/>
                </a:endParaRPr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empty</m:t>
                    </m:r>
                    <m:r>
                      <a:rPr lang="de-DE" altLang="de-DE" sz="140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List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empty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List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de-DE" altLang="de-DE" sz="1400" dirty="0" err="1">
                        <a:latin typeface="Cambria Math" panose="02040503050406030204" pitchFamily="18" charset="0"/>
                      </a:rPr>
                      <m:t>Bool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add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List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× 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List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i="0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ead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List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tail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List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List</m:t>
                    </m:r>
                  </m:oMath>
                </a14:m>
                <a:endParaRPr lang="de-DE" altLang="de-DE" sz="1400" dirty="0"/>
              </a:p>
              <a:p>
                <a:r>
                  <a:rPr lang="de-DE" altLang="de-DE" sz="1400" dirty="0"/>
                  <a:t>	</a:t>
                </a:r>
                <a:r>
                  <a:rPr lang="de-DE" altLang="de-DE" sz="1400" b="1" dirty="0" err="1">
                    <a:cs typeface="Courier New" panose="02070309020205020404" pitchFamily="49" charset="0"/>
                  </a:rPr>
                  <a:t>axioms</a:t>
                </a:r>
                <a:endParaRPr lang="de-DE" altLang="de-DE" sz="1400" b="1" dirty="0">
                  <a:cs typeface="Courier New" panose="02070309020205020404" pitchFamily="49" charset="0"/>
                </a:endParaRPr>
              </a:p>
              <a:p>
                <a:r>
                  <a:rPr lang="de-DE" altLang="de-DE" sz="1400" b="1" dirty="0">
                    <a:cs typeface="Courier New" panose="020703090202050204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List</m:t>
                    </m:r>
                    <m: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head</m:t>
                    </m:r>
                    <m:d>
                      <m:dPr>
                        <m:ctrlPr>
                          <a:rPr lang="en-US" altLang="de-DE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b="0" i="0" dirty="0" smtClean="0">
                            <a:latin typeface="Cambria Math" panose="02040503050406030204" pitchFamily="18" charset="0"/>
                          </a:rPr>
                          <m:t>add</m:t>
                        </m:r>
                        <m:d>
                          <m:dPr>
                            <m:ctrlP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de-DE" altLang="de-DE" sz="1400" dirty="0"/>
              </a:p>
              <a:p>
                <a:r>
                  <a:rPr lang="en-US" altLang="de-DE" sz="1400" dirty="0"/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List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tail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b="0" i="0" dirty="0" smtClean="0">
                            <a:latin typeface="Cambria Math" panose="02040503050406030204" pitchFamily="18" charset="0"/>
                          </a:rPr>
                          <m:t>add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de-DE" altLang="de-DE" sz="1400" dirty="0"/>
              </a:p>
              <a:p>
                <a:r>
                  <a:rPr lang="en-US" altLang="de-DE" sz="1400" dirty="0"/>
                  <a:t>		</a:t>
                </a:r>
                <a14:m>
                  <m:oMath xmlns:m="http://schemas.openxmlformats.org/officeDocument/2006/math"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de-DE" sz="14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List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altLang="de-DE" sz="1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empty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b="0" i="0" dirty="0" smtClean="0">
                            <a:latin typeface="Cambria Math" panose="02040503050406030204" pitchFamily="18" charset="0"/>
                          </a:rPr>
                          <m:t>add</m:t>
                        </m:r>
                        <m:d>
                          <m:dPr>
                            <m:ctrlP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de-DE" sz="1400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de-DE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false</m:t>
                    </m:r>
                  </m:oMath>
                </a14:m>
                <a:endParaRPr lang="de-DE" altLang="de-DE" sz="1400" dirty="0"/>
              </a:p>
              <a:p>
                <a:r>
                  <a:rPr lang="en-US" altLang="de-DE" sz="1400" dirty="0"/>
                  <a:t>		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de-DE" sz="1400" dirty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de-DE" sz="1400" dirty="0">
                        <a:latin typeface="Cambria Math" panose="02040503050406030204" pitchFamily="18" charset="0"/>
                      </a:rPr>
                      <m:t>empty</m:t>
                    </m:r>
                    <m:d>
                      <m:dPr>
                        <m:ctrlPr>
                          <a:rPr lang="en-US" altLang="de-DE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de-DE" sz="1400" b="0" i="0" dirty="0" smtClean="0">
                            <a:latin typeface="Cambria Math" panose="02040503050406030204" pitchFamily="18" charset="0"/>
                          </a:rPr>
                          <m:t>empty</m:t>
                        </m:r>
                      </m:e>
                    </m:d>
                    <m:r>
                      <a:rPr lang="en-US" altLang="de-DE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de-DE" sz="1400" b="0" i="0" dirty="0" smtClean="0">
                        <a:latin typeface="Cambria Math" panose="02040503050406030204" pitchFamily="18" charset="0"/>
                      </a:rPr>
                      <m:t>true</m:t>
                    </m:r>
                  </m:oMath>
                </a14:m>
                <a:endParaRPr lang="de-DE" altLang="de-DE" sz="1400" dirty="0"/>
              </a:p>
              <a:p>
                <a:endParaRPr lang="de-DE" altLang="de-DE" sz="1400" dirty="0"/>
              </a:p>
            </p:txBody>
          </p:sp>
        </mc:Choice>
        <mc:Fallback xmlns=""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73D8BFCF-8909-43BB-93A0-6C60EED4A5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800099"/>
                <a:ext cx="6372200" cy="29761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7647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B6B78C-C4DE-9A36-0D52-C69E833F42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Bisherige Datenstrukturen: </a:t>
            </a:r>
            <a:r>
              <a:rPr lang="de-DE" b="1" dirty="0"/>
              <a:t>statisch</a:t>
            </a:r>
          </a:p>
          <a:p>
            <a:pPr lvl="1"/>
            <a:r>
              <a:rPr lang="de-DE" sz="1200" dirty="0"/>
              <a:t>Können zur Laufzeit nicht wachsen bzw. schrumpfen</a:t>
            </a:r>
          </a:p>
          <a:p>
            <a:pPr lvl="1"/>
            <a:r>
              <a:rPr lang="de-DE" sz="1200" dirty="0"/>
              <a:t>Dadurch keine Anpassung an tatsächlichen Speicherbedarf</a:t>
            </a:r>
          </a:p>
          <a:p>
            <a:r>
              <a:rPr lang="de-DE" b="1" dirty="0"/>
              <a:t>Ausweg</a:t>
            </a:r>
            <a:r>
              <a:rPr lang="de-DE" dirty="0"/>
              <a:t>: Dynamische Datenstrukturen, im Besonderen </a:t>
            </a:r>
            <a:r>
              <a:rPr lang="de-DE" i="1" dirty="0"/>
              <a:t>Verkettete Liste</a:t>
            </a:r>
          </a:p>
          <a:p>
            <a:pPr lvl="1"/>
            <a:r>
              <a:rPr lang="de-DE" sz="1200" dirty="0"/>
              <a:t>Menge von Knoten, die jeweils einen Verweis auf Nachfolgerknoten (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de-DE" sz="1200" dirty="0"/>
              <a:t>) sowie das zu speichernde Element (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200" dirty="0"/>
              <a:t>) enthalten</a:t>
            </a:r>
          </a:p>
          <a:p>
            <a:pPr lvl="1"/>
            <a:r>
              <a:rPr lang="de-DE" sz="1200" b="1" dirty="0"/>
              <a:t>Listenkopf</a:t>
            </a:r>
            <a:r>
              <a:rPr lang="de-DE" sz="1200" dirty="0"/>
              <a:t>: spezieller Knoten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de-DE" sz="1200" dirty="0"/>
              <a:t>Alle anderen Knoten nur durch Navigation erreichbar</a:t>
            </a:r>
          </a:p>
          <a:p>
            <a:pPr lvl="1"/>
            <a:r>
              <a:rPr lang="de-DE" sz="1200" b="1" dirty="0"/>
              <a:t>Listenende</a:t>
            </a:r>
            <a:r>
              <a:rPr lang="de-DE" sz="1200" dirty="0"/>
              <a:t>: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de-DE" sz="1200" dirty="0"/>
              <a:t>-Zeiger</a:t>
            </a:r>
          </a:p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EA0E48-1E8F-5748-C5C0-5B79EA31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Verkettete Liste</a:t>
            </a:r>
            <a:endParaRPr lang="en-DE" dirty="0"/>
          </a:p>
        </p:txBody>
      </p:sp>
      <p:grpSp>
        <p:nvGrpSpPr>
          <p:cNvPr id="4" name="Gruppierung 7">
            <a:extLst>
              <a:ext uri="{FF2B5EF4-FFF2-40B4-BE49-F238E27FC236}">
                <a16:creationId xmlns:a16="http://schemas.microsoft.com/office/drawing/2014/main" id="{2723D96B-E847-0323-27AC-40AE2960C532}"/>
              </a:ext>
            </a:extLst>
          </p:cNvPr>
          <p:cNvGrpSpPr>
            <a:grpSpLocks/>
          </p:cNvGrpSpPr>
          <p:nvPr/>
        </p:nvGrpSpPr>
        <p:grpSpPr bwMode="auto">
          <a:xfrm>
            <a:off x="1934393" y="3836756"/>
            <a:ext cx="677863" cy="390526"/>
            <a:chOff x="1126067" y="1566334"/>
            <a:chExt cx="677333" cy="390527"/>
          </a:xfrm>
        </p:grpSpPr>
        <p:sp>
          <p:nvSpPr>
            <p:cNvPr id="5" name="Rechteck 5">
              <a:extLst>
                <a:ext uri="{FF2B5EF4-FFF2-40B4-BE49-F238E27FC236}">
                  <a16:creationId xmlns:a16="http://schemas.microsoft.com/office/drawing/2014/main" id="{85370104-29CA-94B9-8FB8-DF6F36BCE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067" y="1566334"/>
              <a:ext cx="677333" cy="195263"/>
            </a:xfrm>
            <a:prstGeom prst="rect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data</a:t>
              </a:r>
            </a:p>
          </p:txBody>
        </p:sp>
        <p:sp>
          <p:nvSpPr>
            <p:cNvPr id="7" name="Rechteck 7">
              <a:extLst>
                <a:ext uri="{FF2B5EF4-FFF2-40B4-BE49-F238E27FC236}">
                  <a16:creationId xmlns:a16="http://schemas.microsoft.com/office/drawing/2014/main" id="{35741CD9-9229-3B8A-05F6-20BF08440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067" y="1761597"/>
              <a:ext cx="677333" cy="195264"/>
            </a:xfrm>
            <a:prstGeom prst="rect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next</a:t>
              </a:r>
            </a:p>
          </p:txBody>
        </p:sp>
      </p:grpSp>
      <p:grpSp>
        <p:nvGrpSpPr>
          <p:cNvPr id="8" name="Gruppierung 8">
            <a:extLst>
              <a:ext uri="{FF2B5EF4-FFF2-40B4-BE49-F238E27FC236}">
                <a16:creationId xmlns:a16="http://schemas.microsoft.com/office/drawing/2014/main" id="{9A5F281B-A9F1-245F-5FD1-CC827E6C7647}"/>
              </a:ext>
            </a:extLst>
          </p:cNvPr>
          <p:cNvGrpSpPr>
            <a:grpSpLocks/>
          </p:cNvGrpSpPr>
          <p:nvPr/>
        </p:nvGrpSpPr>
        <p:grpSpPr bwMode="auto">
          <a:xfrm>
            <a:off x="3018656" y="3836756"/>
            <a:ext cx="676275" cy="390524"/>
            <a:chOff x="1126067" y="1566334"/>
            <a:chExt cx="677333" cy="390525"/>
          </a:xfrm>
        </p:grpSpPr>
        <p:sp>
          <p:nvSpPr>
            <p:cNvPr id="9" name="Rechteck 9">
              <a:extLst>
                <a:ext uri="{FF2B5EF4-FFF2-40B4-BE49-F238E27FC236}">
                  <a16:creationId xmlns:a16="http://schemas.microsoft.com/office/drawing/2014/main" id="{78DAA0F5-316D-58E0-0F46-C07704DDC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067" y="1566334"/>
              <a:ext cx="677333" cy="195263"/>
            </a:xfrm>
            <a:prstGeom prst="rect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data</a:t>
              </a:r>
            </a:p>
          </p:txBody>
        </p:sp>
        <p:sp>
          <p:nvSpPr>
            <p:cNvPr id="11" name="Rechteck 11">
              <a:extLst>
                <a:ext uri="{FF2B5EF4-FFF2-40B4-BE49-F238E27FC236}">
                  <a16:creationId xmlns:a16="http://schemas.microsoft.com/office/drawing/2014/main" id="{DE662CAA-454D-7214-7797-FC8780FD6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067" y="1761595"/>
              <a:ext cx="677333" cy="195264"/>
            </a:xfrm>
            <a:prstGeom prst="rect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next</a:t>
              </a:r>
            </a:p>
          </p:txBody>
        </p:sp>
      </p:grpSp>
      <p:grpSp>
        <p:nvGrpSpPr>
          <p:cNvPr id="12" name="Gruppierung 12">
            <a:extLst>
              <a:ext uri="{FF2B5EF4-FFF2-40B4-BE49-F238E27FC236}">
                <a16:creationId xmlns:a16="http://schemas.microsoft.com/office/drawing/2014/main" id="{EB4BC85F-C10F-7EE8-FBA7-71AB31B17C87}"/>
              </a:ext>
            </a:extLst>
          </p:cNvPr>
          <p:cNvGrpSpPr>
            <a:grpSpLocks/>
          </p:cNvGrpSpPr>
          <p:nvPr/>
        </p:nvGrpSpPr>
        <p:grpSpPr bwMode="auto">
          <a:xfrm>
            <a:off x="4042593" y="3836757"/>
            <a:ext cx="677863" cy="390523"/>
            <a:chOff x="1126067" y="1566334"/>
            <a:chExt cx="677333" cy="390524"/>
          </a:xfrm>
        </p:grpSpPr>
        <p:sp>
          <p:nvSpPr>
            <p:cNvPr id="13" name="Rechteck 13">
              <a:extLst>
                <a:ext uri="{FF2B5EF4-FFF2-40B4-BE49-F238E27FC236}">
                  <a16:creationId xmlns:a16="http://schemas.microsoft.com/office/drawing/2014/main" id="{31047024-2284-C0E8-9BE9-F00AF1BE2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067" y="1566334"/>
              <a:ext cx="677333" cy="195263"/>
            </a:xfrm>
            <a:prstGeom prst="rect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data</a:t>
              </a:r>
            </a:p>
          </p:txBody>
        </p:sp>
        <p:sp>
          <p:nvSpPr>
            <p:cNvPr id="15" name="Rechteck 15">
              <a:extLst>
                <a:ext uri="{FF2B5EF4-FFF2-40B4-BE49-F238E27FC236}">
                  <a16:creationId xmlns:a16="http://schemas.microsoft.com/office/drawing/2014/main" id="{E2E4355A-81D5-31EA-D4BC-803F178FE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067" y="1761594"/>
              <a:ext cx="677333" cy="195264"/>
            </a:xfrm>
            <a:prstGeom prst="rect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next</a:t>
              </a:r>
            </a:p>
          </p:txBody>
        </p:sp>
      </p:grpSp>
      <p:grpSp>
        <p:nvGrpSpPr>
          <p:cNvPr id="16" name="Gruppierung 16">
            <a:extLst>
              <a:ext uri="{FF2B5EF4-FFF2-40B4-BE49-F238E27FC236}">
                <a16:creationId xmlns:a16="http://schemas.microsoft.com/office/drawing/2014/main" id="{BACBCFED-9261-E3B2-7739-3572F6D62519}"/>
              </a:ext>
            </a:extLst>
          </p:cNvPr>
          <p:cNvGrpSpPr>
            <a:grpSpLocks/>
          </p:cNvGrpSpPr>
          <p:nvPr/>
        </p:nvGrpSpPr>
        <p:grpSpPr bwMode="auto">
          <a:xfrm>
            <a:off x="5076056" y="3836756"/>
            <a:ext cx="676275" cy="393549"/>
            <a:chOff x="1126067" y="1566334"/>
            <a:chExt cx="677333" cy="393550"/>
          </a:xfrm>
        </p:grpSpPr>
        <p:sp>
          <p:nvSpPr>
            <p:cNvPr id="17" name="Rechteck 17">
              <a:extLst>
                <a:ext uri="{FF2B5EF4-FFF2-40B4-BE49-F238E27FC236}">
                  <a16:creationId xmlns:a16="http://schemas.microsoft.com/office/drawing/2014/main" id="{79043A16-8D36-F8BD-4C12-AD1B0A26A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067" y="1566334"/>
              <a:ext cx="677333" cy="195263"/>
            </a:xfrm>
            <a:prstGeom prst="rect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data</a:t>
              </a:r>
            </a:p>
          </p:txBody>
        </p:sp>
        <p:sp>
          <p:nvSpPr>
            <p:cNvPr id="19" name="Rechteck 19">
              <a:extLst>
                <a:ext uri="{FF2B5EF4-FFF2-40B4-BE49-F238E27FC236}">
                  <a16:creationId xmlns:a16="http://schemas.microsoft.com/office/drawing/2014/main" id="{990C130A-9A4F-6120-9CA9-7725E8852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067" y="1764620"/>
              <a:ext cx="677333" cy="195264"/>
            </a:xfrm>
            <a:prstGeom prst="rect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next</a:t>
              </a:r>
            </a:p>
          </p:txBody>
        </p:sp>
      </p:grpSp>
      <p:sp>
        <p:nvSpPr>
          <p:cNvPr id="20" name="Textfeld 20">
            <a:extLst>
              <a:ext uri="{FF2B5EF4-FFF2-40B4-BE49-F238E27FC236}">
                <a16:creationId xmlns:a16="http://schemas.microsoft.com/office/drawing/2014/main" id="{D6A9DF8A-3583-ABF2-7034-792ED371D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349" y="3795886"/>
            <a:ext cx="5565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</a:p>
        </p:txBody>
      </p:sp>
      <p:sp>
        <p:nvSpPr>
          <p:cNvPr id="21" name="Textfeld 32">
            <a:extLst>
              <a:ext uri="{FF2B5EF4-FFF2-40B4-BE49-F238E27FC236}">
                <a16:creationId xmlns:a16="http://schemas.microsoft.com/office/drawing/2014/main" id="{7B5336CE-015A-B77F-472A-89A4DB8C2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464" y="3991148"/>
            <a:ext cx="5565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49A3C98-347A-0C89-0FDF-1524D6DE1EE7}"/>
              </a:ext>
            </a:extLst>
          </p:cNvPr>
          <p:cNvCxnSpPr>
            <a:stCxn id="20" idx="3"/>
            <a:endCxn id="5" idx="1"/>
          </p:cNvCxnSpPr>
          <p:nvPr/>
        </p:nvCxnSpPr>
        <p:spPr bwMode="gray">
          <a:xfrm>
            <a:off x="1452912" y="3934386"/>
            <a:ext cx="4814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2ACD56AF-85F0-EE75-A0C2-31F0CE47784F}"/>
              </a:ext>
            </a:extLst>
          </p:cNvPr>
          <p:cNvCxnSpPr>
            <a:stCxn id="7" idx="3"/>
            <a:endCxn id="9" idx="1"/>
          </p:cNvCxnSpPr>
          <p:nvPr/>
        </p:nvCxnSpPr>
        <p:spPr bwMode="gray">
          <a:xfrm flipV="1">
            <a:off x="2612256" y="3934386"/>
            <a:ext cx="406400" cy="1952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FAE909B0-186E-4E90-6E2A-05A300070700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 bwMode="gray">
          <a:xfrm flipV="1">
            <a:off x="3694931" y="3934386"/>
            <a:ext cx="347662" cy="1952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CFA7522A-6718-423A-D416-291B56605B58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 bwMode="gray">
          <a:xfrm flipV="1">
            <a:off x="4720456" y="3934386"/>
            <a:ext cx="355600" cy="1952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0C8410A-C2CF-F7DC-8EEF-1178A43048D4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 bwMode="gray">
          <a:xfrm flipV="1">
            <a:off x="5752331" y="4129648"/>
            <a:ext cx="501133" cy="3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0A1022-C2A0-D692-2A1E-47B0671811D8}"/>
              </a:ext>
            </a:extLst>
          </p:cNvPr>
          <p:cNvSpPr txBox="1"/>
          <p:nvPr/>
        </p:nvSpPr>
        <p:spPr bwMode="gray">
          <a:xfrm>
            <a:off x="1693652" y="4531882"/>
            <a:ext cx="4219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hlinkClick r:id="rId2"/>
              </a:rPr>
              <a:t>bag.h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997484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287FD7-B041-7EF6-064B-32D6DBA7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Stacks und Queues mit verketteten Listen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B88E51-C76C-78D5-0AF2-5CA4A27975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8777" y="1239837"/>
            <a:ext cx="3349624" cy="2484041"/>
          </a:xfrm>
        </p:spPr>
        <p:txBody>
          <a:bodyPr/>
          <a:lstStyle/>
          <a:p>
            <a:r>
              <a:rPr lang="en-DE" b="1" dirty="0"/>
              <a:t>Stacks</a:t>
            </a:r>
          </a:p>
          <a:p>
            <a:pPr lvl="1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GB" dirty="0"/>
              <a:t>: </a:t>
            </a:r>
            <a:r>
              <a:rPr lang="de-DE" dirty="0"/>
              <a:t>Fügt einen neuen Listenkopf ein</a:t>
            </a:r>
          </a:p>
          <a:p>
            <a:pPr marL="268287" lvl="1" indent="0">
              <a:buNone/>
            </a:pPr>
            <a:endParaRPr lang="en-GB" dirty="0"/>
          </a:p>
          <a:p>
            <a:pPr lvl="1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GB" dirty="0"/>
              <a:t>: </a:t>
            </a:r>
            <a:r>
              <a:rPr lang="de-DE" dirty="0"/>
              <a:t>Entfernt den Listenkopf</a:t>
            </a:r>
          </a:p>
          <a:p>
            <a:pPr lvl="1"/>
            <a:endParaRPr lang="de-DE" dirty="0"/>
          </a:p>
          <a:p>
            <a:pPr lvl="1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top</a:t>
            </a:r>
            <a:r>
              <a:rPr lang="en-GB" dirty="0"/>
              <a:t>: </a:t>
            </a:r>
            <a:r>
              <a:rPr lang="de-DE" dirty="0"/>
              <a:t>Gibt den Listenkopf zurück</a:t>
            </a:r>
          </a:p>
          <a:p>
            <a:pPr marL="268287" lvl="1" indent="0">
              <a:buNone/>
            </a:pPr>
            <a:endParaRPr lang="en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9F4D0-DD9F-248B-7C65-066BFBCC8F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86202" y="1232126"/>
            <a:ext cx="3349624" cy="2635768"/>
          </a:xfrm>
        </p:spPr>
        <p:txBody>
          <a:bodyPr/>
          <a:lstStyle/>
          <a:p>
            <a:r>
              <a:rPr lang="en-DE" b="1" dirty="0"/>
              <a:t>Queues</a:t>
            </a:r>
          </a:p>
          <a:p>
            <a:pPr lvl="1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GB" dirty="0"/>
              <a:t>: </a:t>
            </a:r>
            <a:r>
              <a:rPr lang="de-DE" dirty="0"/>
              <a:t>Fügt einen neues Listenende ein</a:t>
            </a:r>
          </a:p>
          <a:p>
            <a:pPr marL="268287" lvl="1" indent="0">
              <a:buNone/>
            </a:pPr>
            <a:endParaRPr lang="en-GB" dirty="0"/>
          </a:p>
          <a:p>
            <a:pPr lvl="1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dequeue</a:t>
            </a:r>
            <a:r>
              <a:rPr lang="en-GB" dirty="0"/>
              <a:t>: </a:t>
            </a:r>
            <a:r>
              <a:rPr lang="de-DE" dirty="0"/>
              <a:t>Entfernt den Listenkopf</a:t>
            </a:r>
          </a:p>
          <a:p>
            <a:pPr lvl="1"/>
            <a:endParaRPr lang="de-DE" dirty="0"/>
          </a:p>
          <a:p>
            <a:pPr lvl="1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front</a:t>
            </a:r>
            <a:r>
              <a:rPr lang="en-GB" dirty="0"/>
              <a:t>: </a:t>
            </a:r>
            <a:r>
              <a:rPr lang="de-DE" dirty="0"/>
              <a:t>Gibt den Listenkopf zurück</a:t>
            </a:r>
          </a:p>
          <a:p>
            <a:pPr marL="0" indent="0">
              <a:buNone/>
            </a:pPr>
            <a:endParaRPr lang="en-DE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BA034-39FB-FCD7-55C9-2ABFD60A6D03}"/>
              </a:ext>
            </a:extLst>
          </p:cNvPr>
          <p:cNvSpPr txBox="1"/>
          <p:nvPr/>
        </p:nvSpPr>
        <p:spPr bwMode="gray">
          <a:xfrm>
            <a:off x="607763" y="4046740"/>
            <a:ext cx="2851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hlinkClick r:id="rId2"/>
              </a:rPr>
              <a:t>list_stack.h</a:t>
            </a:r>
            <a:endParaRPr 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2BFDD-7B30-FFFD-D422-23FB67FC324A}"/>
              </a:ext>
            </a:extLst>
          </p:cNvPr>
          <p:cNvSpPr txBox="1"/>
          <p:nvPr/>
        </p:nvSpPr>
        <p:spPr bwMode="gray">
          <a:xfrm>
            <a:off x="4135188" y="4046740"/>
            <a:ext cx="2851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hlinkClick r:id="rId3"/>
              </a:rPr>
              <a:t>list_queue.h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8889806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8B4720-CD76-64E9-6CB0-67C938FC4B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/>
            <a:r>
              <a:rPr lang="de-DE" altLang="en-DE" b="1" dirty="0"/>
              <a:t>Abstrakte Datentypen</a:t>
            </a:r>
          </a:p>
          <a:p>
            <a:pPr marL="611187" lvl="1" indent="-342900"/>
            <a:r>
              <a:rPr lang="de-DE" altLang="de-DE" sz="1200" dirty="0"/>
              <a:t>Beschreibung von Datenstrukturen unabhängig von ihrer späteren Implementierung in einer konkreten Programmiersprache</a:t>
            </a:r>
          </a:p>
          <a:p>
            <a:pPr marL="611187" lvl="1" indent="-342900"/>
            <a:r>
              <a:rPr lang="de-DE" altLang="de-DE" sz="1200" dirty="0"/>
              <a:t>Bestehen aus </a:t>
            </a:r>
            <a:r>
              <a:rPr lang="de-DE" altLang="de-DE" sz="1200" i="1" dirty="0"/>
              <a:t>Operatoren</a:t>
            </a:r>
            <a:r>
              <a:rPr lang="de-DE" altLang="de-DE" sz="1200" dirty="0"/>
              <a:t> und </a:t>
            </a:r>
            <a:r>
              <a:rPr lang="de-DE" altLang="de-DE" sz="1200" i="1" dirty="0"/>
              <a:t>Axiomen</a:t>
            </a:r>
            <a:r>
              <a:rPr lang="de-DE" altLang="de-DE" sz="1200" dirty="0"/>
              <a:t> - erlauben theoretische Analyse</a:t>
            </a:r>
          </a:p>
          <a:p>
            <a:pPr marL="611187" lvl="1" indent="-342900"/>
            <a:r>
              <a:rPr lang="de-DE" altLang="de-DE" sz="1200" dirty="0"/>
              <a:t>Direkt abbildbar in objekt-orientierter Programmierung</a:t>
            </a:r>
          </a:p>
          <a:p>
            <a:pPr marL="342900" indent="-342900"/>
            <a:r>
              <a:rPr lang="de-DE" altLang="en-DE" b="1" dirty="0"/>
              <a:t>Stapel</a:t>
            </a:r>
          </a:p>
          <a:p>
            <a:pPr marL="611187" lvl="1" indent="-342900"/>
            <a:r>
              <a:rPr lang="de-DE" altLang="en-DE" sz="1200" dirty="0"/>
              <a:t>LIFO-Datenstruktur die sehr oft benutzt wird in </a:t>
            </a:r>
            <a:r>
              <a:rPr lang="de-DE" altLang="en-DE" sz="1200" dirty="0" err="1"/>
              <a:t>Algorithmenentwicklung</a:t>
            </a:r>
            <a:endParaRPr lang="de-DE" altLang="en-DE" sz="1200" dirty="0"/>
          </a:p>
          <a:p>
            <a:pPr marL="611187" lvl="1" indent="-342900"/>
            <a:r>
              <a:rPr lang="de-DE" altLang="en-DE" sz="1200" dirty="0"/>
              <a:t>Hilfreich für die effiziente Auswertung von (arithmetischen) Ausdrücken</a:t>
            </a:r>
            <a:endParaRPr lang="de-DE" altLang="en-DE" dirty="0"/>
          </a:p>
          <a:p>
            <a:pPr marL="342900" indent="-342900"/>
            <a:r>
              <a:rPr lang="de-DE" altLang="en-DE" b="1" dirty="0"/>
              <a:t>Queue</a:t>
            </a:r>
          </a:p>
          <a:p>
            <a:pPr marL="611187" lvl="1" indent="-342900"/>
            <a:r>
              <a:rPr lang="de-DE" altLang="en-DE" sz="1200"/>
              <a:t>FIFO-Datenstruktur </a:t>
            </a:r>
            <a:r>
              <a:rPr lang="de-DE" altLang="en-DE" sz="1200" dirty="0"/>
              <a:t>die oft auf Betriebssystemebene eingesetzt wird</a:t>
            </a:r>
          </a:p>
          <a:p>
            <a:pPr marL="611187" lvl="1" indent="-342900"/>
            <a:r>
              <a:rPr lang="de-DE" altLang="en-DE" sz="1200" dirty="0"/>
              <a:t>Effizient über zwei Zeiger implementierbar</a:t>
            </a:r>
          </a:p>
          <a:p>
            <a:pPr marL="342900" indent="-342900"/>
            <a:r>
              <a:rPr lang="de-DE" altLang="en-DE" b="1" dirty="0"/>
              <a:t>Listen</a:t>
            </a:r>
          </a:p>
          <a:p>
            <a:pPr marL="611187" lvl="1" indent="-342900"/>
            <a:r>
              <a:rPr lang="de-DE" altLang="en-DE" sz="1200" dirty="0"/>
              <a:t>Am häufigsten benutzter abstrakter Datentyp</a:t>
            </a:r>
          </a:p>
          <a:p>
            <a:pPr marL="611187" lvl="1" indent="-342900"/>
            <a:r>
              <a:rPr lang="de-DE" altLang="en-DE" sz="1200" dirty="0"/>
              <a:t>Stacks und Queues lassen sich leicht über verkettete Listen implementieren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D58A65-5606-9513-B7BE-4D81E6AF2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20320081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5052</TotalTime>
  <Words>1846</Words>
  <Application>Microsoft Macintosh PowerPoint</Application>
  <PresentationFormat>On-screen Show (16:9)</PresentationFormat>
  <Paragraphs>494</Paragraphs>
  <Slides>28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Cambria Math</vt:lpstr>
      <vt:lpstr>Courier New</vt:lpstr>
      <vt:lpstr>Open Sans</vt:lpstr>
      <vt:lpstr>Verdana</vt:lpstr>
      <vt:lpstr>TEMPLATE DEF Faculty v2022</vt:lpstr>
      <vt:lpstr>Programmiertechnik II</vt:lpstr>
      <vt:lpstr>Überblick</vt:lpstr>
      <vt:lpstr>Überblick</vt:lpstr>
      <vt:lpstr>Abstrakte Datentypen (ADT)</vt:lpstr>
      <vt:lpstr>ADT Beispiel: Ganzzahlen</vt:lpstr>
      <vt:lpstr>Abstrakte Datentypen Beispiel: Bool</vt:lpstr>
      <vt:lpstr>Umsetzung von ADTs</vt:lpstr>
      <vt:lpstr>Überblick</vt:lpstr>
      <vt:lpstr>Stack as Abstrakter Datentyp</vt:lpstr>
      <vt:lpstr>Stack in Bildern</vt:lpstr>
      <vt:lpstr>Quiz: Implementierung eines Stacks</vt:lpstr>
      <vt:lpstr>Implementierung eines Stacks mit Feldern</vt:lpstr>
      <vt:lpstr>Überblick</vt:lpstr>
      <vt:lpstr>Auswertung Arithmetischer Ausdrücke</vt:lpstr>
      <vt:lpstr>Dijkstra’s Algorithmus</vt:lpstr>
      <vt:lpstr>Dijkstra’s Algorithmus (Beispiel)</vt:lpstr>
      <vt:lpstr>Korrektheit</vt:lpstr>
      <vt:lpstr>Überblick</vt:lpstr>
      <vt:lpstr>Queue as Abstrakter Datentyp</vt:lpstr>
      <vt:lpstr>Queue in Bildern</vt:lpstr>
      <vt:lpstr>Quiz: Implementierung einer Warteschlange</vt:lpstr>
      <vt:lpstr>Implementierung einer Warteschlange mit Feldern</vt:lpstr>
      <vt:lpstr>Überblick</vt:lpstr>
      <vt:lpstr>Liste as Abstrakter Datentyp</vt:lpstr>
      <vt:lpstr>Verkettete Liste</vt:lpstr>
      <vt:lpstr>Stacks und Queues mit verketteten Listen</vt:lpstr>
      <vt:lpstr>Zusammenfassung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94</cp:revision>
  <cp:lastPrinted>2014-05-07T12:19:03Z</cp:lastPrinted>
  <dcterms:created xsi:type="dcterms:W3CDTF">2022-08-10T08:10:37Z</dcterms:created>
  <dcterms:modified xsi:type="dcterms:W3CDTF">2026-05-01T17:21:50Z</dcterms:modified>
</cp:coreProperties>
</file>