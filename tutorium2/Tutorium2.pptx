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1" r:id="rId2"/>
    <p:sldId id="303" r:id="rId3"/>
    <p:sldId id="305" r:id="rId4"/>
    <p:sldId id="323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04" r:id="rId23"/>
  </p:sldIdLst>
  <p:sldSz cx="9144000" cy="5143500" type="screen16x9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000000"/>
    <a:srgbClr val="FBFCFC"/>
    <a:srgbClr val="FCFCFC"/>
    <a:srgbClr val="FCFCFD"/>
    <a:srgbClr val="FCFDFD"/>
    <a:srgbClr val="FDFDFD"/>
    <a:srgbClr val="FDFDFE"/>
    <a:srgbClr val="FDFEFE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/>
    <p:restoredTop sz="91438"/>
  </p:normalViewPr>
  <p:slideViewPr>
    <p:cSldViewPr snapToObjects="1" showGuides="1">
      <p:cViewPr varScale="1">
        <p:scale>
          <a:sx n="154" d="100"/>
          <a:sy n="154" d="100"/>
        </p:scale>
        <p:origin x="504" y="200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5/6/26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2b - C++ Einführung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/16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tutorium2/token_parsing.cpp" TargetMode="External"/><Relationship Id="rId2" Type="http://schemas.openxmlformats.org/officeDocument/2006/relationships/hyperlink" Target="https://github.com/HPI-Artificial-Intelligence-Teaching/26-pt2/blob/main/unit2/const.cpp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tutorium2/rule_of_three.cpp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Leonhard Hennicke</a:t>
            </a:r>
          </a:p>
          <a:p>
            <a:pPr algn="l"/>
            <a:r>
              <a:rPr lang="de-DE" dirty="0"/>
              <a:t>Tutorium 2: Input Streams, </a:t>
            </a:r>
            <a:r>
              <a:rPr lang="de-DE" dirty="0" err="1"/>
              <a:t>Shunting</a:t>
            </a:r>
            <a:r>
              <a:rPr lang="de-DE" dirty="0"/>
              <a:t>-Yard-Algorithmus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 err="1"/>
              <a:t>Floats</a:t>
            </a:r>
            <a:r>
              <a:rPr lang="de-DE" altLang="en-DE" dirty="0"/>
              <a:t> aus </a:t>
            </a:r>
            <a:r>
              <a:rPr lang="de-DE" altLang="en-DE" dirty="0" err="1"/>
              <a:t>std</a:t>
            </a:r>
            <a:r>
              <a:rPr lang="de-DE" altLang="en-DE" dirty="0"/>
              <a:t>::</a:t>
            </a:r>
            <a:r>
              <a:rPr lang="de-DE" altLang="en-DE" dirty="0" err="1"/>
              <a:t>cin</a:t>
            </a:r>
            <a:r>
              <a:rPr lang="de-DE" altLang="en-DE" dirty="0"/>
              <a:t> lesen</a:t>
            </a:r>
          </a:p>
          <a:p>
            <a:pPr marL="342900" indent="-342900"/>
            <a:r>
              <a:rPr lang="de-DE" altLang="en-DE" dirty="0"/>
              <a:t>Rule </a:t>
            </a:r>
            <a:r>
              <a:rPr lang="de-DE" altLang="en-DE" dirty="0" err="1"/>
              <a:t>of</a:t>
            </a:r>
            <a:r>
              <a:rPr lang="de-DE" altLang="en-DE" dirty="0"/>
              <a:t> </a:t>
            </a:r>
            <a:r>
              <a:rPr lang="de-DE" altLang="en-DE" dirty="0" err="1"/>
              <a:t>Three</a:t>
            </a:r>
            <a:endParaRPr lang="de-DE" altLang="en-DE" dirty="0"/>
          </a:p>
          <a:p>
            <a:pPr marL="342900" indent="-342900"/>
            <a:r>
              <a:rPr lang="de-DE" altLang="en-DE" dirty="0" err="1"/>
              <a:t>Shunting</a:t>
            </a:r>
            <a:r>
              <a:rPr lang="de-DE" altLang="en-DE" dirty="0"/>
              <a:t>-Yard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4C8E8D-A87E-47C4-3901-F79931EE40E9}"/>
              </a:ext>
            </a:extLst>
          </p:cNvPr>
          <p:cNvSpPr txBox="1"/>
          <p:nvPr/>
        </p:nvSpPr>
        <p:spPr bwMode="gray">
          <a:xfrm>
            <a:off x="7639396" y="4222864"/>
            <a:ext cx="460996" cy="3651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E669D-4C32-C07B-BC32-8EDCD4F0C3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GB" dirty="0"/>
              <a:t>std::</a:t>
            </a:r>
            <a:r>
              <a:rPr lang="en-GB" dirty="0" err="1"/>
              <a:t>cin</a:t>
            </a:r>
            <a:r>
              <a:rPr lang="en-GB" dirty="0"/>
              <a:t> &gt;&gt; x </a:t>
            </a:r>
            <a:r>
              <a:rPr lang="en-GB" dirty="0" err="1"/>
              <a:t>liest</a:t>
            </a:r>
            <a:r>
              <a:rPr lang="en-GB" dirty="0"/>
              <a:t> </a:t>
            </a:r>
            <a:r>
              <a:rPr lang="en-GB" dirty="0" err="1"/>
              <a:t>direkt</a:t>
            </a:r>
            <a:r>
              <a:rPr lang="en-GB" dirty="0"/>
              <a:t> in Variable,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Lerzeichen</a:t>
            </a:r>
            <a:r>
              <a:rPr lang="en-GB" dirty="0"/>
              <a:t> </a:t>
            </a:r>
            <a:r>
              <a:rPr lang="en-GB" dirty="0" err="1"/>
              <a:t>begrenzt</a:t>
            </a:r>
            <a:endParaRPr lang="en-GB" dirty="0"/>
          </a:p>
          <a:p>
            <a:pPr lvl="1">
              <a:buFont typeface="Wingdings" pitchFamily="2" charset="2"/>
              <a:buChar char="§"/>
            </a:pPr>
            <a:r>
              <a:rPr lang="en-GB" dirty="0" err="1"/>
              <a:t>Ungeeignet</a:t>
            </a:r>
            <a:r>
              <a:rPr lang="en-GB" dirty="0"/>
              <a:t> </a:t>
            </a:r>
            <a:r>
              <a:rPr lang="en-GB" dirty="0" err="1"/>
              <a:t>bei</a:t>
            </a:r>
            <a:r>
              <a:rPr lang="en-GB" dirty="0"/>
              <a:t> </a:t>
            </a:r>
            <a:r>
              <a:rPr lang="en-GB" dirty="0" err="1"/>
              <a:t>verschiedenen</a:t>
            </a:r>
            <a:r>
              <a:rPr lang="en-GB" dirty="0"/>
              <a:t> </a:t>
            </a:r>
            <a:r>
              <a:rPr lang="en-GB" dirty="0" err="1"/>
              <a:t>Datentypen</a:t>
            </a:r>
            <a:r>
              <a:rPr lang="en-GB" dirty="0"/>
              <a:t> in </a:t>
            </a:r>
            <a:r>
              <a:rPr lang="en-GB" dirty="0" err="1"/>
              <a:t>einer</a:t>
            </a:r>
            <a:r>
              <a:rPr lang="en-GB" dirty="0"/>
              <a:t> Zeile</a:t>
            </a:r>
          </a:p>
          <a:p>
            <a:pPr lvl="1">
              <a:buFont typeface="Wingdings" pitchFamily="2" charset="2"/>
              <a:buChar char="§"/>
            </a:pPr>
            <a:endParaRPr lang="en-GB" dirty="0"/>
          </a:p>
          <a:p>
            <a:pPr>
              <a:buFont typeface="Wingdings" pitchFamily="2" charset="2"/>
              <a:buChar char="§"/>
            </a:pPr>
            <a:r>
              <a:rPr lang="en-GB" dirty="0"/>
              <a:t>std::</a:t>
            </a:r>
            <a:r>
              <a:rPr lang="en-GB" dirty="0" err="1"/>
              <a:t>getline</a:t>
            </a:r>
            <a:r>
              <a:rPr lang="en-GB" dirty="0"/>
              <a:t>(std::</a:t>
            </a:r>
            <a:r>
              <a:rPr lang="en-GB" dirty="0" err="1"/>
              <a:t>cin</a:t>
            </a:r>
            <a:r>
              <a:rPr lang="en-GB" dirty="0"/>
              <a:t>, line) </a:t>
            </a:r>
            <a:r>
              <a:rPr lang="en-GB" dirty="0" err="1"/>
              <a:t>liest</a:t>
            </a:r>
            <a:r>
              <a:rPr lang="en-GB" dirty="0"/>
              <a:t> die </a:t>
            </a:r>
            <a:r>
              <a:rPr lang="en-GB" dirty="0" err="1"/>
              <a:t>gesamte</a:t>
            </a:r>
            <a:r>
              <a:rPr lang="en-GB" dirty="0"/>
              <a:t> Zeile in </a:t>
            </a:r>
            <a:r>
              <a:rPr lang="en-GB" dirty="0" err="1"/>
              <a:t>einen</a:t>
            </a:r>
            <a:r>
              <a:rPr lang="en-GB" dirty="0"/>
              <a:t> std::string</a:t>
            </a:r>
          </a:p>
          <a:p>
            <a:pPr lvl="1">
              <a:buFont typeface="Wingdings" pitchFamily="2" charset="2"/>
              <a:buChar char="§"/>
            </a:pPr>
            <a:r>
              <a:rPr lang="en-GB" dirty="0"/>
              <a:t>Um </a:t>
            </a:r>
            <a:r>
              <a:rPr lang="en-GB" dirty="0" err="1"/>
              <a:t>mehrstelliges</a:t>
            </a:r>
            <a:r>
              <a:rPr lang="en-GB" dirty="0"/>
              <a:t> Token (z. B. Floats)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lesen</a:t>
            </a:r>
            <a:r>
              <a:rPr lang="en-GB" dirty="0"/>
              <a:t> , </a:t>
            </a:r>
            <a:r>
              <a:rPr lang="en-GB" dirty="0" err="1"/>
              <a:t>iterieren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so </a:t>
            </a:r>
            <a:r>
              <a:rPr lang="en-GB" dirty="0" err="1"/>
              <a:t>lange</a:t>
            </a:r>
            <a:r>
              <a:rPr lang="en-GB" dirty="0"/>
              <a:t>, </a:t>
            </a:r>
            <a:r>
              <a:rPr lang="en-GB" dirty="0" err="1"/>
              <a:t>wie</a:t>
            </a:r>
            <a:r>
              <a:rPr lang="en-GB" dirty="0"/>
              <a:t> das </a:t>
            </a:r>
            <a:r>
              <a:rPr lang="en-GB" dirty="0" err="1"/>
              <a:t>aktuelle</a:t>
            </a:r>
            <a:r>
              <a:rPr lang="en-GB" dirty="0"/>
              <a:t> </a:t>
            </a:r>
            <a:r>
              <a:rPr lang="en-GB" dirty="0" err="1"/>
              <a:t>Zeichen</a:t>
            </a:r>
            <a:r>
              <a:rPr lang="en-GB" dirty="0"/>
              <a:t> </a:t>
            </a:r>
            <a:r>
              <a:rPr lang="en-GB" dirty="0" err="1"/>
              <a:t>zum</a:t>
            </a:r>
            <a:r>
              <a:rPr lang="en-GB" dirty="0"/>
              <a:t> Token </a:t>
            </a:r>
            <a:r>
              <a:rPr lang="en-GB" dirty="0" err="1"/>
              <a:t>gehört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Ziffer </a:t>
            </a:r>
            <a:r>
              <a:rPr lang="en-GB" dirty="0" err="1"/>
              <a:t>oder</a:t>
            </a:r>
            <a:r>
              <a:rPr lang="en-GB" dirty="0"/>
              <a:t> ”.” </a:t>
            </a:r>
            <a:r>
              <a:rPr lang="en-GB" dirty="0" err="1"/>
              <a:t>bei</a:t>
            </a:r>
            <a:r>
              <a:rPr lang="en-GB" dirty="0"/>
              <a:t> Floats)</a:t>
            </a:r>
          </a:p>
          <a:p>
            <a:pPr lvl="1">
              <a:buFont typeface="Wingdings" pitchFamily="2" charset="2"/>
              <a:buChar char="§"/>
            </a:pPr>
            <a:endParaRPr lang="en-GB" dirty="0"/>
          </a:p>
          <a:p>
            <a:pPr>
              <a:buFont typeface="Wingdings" pitchFamily="2" charset="2"/>
              <a:buChar char="§"/>
            </a:pPr>
            <a:r>
              <a:rPr lang="en-GB" dirty="0"/>
              <a:t>std::</a:t>
            </a:r>
            <a:r>
              <a:rPr lang="en-GB" dirty="0" err="1"/>
              <a:t>stof</a:t>
            </a:r>
            <a:r>
              <a:rPr lang="en-GB" dirty="0"/>
              <a:t>(token) </a:t>
            </a:r>
            <a:r>
              <a:rPr lang="en-GB" dirty="0" err="1"/>
              <a:t>konvertiert</a:t>
            </a:r>
            <a:r>
              <a:rPr lang="en-GB" dirty="0"/>
              <a:t> den </a:t>
            </a:r>
            <a:r>
              <a:rPr lang="en-GB" dirty="0" err="1"/>
              <a:t>gesammelten</a:t>
            </a:r>
            <a:r>
              <a:rPr lang="en-GB" dirty="0"/>
              <a:t> String in </a:t>
            </a:r>
            <a:r>
              <a:rPr lang="en-GB" dirty="0" err="1"/>
              <a:t>einen</a:t>
            </a:r>
            <a:r>
              <a:rPr lang="en-GB" dirty="0"/>
              <a:t> float </a:t>
            </a:r>
          </a:p>
          <a:p>
            <a:pPr lvl="1">
              <a:buFont typeface="Wingdings" pitchFamily="2" charset="2"/>
              <a:buChar char="§"/>
            </a:pPr>
            <a:r>
              <a:rPr lang="en-GB" dirty="0"/>
              <a:t>Kann std::</a:t>
            </a:r>
            <a:r>
              <a:rPr lang="en-GB" dirty="0" err="1"/>
              <a:t>invalid_argument</a:t>
            </a:r>
            <a:r>
              <a:rPr lang="en-GB" dirty="0"/>
              <a:t> </a:t>
            </a:r>
            <a:r>
              <a:rPr lang="en-GB" dirty="0" err="1"/>
              <a:t>werfen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try/catch</a:t>
            </a:r>
          </a:p>
          <a:p>
            <a:pPr>
              <a:buFont typeface="Wingdings" pitchFamily="2" charset="2"/>
              <a:buChar char="§"/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7C0081-BDD8-042B-62A8-62CE72AA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 altLang="en-DE" dirty="0" err="1"/>
              <a:t>Floats</a:t>
            </a:r>
            <a:r>
              <a:rPr lang="de-DE" altLang="en-DE" dirty="0"/>
              <a:t> aus </a:t>
            </a:r>
            <a:r>
              <a:rPr lang="de-DE" altLang="en-DE" dirty="0" err="1"/>
              <a:t>std</a:t>
            </a:r>
            <a:r>
              <a:rPr lang="de-DE" altLang="en-DE" dirty="0"/>
              <a:t>::</a:t>
            </a:r>
            <a:r>
              <a:rPr lang="de-DE" altLang="en-DE" dirty="0" err="1"/>
              <a:t>cin</a:t>
            </a:r>
            <a:r>
              <a:rPr lang="de-DE" altLang="en-DE" dirty="0"/>
              <a:t> lesen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85174-0F43-0025-CA43-AB0EF8FC085C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token_</a:t>
            </a:r>
            <a:r>
              <a:rPr lang="en-GB" sz="1600" b="1" dirty="0">
                <a:hlinkClick r:id="rId3"/>
              </a:rPr>
              <a:t>parsing</a:t>
            </a:r>
            <a:r>
              <a:rPr lang="en-DE" sz="1600" b="1" dirty="0">
                <a:hlinkClick r:id="rId2"/>
              </a:rPr>
              <a:t>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3506445493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67A87-BD17-13E5-9599-ACDBF009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294BF0-3E5F-4FF9-2B5F-1921433D25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239838"/>
            <a:ext cx="7021538" cy="3563938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GB" dirty="0" err="1"/>
              <a:t>Verwaltet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Klasse Heap-Speicher </a:t>
            </a:r>
            <a:r>
              <a:rPr lang="en-GB" dirty="0" err="1"/>
              <a:t>wird</a:t>
            </a:r>
            <a:r>
              <a:rPr lang="en-GB" dirty="0"/>
              <a:t> per default Copy-</a:t>
            </a:r>
            <a:r>
              <a:rPr lang="en-GB" dirty="0" err="1"/>
              <a:t>Konstruktor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der Zeiger </a:t>
            </a:r>
            <a:r>
              <a:rPr lang="en-GB" dirty="0" err="1"/>
              <a:t>kopiert</a:t>
            </a:r>
            <a:r>
              <a:rPr lang="en-GB" dirty="0"/>
              <a:t>, nicht die </a:t>
            </a:r>
            <a:r>
              <a:rPr lang="en-GB" dirty="0" err="1"/>
              <a:t>Daten</a:t>
            </a:r>
            <a:endParaRPr lang="en-GB" dirty="0"/>
          </a:p>
          <a:p>
            <a:pPr>
              <a:buFont typeface="Wingdings" pitchFamily="2" charset="2"/>
              <a:buChar char="§"/>
            </a:pPr>
            <a:r>
              <a:rPr lang="en-GB" dirty="0"/>
              <a:t>Zwei </a:t>
            </a:r>
            <a:r>
              <a:rPr lang="en-GB" dirty="0" err="1"/>
              <a:t>Objekte</a:t>
            </a:r>
            <a:r>
              <a:rPr lang="en-GB" dirty="0"/>
              <a:t> </a:t>
            </a:r>
            <a:r>
              <a:rPr lang="en-GB" dirty="0" err="1"/>
              <a:t>teilen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Adresse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immer </a:t>
            </a:r>
            <a:r>
              <a:rPr lang="en-GB" dirty="0" err="1"/>
              <a:t>gemeinsam</a:t>
            </a:r>
            <a:r>
              <a:rPr lang="en-GB" dirty="0"/>
              <a:t> </a:t>
            </a:r>
            <a:r>
              <a:rPr lang="en-GB" dirty="0" err="1"/>
              <a:t>verändert</a:t>
            </a:r>
            <a:endParaRPr lang="en-GB" dirty="0"/>
          </a:p>
          <a:p>
            <a:pPr>
              <a:buFont typeface="Wingdings" pitchFamily="2" charset="2"/>
              <a:buChar char="§"/>
            </a:pPr>
            <a:r>
              <a:rPr lang="en-GB" dirty="0"/>
              <a:t>Wenn </a:t>
            </a:r>
            <a:r>
              <a:rPr lang="en-GB" dirty="0" err="1"/>
              <a:t>beide</a:t>
            </a:r>
            <a:r>
              <a:rPr lang="en-GB" dirty="0"/>
              <a:t> </a:t>
            </a:r>
            <a:r>
              <a:rPr lang="en-GB" dirty="0" err="1"/>
              <a:t>Destruktoren</a:t>
            </a:r>
            <a:r>
              <a:rPr lang="en-GB" dirty="0"/>
              <a:t> </a:t>
            </a:r>
            <a:r>
              <a:rPr lang="en-GB" dirty="0" err="1"/>
              <a:t>laufen</a:t>
            </a:r>
            <a:r>
              <a:rPr lang="en-GB" dirty="0"/>
              <a:t>, </a:t>
            </a:r>
            <a:r>
              <a:rPr lang="en-GB" dirty="0" err="1"/>
              <a:t>wird</a:t>
            </a:r>
            <a:r>
              <a:rPr lang="en-GB" dirty="0"/>
              <a:t> delete </a:t>
            </a:r>
            <a:r>
              <a:rPr lang="en-GB" dirty="0" err="1"/>
              <a:t>zweimal</a:t>
            </a:r>
            <a:r>
              <a:rPr lang="en-GB" dirty="0"/>
              <a:t> auf </a:t>
            </a:r>
            <a:r>
              <a:rPr lang="en-GB" dirty="0" err="1"/>
              <a:t>dieselbe</a:t>
            </a:r>
            <a:r>
              <a:rPr lang="en-GB" dirty="0"/>
              <a:t> </a:t>
            </a:r>
            <a:r>
              <a:rPr lang="en-GB" dirty="0" err="1"/>
              <a:t>Adresse</a:t>
            </a:r>
            <a:r>
              <a:rPr lang="en-GB" dirty="0"/>
              <a:t> </a:t>
            </a:r>
            <a:r>
              <a:rPr lang="en-GB" dirty="0" err="1"/>
              <a:t>aufgerufen</a:t>
            </a:r>
            <a:r>
              <a:rPr lang="en-GB" dirty="0"/>
              <a:t> → </a:t>
            </a:r>
            <a:r>
              <a:rPr lang="en-GB" b="1" dirty="0" err="1"/>
              <a:t>undefiniertes</a:t>
            </a:r>
            <a:r>
              <a:rPr lang="en-GB" b="1" dirty="0"/>
              <a:t> </a:t>
            </a:r>
            <a:r>
              <a:rPr lang="en-GB" b="1" dirty="0" err="1"/>
              <a:t>Verhalten</a:t>
            </a:r>
            <a:r>
              <a:rPr lang="en-GB" b="1" dirty="0"/>
              <a:t> / </a:t>
            </a:r>
            <a:r>
              <a:rPr lang="en-GB" b="1" dirty="0" err="1"/>
              <a:t>Absturz</a:t>
            </a:r>
            <a:endParaRPr lang="en-GB" dirty="0"/>
          </a:p>
          <a:p>
            <a:pPr>
              <a:buFont typeface="Wingdings" pitchFamily="2" charset="2"/>
              <a:buChar char="§"/>
            </a:pPr>
            <a:r>
              <a:rPr lang="en-GB" b="1" dirty="0"/>
              <a:t>Die </a:t>
            </a:r>
            <a:r>
              <a:rPr lang="en-GB" b="1" dirty="0" err="1"/>
              <a:t>Lösung</a:t>
            </a:r>
            <a:r>
              <a:rPr lang="en-GB" b="1" dirty="0"/>
              <a:t> — </a:t>
            </a:r>
            <a:r>
              <a:rPr lang="en-GB" b="1" dirty="0" err="1"/>
              <a:t>tiefe</a:t>
            </a:r>
            <a:r>
              <a:rPr lang="en-GB" b="1" dirty="0"/>
              <a:t> </a:t>
            </a:r>
            <a:r>
              <a:rPr lang="en-GB" b="1" dirty="0" err="1"/>
              <a:t>Kopie</a:t>
            </a:r>
            <a:r>
              <a:rPr lang="en-GB" b="1" dirty="0"/>
              <a:t> (Deep Copy) für alle </a:t>
            </a:r>
            <a:r>
              <a:rPr lang="en-GB" b="1" dirty="0" err="1"/>
              <a:t>drei</a:t>
            </a:r>
            <a:r>
              <a:rPr lang="en-GB" b="1" dirty="0"/>
              <a:t>:</a:t>
            </a:r>
            <a:endParaRPr lang="en-GB" dirty="0"/>
          </a:p>
          <a:p>
            <a:pPr lvl="1">
              <a:buFont typeface="Wingdings" pitchFamily="2" charset="2"/>
              <a:buChar char="§"/>
            </a:pPr>
            <a:r>
              <a:rPr lang="en-GB" b="1" dirty="0"/>
              <a:t>Copy-</a:t>
            </a:r>
            <a:r>
              <a:rPr lang="en-GB" b="1" dirty="0" err="1"/>
              <a:t>Konstruktor</a:t>
            </a:r>
            <a:r>
              <a:rPr lang="en-GB" dirty="0"/>
              <a:t>: </a:t>
            </a:r>
            <a:r>
              <a:rPr lang="en-GB" i="1" dirty="0" err="1"/>
              <a:t>neuen</a:t>
            </a:r>
            <a:r>
              <a:rPr lang="en-GB" dirty="0"/>
              <a:t> Speicher </a:t>
            </a:r>
            <a:r>
              <a:rPr lang="en-GB" dirty="0" err="1"/>
              <a:t>allozieren</a:t>
            </a:r>
            <a:r>
              <a:rPr lang="en-GB" dirty="0"/>
              <a:t> und den </a:t>
            </a:r>
            <a:r>
              <a:rPr lang="en-GB" i="1" dirty="0" err="1"/>
              <a:t>Inhalt</a:t>
            </a:r>
            <a:r>
              <a:rPr lang="en-GB" dirty="0"/>
              <a:t> </a:t>
            </a:r>
            <a:r>
              <a:rPr lang="en-GB" dirty="0" err="1"/>
              <a:t>kopieren</a:t>
            </a:r>
            <a:r>
              <a:rPr lang="en-GB" dirty="0"/>
              <a:t> (</a:t>
            </a:r>
            <a:r>
              <a:rPr lang="en-GB" i="1" dirty="0">
                <a:solidFill>
                  <a:schemeClr val="tx2"/>
                </a:solidFill>
              </a:rPr>
              <a:t>value(new int(*</a:t>
            </a:r>
            <a:r>
              <a:rPr lang="en-GB" i="1" dirty="0" err="1">
                <a:solidFill>
                  <a:schemeClr val="tx2"/>
                </a:solidFill>
              </a:rPr>
              <a:t>other.value</a:t>
            </a:r>
            <a:r>
              <a:rPr lang="en-GB" i="1" dirty="0">
                <a:solidFill>
                  <a:schemeClr val="tx2"/>
                </a:solidFill>
              </a:rPr>
              <a:t>))</a:t>
            </a:r>
            <a:r>
              <a:rPr lang="en-GB" dirty="0"/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en-GB" b="1" dirty="0"/>
              <a:t>Copy-</a:t>
            </a:r>
            <a:r>
              <a:rPr lang="en-GB" b="1" dirty="0" err="1"/>
              <a:t>Zuweisungsoperator</a:t>
            </a:r>
            <a:r>
              <a:rPr lang="en-GB" dirty="0"/>
              <a:t>: </a:t>
            </a:r>
            <a:r>
              <a:rPr lang="en-GB" dirty="0" err="1"/>
              <a:t>vor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Kopieren</a:t>
            </a:r>
            <a:r>
              <a:rPr lang="en-GB" dirty="0"/>
              <a:t> auf </a:t>
            </a:r>
            <a:r>
              <a:rPr lang="en-GB" dirty="0" err="1"/>
              <a:t>Selbstzuweisung</a:t>
            </a:r>
            <a:r>
              <a:rPr lang="en-GB" dirty="0"/>
              <a:t> </a:t>
            </a:r>
            <a:r>
              <a:rPr lang="en-GB" dirty="0" err="1"/>
              <a:t>prüfen</a:t>
            </a:r>
            <a:r>
              <a:rPr lang="en-GB" dirty="0"/>
              <a:t> (</a:t>
            </a:r>
            <a:r>
              <a:rPr lang="en-GB" i="1" dirty="0">
                <a:solidFill>
                  <a:schemeClr val="tx2"/>
                </a:solidFill>
              </a:rPr>
              <a:t>if (this == &amp;other) return *this;</a:t>
            </a:r>
            <a:r>
              <a:rPr lang="en-GB" dirty="0"/>
              <a:t>) — </a:t>
            </a:r>
            <a:r>
              <a:rPr lang="en-GB" dirty="0" err="1"/>
              <a:t>ohne</a:t>
            </a:r>
            <a:r>
              <a:rPr lang="en-GB" dirty="0"/>
              <a:t> </a:t>
            </a:r>
            <a:r>
              <a:rPr lang="en-GB" dirty="0" err="1"/>
              <a:t>diesen</a:t>
            </a:r>
            <a:r>
              <a:rPr lang="en-GB" dirty="0"/>
              <a:t> Schutz </a:t>
            </a:r>
            <a:r>
              <a:rPr lang="en-GB" dirty="0" err="1"/>
              <a:t>würde</a:t>
            </a:r>
            <a:r>
              <a:rPr lang="en-GB" dirty="0"/>
              <a:t> ”</a:t>
            </a:r>
            <a:r>
              <a:rPr lang="en-GB" i="1" dirty="0">
                <a:solidFill>
                  <a:schemeClr val="tx2"/>
                </a:solidFill>
              </a:rPr>
              <a:t>a = a</a:t>
            </a:r>
            <a:r>
              <a:rPr lang="en-GB" dirty="0"/>
              <a:t>” </a:t>
            </a:r>
            <a:r>
              <a:rPr lang="en-GB" dirty="0" err="1"/>
              <a:t>evtl</a:t>
            </a:r>
            <a:r>
              <a:rPr lang="en-GB" dirty="0"/>
              <a:t>. den Speicher </a:t>
            </a:r>
            <a:r>
              <a:rPr lang="en-GB" dirty="0" err="1"/>
              <a:t>freigeben</a:t>
            </a:r>
            <a:r>
              <a:rPr lang="en-GB" dirty="0"/>
              <a:t> und </a:t>
            </a:r>
            <a:r>
              <a:rPr lang="en-GB" dirty="0" err="1"/>
              <a:t>danach</a:t>
            </a:r>
            <a:r>
              <a:rPr lang="en-GB" dirty="0"/>
              <a:t> </a:t>
            </a:r>
            <a:r>
              <a:rPr lang="en-GB" dirty="0" err="1"/>
              <a:t>darauf</a:t>
            </a:r>
            <a:r>
              <a:rPr lang="en-GB" dirty="0"/>
              <a:t> </a:t>
            </a:r>
            <a:r>
              <a:rPr lang="en-GB" dirty="0" err="1"/>
              <a:t>zugreifen</a:t>
            </a:r>
            <a:endParaRPr lang="en-GB" dirty="0"/>
          </a:p>
          <a:p>
            <a:pPr lvl="1">
              <a:buFont typeface="Wingdings" pitchFamily="2" charset="2"/>
              <a:buChar char="§"/>
            </a:pPr>
            <a:r>
              <a:rPr lang="en-GB" b="1" dirty="0" err="1"/>
              <a:t>Destruktor</a:t>
            </a:r>
            <a:r>
              <a:rPr lang="en-GB" dirty="0"/>
              <a:t>: </a:t>
            </a:r>
            <a:r>
              <a:rPr lang="en-GB" dirty="0" err="1"/>
              <a:t>allozierten</a:t>
            </a:r>
            <a:r>
              <a:rPr lang="en-GB" dirty="0"/>
              <a:t> Speicher </a:t>
            </a:r>
            <a:r>
              <a:rPr lang="en-GB" dirty="0" err="1"/>
              <a:t>freigeben</a:t>
            </a:r>
            <a:endParaRPr lang="en-GB" dirty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8DE9AA-D605-6B76-B28A-933B2773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 altLang="en-DE" dirty="0"/>
              <a:t>Rule </a:t>
            </a:r>
            <a:r>
              <a:rPr lang="de-DE" altLang="en-DE" dirty="0" err="1"/>
              <a:t>of</a:t>
            </a:r>
            <a:r>
              <a:rPr lang="de-DE" altLang="en-DE" dirty="0"/>
              <a:t> </a:t>
            </a:r>
            <a:r>
              <a:rPr lang="de-DE" altLang="en-DE" dirty="0" err="1"/>
              <a:t>Three</a:t>
            </a:r>
            <a:r>
              <a:rPr lang="de-DE" altLang="en-DE" dirty="0"/>
              <a:t> (Shallow Copy Problem)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49953-9DC7-8947-1BCC-9EEA680EDADE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rule_of_three</a:t>
            </a:r>
            <a:r>
              <a:rPr lang="en-DE" sz="1600" b="1" dirty="0">
                <a:hlinkClick r:id="rId2"/>
              </a:rPr>
              <a:t>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130997090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2B9EC9-A326-36F7-4BE5-C4004ED7F8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239838"/>
            <a:ext cx="7813625" cy="3563938"/>
          </a:xfrm>
        </p:spPr>
        <p:txBody>
          <a:bodyPr/>
          <a:lstStyle/>
          <a:p>
            <a:pPr marL="0" indent="0">
              <a:buNone/>
            </a:pPr>
            <a:endParaRPr lang="en-DE" sz="2000" b="1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DE" sz="2000" b="1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DE" sz="2000" b="1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DE" sz="2000" b="1" dirty="0">
                <a:solidFill>
                  <a:schemeClr val="accent3"/>
                </a:solidFill>
              </a:rPr>
              <a:t>Infix-Notation </a:t>
            </a:r>
            <a:r>
              <a:rPr lang="en-DE" sz="2000" dirty="0"/>
              <a:t>			</a:t>
            </a:r>
            <a:r>
              <a:rPr lang="en-DE" sz="2000" b="1" dirty="0">
                <a:solidFill>
                  <a:srgbClr val="00B050"/>
                </a:solidFill>
              </a:rPr>
              <a:t>Postfix-Notation</a:t>
            </a:r>
            <a:r>
              <a:rPr lang="en-DE" sz="2000" dirty="0">
                <a:solidFill>
                  <a:srgbClr val="00B050"/>
                </a:solidFill>
              </a:rPr>
              <a:t> </a:t>
            </a:r>
          </a:p>
          <a:p>
            <a:pPr marL="0" indent="0">
              <a:buNone/>
            </a:pPr>
            <a:r>
              <a:rPr lang="en-DE" sz="2000" dirty="0">
                <a:solidFill>
                  <a:schemeClr val="accent3"/>
                </a:solidFill>
              </a:rPr>
              <a:t>(2.0 * 3.0 + (2.0 / 4.0)) * 7.0		</a:t>
            </a:r>
            <a:r>
              <a:rPr lang="en-DE" sz="2000" dirty="0">
                <a:solidFill>
                  <a:srgbClr val="00B050"/>
                </a:solidFill>
              </a:rPr>
              <a:t>2.0 3.0 * 2.0 4.0 / + 7.0 *</a:t>
            </a:r>
          </a:p>
          <a:p>
            <a:pPr marL="0" indent="0">
              <a:buNone/>
            </a:pPr>
            <a:endParaRPr lang="en-DE" sz="2000" dirty="0">
              <a:solidFill>
                <a:schemeClr val="accent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6D049F-1972-730F-41A7-F4427DEE9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0241A462-6F15-27E0-ED84-95024B9DB95E}"/>
              </a:ext>
            </a:extLst>
          </p:cNvPr>
          <p:cNvSpPr/>
          <p:nvPr/>
        </p:nvSpPr>
        <p:spPr bwMode="gray">
          <a:xfrm>
            <a:off x="3923928" y="2481733"/>
            <a:ext cx="702692" cy="666081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576400"/>
      </p:ext>
    </p:extLst>
  </p:cSld>
  <p:clrMapOvr>
    <a:masterClrMapping/>
  </p:clrMapOvr>
  <p:transition spd="slow"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74347B-559D-B4F7-0CEF-992D61491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190DF-A7BE-2DCC-6150-3C06A8BE9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76" y="1275606"/>
            <a:ext cx="4435098" cy="361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93551"/>
      </p:ext>
    </p:extLst>
  </p:cSld>
  <p:clrMapOvr>
    <a:masterClrMapping/>
  </p:clrMapOvr>
  <p:transition spd="slow">
    <p:wipe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76134D-FF6E-2CCB-1650-19E971B44F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</a:t>
            </a:r>
            <a:r>
              <a:rPr lang="en-DE" dirty="0">
                <a:highlight>
                  <a:srgbClr val="FFFF00"/>
                </a:highlight>
              </a:rPr>
              <a:t> ( </a:t>
            </a:r>
            <a:r>
              <a:rPr lang="en-DE" dirty="0"/>
              <a:t>2.0 * 3.0 + ( 2.0 / 4.0 )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1C0BA1-F56F-9A2E-FB2C-4319B0AEA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0CB8B-40A4-F972-B8DF-ECF6A0A645F4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8B6970-8D46-0C6B-3EFA-EB10866D7F00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D49A8-832B-C712-6DBF-8A558DD955F6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C592F-C6A8-85D3-AE84-530C3F06F528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323C5-0521-55A0-68BA-18CC6E57EC80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9199F7-FA8A-1D28-8FF7-6330A4A7F4AD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857ABE6-00C4-B5FD-418F-7ADCC71D1D1C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6E126F-BAF5-E6EE-3C92-BE3E85C4C4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8751"/>
      </p:ext>
    </p:extLst>
  </p:cSld>
  <p:clrMapOvr>
    <a:masterClrMapping/>
  </p:clrMapOvr>
  <p:transition spd="slow"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5F6B-4601-5A67-A30C-0D739E6D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D2C3AD-D478-ADE4-63CD-92DE1BAB1F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</a:t>
            </a:r>
            <a:r>
              <a:rPr lang="en-DE" dirty="0">
                <a:highlight>
                  <a:srgbClr val="FFFF00"/>
                </a:highlight>
              </a:rPr>
              <a:t>2.0</a:t>
            </a:r>
            <a:r>
              <a:rPr lang="en-DE" dirty="0"/>
              <a:t> * 3.0 + ( 2.0 / 4.0 )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6FAA72-1633-0C4F-EF55-4D946D9D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CA207-D322-B8DD-9549-90B27A681B86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75F69-9424-F240-22DF-C18B0E34B500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854AD-1C98-B3F3-C9CA-F4BF49347225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EABDE-3550-6079-A8D2-D381329ABB36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B218-0E44-0683-09A9-C468CBDB2F79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17159-C3EA-E4AE-2F62-05497D646B3B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03D6264-2AD7-A5C0-AE69-5253FA60E587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4CF616A-A550-2ED0-542D-8F3C8503C96A}"/>
              </a:ext>
            </a:extLst>
          </p:cNvPr>
          <p:cNvSpPr/>
          <p:nvPr/>
        </p:nvSpPr>
        <p:spPr bwMode="gray">
          <a:xfrm>
            <a:off x="3905547" y="2355504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EFA0DD-68E5-0AF6-DDA8-B60E994511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41781"/>
      </p:ext>
    </p:extLst>
  </p:cSld>
  <p:clrMapOvr>
    <a:masterClrMapping/>
  </p:clrMapOvr>
  <p:transition spd="slow">
    <p:wipe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BD16D-E43C-7E3D-9D29-DD425707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66BEEC-9FC5-9DE1-80CC-04D8D8C7D5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</a:t>
            </a:r>
            <a:r>
              <a:rPr lang="en-DE" dirty="0">
                <a:highlight>
                  <a:srgbClr val="FFFF00"/>
                </a:highlight>
              </a:rPr>
              <a:t>*</a:t>
            </a:r>
            <a:r>
              <a:rPr lang="en-DE" dirty="0"/>
              <a:t> 3.0 + ( 2.0 / 4.0 )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053159-3D44-B1F9-32E8-69A6B46A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4A962-0CBF-2664-FD31-C5C050AC92A4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5E4DAE-0BA3-6334-5022-DE5B435A1089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8107F-38DB-232A-0A87-A21CB14F34B6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78240E-A6A6-6CD5-13C6-90D8FC6EB7D8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F8AB79-5479-ED13-F281-98ED76DF3157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B9A8D-0AA0-8627-8BF0-C67E0EE59382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DFB52F-BC6E-028A-7E93-7E585F6A3B02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97A2C67-2B80-3C65-0F9C-69AEC5A692D3}"/>
              </a:ext>
            </a:extLst>
          </p:cNvPr>
          <p:cNvSpPr/>
          <p:nvPr/>
        </p:nvSpPr>
        <p:spPr bwMode="gray">
          <a:xfrm>
            <a:off x="3905547" y="2355504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4E7974-51AA-20FD-D4AE-BA9D0BB6BE64}"/>
              </a:ext>
            </a:extLst>
          </p:cNvPr>
          <p:cNvSpPr/>
          <p:nvPr/>
        </p:nvSpPr>
        <p:spPr bwMode="gray">
          <a:xfrm>
            <a:off x="1078847" y="4341018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ABF92E8-2676-9A83-2753-7365A59C2E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6019"/>
      </p:ext>
    </p:extLst>
  </p:cSld>
  <p:clrMapOvr>
    <a:masterClrMapping/>
  </p:clrMapOvr>
  <p:transition spd="slow"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5218B-73E0-7E61-EBEB-1360C403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278DBA-A673-1651-65E2-B506B902D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</a:t>
            </a:r>
            <a:r>
              <a:rPr lang="en-DE" dirty="0">
                <a:highlight>
                  <a:srgbClr val="FFFF00"/>
                </a:highlight>
              </a:rPr>
              <a:t>3.0</a:t>
            </a:r>
            <a:r>
              <a:rPr lang="en-DE" dirty="0"/>
              <a:t> + ( 2.0 / 4.0 )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31F4A3-91AB-AC18-71F0-F1EFFD6F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6B905-015B-9F09-819B-09950F4A1812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A0049A-47E5-B85C-195A-E0ED74552E67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BBF4A-367C-101B-5D9C-0B9BCF3D1ABB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5A05B-460D-182B-241D-8268ED16B7A1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E52435-F632-0420-D703-09FBE4DBCEBF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D86A7E-DAC0-10E1-7C4B-BA9D0EEA99D0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31FEB94-C2E9-04B2-11DF-8946A15D6D86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975841E-8BF1-3B5D-51E5-A2B9A0C808F6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D02931-C947-74F4-6750-468176665AA5}"/>
              </a:ext>
            </a:extLst>
          </p:cNvPr>
          <p:cNvSpPr/>
          <p:nvPr/>
        </p:nvSpPr>
        <p:spPr bwMode="gray">
          <a:xfrm>
            <a:off x="1078847" y="4341018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CD9E38-B0BB-6320-BD07-31A40BE9BC8B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0DAA7-B878-DF36-D0AE-013CC719E1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28659"/>
      </p:ext>
    </p:extLst>
  </p:cSld>
  <p:clrMapOvr>
    <a:masterClrMapping/>
  </p:clrMapOvr>
  <p:transition spd="slow"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94091-93DE-3B48-57B9-350A6DD00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3C610F-417F-0436-2524-A0A2391741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</a:t>
            </a:r>
            <a:r>
              <a:rPr lang="en-DE" dirty="0">
                <a:highlight>
                  <a:srgbClr val="FFFF00"/>
                </a:highlight>
              </a:rPr>
              <a:t>+</a:t>
            </a:r>
            <a:r>
              <a:rPr lang="en-DE" dirty="0"/>
              <a:t> ( 2.0 / 4.0 )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CF35FC-761B-6ECD-A617-2F63BCD2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149F8-8F02-B9FA-372F-781D991FDF6F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D9A85B-1DC1-2F44-A719-0E6795F0844A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DE1C7-3E9D-0C8A-A861-519E4FBFB09C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98C79-F052-A10B-BCB9-297F04575E53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4A853A-27C2-462A-2E64-8217F7852DC1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16C83F-FCCB-F03B-7253-EEF416B6726E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A3119B-080F-810F-4CC9-64320C6FF10C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B0B6B0-0726-FC35-A0B5-260771DEE182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9338AA-BC30-CC55-5A13-F414E4E0DC2D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BE1E8E-5EF5-0024-92E9-88AEECB93936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66EF07-7424-5851-CE4D-877260E781CD}"/>
              </a:ext>
            </a:extLst>
          </p:cNvPr>
          <p:cNvCxnSpPr>
            <a:cxnSpLocks/>
          </p:cNvCxnSpPr>
          <p:nvPr/>
        </p:nvCxnSpPr>
        <p:spPr bwMode="gray">
          <a:xfrm flipV="1">
            <a:off x="2106417" y="2931790"/>
            <a:ext cx="1961527" cy="14401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84F7FD3-91B6-C8FD-FAA3-E60F006A05EF}"/>
              </a:ext>
            </a:extLst>
          </p:cNvPr>
          <p:cNvSpPr/>
          <p:nvPr/>
        </p:nvSpPr>
        <p:spPr bwMode="gray">
          <a:xfrm>
            <a:off x="1078847" y="4159903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22F7C6A-1CFE-42C2-76E0-C5A08831A888}"/>
              </a:ext>
            </a:extLst>
          </p:cNvPr>
          <p:cNvSpPr/>
          <p:nvPr/>
        </p:nvSpPr>
        <p:spPr bwMode="gray">
          <a:xfrm>
            <a:off x="1078847" y="4332691"/>
            <a:ext cx="756841" cy="162302"/>
          </a:xfrm>
          <a:prstGeom prst="round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A4704F-E355-ABB0-7C14-A683659A72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28319"/>
      </p:ext>
    </p:extLst>
  </p:cSld>
  <p:clrMapOvr>
    <a:masterClrMapping/>
  </p:clrMapOvr>
  <p:transition spd="slow">
    <p:wipe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DCAF8-780A-3654-2829-B383A343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9E7392-AA90-34CA-0816-BB8750A4AB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</a:t>
            </a:r>
            <a:r>
              <a:rPr lang="en-DE" dirty="0">
                <a:highlight>
                  <a:srgbClr val="FFFF00"/>
                </a:highlight>
              </a:rPr>
              <a:t> ( </a:t>
            </a:r>
            <a:r>
              <a:rPr lang="en-DE" dirty="0"/>
              <a:t>2.0 / 4.0 )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A92146-E882-5E78-D6F6-2A6BE8FA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DAA46-F9D2-5805-38B4-990BCE3BFC76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56E750-4BDD-9623-86B9-13B6BAD4E73E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99988-3A33-F481-C118-BF7724EA765A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78162-DE8B-5214-07EB-B60076D3D009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1468C-D286-3630-0239-243E7C4C964A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C4B96-AC77-461B-4E42-B03CDA5181A7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B2CBC2-871F-7BF3-2F46-D959EEE3571E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4F6DA21-6549-EA68-07FA-878ADF6E7F05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8F6D0F-9EC5-6E74-2879-67A790B31D5F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F3CC67-A890-FD25-1DC9-5D3A5CF5B272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9664AEA-AF63-093D-BEAE-6A82242F637E}"/>
              </a:ext>
            </a:extLst>
          </p:cNvPr>
          <p:cNvSpPr/>
          <p:nvPr/>
        </p:nvSpPr>
        <p:spPr bwMode="gray">
          <a:xfrm>
            <a:off x="1078847" y="4339178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4CC97C-1D35-6A14-FF13-7FDD040EE520}"/>
              </a:ext>
            </a:extLst>
          </p:cNvPr>
          <p:cNvSpPr/>
          <p:nvPr/>
        </p:nvSpPr>
        <p:spPr bwMode="gray">
          <a:xfrm>
            <a:off x="1078846" y="4162390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F97F59-5043-2CC1-4A4B-719C118C3D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00361"/>
      </p:ext>
    </p:extLst>
  </p:cSld>
  <p:clrMapOvr>
    <a:masterClrMapping/>
  </p:clrMapOvr>
  <p:transition spd="slow">
    <p:wipe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3C9E-A070-5F88-3324-CC957F09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C1DB53-1546-0838-8E6B-33292F2EE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</a:t>
            </a:r>
            <a:r>
              <a:rPr lang="en-DE" dirty="0">
                <a:highlight>
                  <a:srgbClr val="FFFF00"/>
                </a:highlight>
              </a:rPr>
              <a:t>2.0</a:t>
            </a:r>
            <a:r>
              <a:rPr lang="en-DE" dirty="0"/>
              <a:t> / 4.0 )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017F6C-935F-8929-9601-855406F4C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BBAA1-8FAD-F1F5-2795-A27E52ACB030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49782-9890-5F2B-9F74-A98D6BD41B9E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BCF6D-8FD8-C67F-7700-8C2BF4A3889B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9A9D8-738F-EF30-92AC-7B9DA26A0018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6FDE9D-B5F7-7053-1547-B30FE19FCFE2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83B066-D0B4-0AFA-9D30-0B7D4790933D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9EFA6E5-E78D-07F5-8D64-BFF615799573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BC818C9-EBF5-7E41-9B14-B3AB183C1592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DF7245-9D51-7C50-F957-CA79D0DEF178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913BCF-07DF-0525-72E4-D1732CAC428F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5BB8D49-1941-CF98-20AF-08C61FA4896C}"/>
              </a:ext>
            </a:extLst>
          </p:cNvPr>
          <p:cNvSpPr/>
          <p:nvPr/>
        </p:nvSpPr>
        <p:spPr bwMode="gray">
          <a:xfrm>
            <a:off x="1078847" y="4339178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320803-3827-830F-CBBB-EA3566A90EF8}"/>
              </a:ext>
            </a:extLst>
          </p:cNvPr>
          <p:cNvSpPr/>
          <p:nvPr/>
        </p:nvSpPr>
        <p:spPr bwMode="gray">
          <a:xfrm>
            <a:off x="1078846" y="416239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D653C76-336A-0FA9-352A-A3AE5321DF23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F6DFFC-0F9C-4F5B-36DD-A85F9A706D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65859"/>
      </p:ext>
    </p:extLst>
  </p:cSld>
  <p:clrMapOvr>
    <a:masterClrMapping/>
  </p:clrMapOvr>
  <p:transition spd="slow">
    <p:wipe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89C42-5A56-611A-6FE9-FAFCC34B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2C477C-29A9-1C64-DFF6-E203280799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( 2.0 </a:t>
            </a:r>
            <a:r>
              <a:rPr lang="en-DE" dirty="0">
                <a:highlight>
                  <a:srgbClr val="FFFF00"/>
                </a:highlight>
              </a:rPr>
              <a:t>/</a:t>
            </a:r>
            <a:r>
              <a:rPr lang="en-DE" dirty="0"/>
              <a:t> 4.0 )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996CB2-0A6C-B2B8-4BE7-AB817387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8B31B3-D4AF-463E-93A2-C2EECD282F05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782846-A945-3B4E-B9F3-0E41F7C9F2D7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80F03-A4D4-50F7-2A0F-E57D57609E57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8881A-7A6B-2A47-A686-0D3F446D2C6B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7DDED1-404F-99AE-C49E-D940FE2D7DF1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41F1F-24E0-AE4E-E789-4EEEFC27D184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58D4E3-648B-B8E9-07EB-86481AF0C323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BAA5E78-45D3-56AA-28B9-04BF54532068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C58D7B6-C637-C6BC-AB79-3D3E6CB39C5B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6421BF-63E3-E4BD-F355-D522B63A3644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83DCA2A-CE19-0343-D8CA-0F9164E7E891}"/>
              </a:ext>
            </a:extLst>
          </p:cNvPr>
          <p:cNvSpPr/>
          <p:nvPr/>
        </p:nvSpPr>
        <p:spPr bwMode="gray">
          <a:xfrm>
            <a:off x="1078847" y="4339178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7FC2BD-A70A-27A6-F3FB-D6F8005AE25B}"/>
              </a:ext>
            </a:extLst>
          </p:cNvPr>
          <p:cNvSpPr/>
          <p:nvPr/>
        </p:nvSpPr>
        <p:spPr bwMode="gray">
          <a:xfrm>
            <a:off x="1078846" y="416239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6AD1D02-9291-15B7-DFD8-B77231D3890C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A895EE-0F95-6863-5208-F2DBD8D92574}"/>
              </a:ext>
            </a:extLst>
          </p:cNvPr>
          <p:cNvSpPr/>
          <p:nvPr/>
        </p:nvSpPr>
        <p:spPr bwMode="gray">
          <a:xfrm>
            <a:off x="1078845" y="3985602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/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94EA80-2D31-DB1F-841E-6812AD2DC2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86109"/>
      </p:ext>
    </p:extLst>
  </p:cSld>
  <p:clrMapOvr>
    <a:masterClrMapping/>
  </p:clrMapOvr>
  <p:transition spd="slow">
    <p:wipe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5BB5-C0FB-E825-5575-4F1CEC5D6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E2C21E-C34C-A39C-2F43-20554F404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( 2.0 / </a:t>
            </a:r>
            <a:r>
              <a:rPr lang="en-DE" dirty="0">
                <a:highlight>
                  <a:srgbClr val="FFFF00"/>
                </a:highlight>
              </a:rPr>
              <a:t>4.0</a:t>
            </a:r>
            <a:r>
              <a:rPr lang="en-DE" dirty="0"/>
              <a:t> )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B48216-70E6-0870-1C02-0D1D1185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4D742-B42D-6E98-B52E-D1285679B708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54D4C6-49FB-3620-4DBB-F3D8A56B971F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535CF-BAE2-DB90-1C4A-3DF6537F3A3F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97ED8-742A-7769-B317-C50D8456E14B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23CAC1-56E1-079D-60B2-FECACF1F83D0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A10591-F95B-0175-4D24-4F2A3C7F17B4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5EA90A6-A5C2-1408-6AEA-E7B7304B17E4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F27A82-56DC-1FA2-102F-B3F14B952DF8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1826C9-C87B-8047-BE98-E0287FE973C8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6FEA69-F65E-AEB6-895B-B1D1C04117B2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F4BA9BE-5935-B4B6-708F-CF91F378FB5B}"/>
              </a:ext>
            </a:extLst>
          </p:cNvPr>
          <p:cNvSpPr/>
          <p:nvPr/>
        </p:nvSpPr>
        <p:spPr bwMode="gray">
          <a:xfrm>
            <a:off x="1078847" y="4339178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61CA8CA-24A9-CD26-114F-55E6EB189C12}"/>
              </a:ext>
            </a:extLst>
          </p:cNvPr>
          <p:cNvSpPr/>
          <p:nvPr/>
        </p:nvSpPr>
        <p:spPr bwMode="gray">
          <a:xfrm>
            <a:off x="1078846" y="416239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374FAFB-87A8-876B-177D-84796D11B48E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986D152-84C7-2EB5-B097-36A695EA0EBB}"/>
              </a:ext>
            </a:extLst>
          </p:cNvPr>
          <p:cNvSpPr/>
          <p:nvPr/>
        </p:nvSpPr>
        <p:spPr bwMode="gray">
          <a:xfrm>
            <a:off x="1078845" y="3985602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10D1BD1-249C-52B7-BC6E-807566E43635}"/>
              </a:ext>
            </a:extLst>
          </p:cNvPr>
          <p:cNvSpPr/>
          <p:nvPr/>
        </p:nvSpPr>
        <p:spPr bwMode="gray">
          <a:xfrm>
            <a:off x="3901188" y="3053205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4.0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6BF044-E7F2-AEE1-1B68-A764018206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82062"/>
      </p:ext>
    </p:extLst>
  </p:cSld>
  <p:clrMapOvr>
    <a:masterClrMapping/>
  </p:clrMapOvr>
  <p:transition spd="slow">
    <p:wipe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8323-F2D8-2258-2F9A-4E11D4630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97C699-D82B-8AB0-63BC-790150CF26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( 2.0 / 4.0</a:t>
            </a:r>
            <a:r>
              <a:rPr lang="en-DE" dirty="0">
                <a:highlight>
                  <a:srgbClr val="FFFF00"/>
                </a:highlight>
              </a:rPr>
              <a:t> )</a:t>
            </a:r>
            <a:r>
              <a:rPr lang="en-DE" dirty="0"/>
              <a:t> )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339937-E285-ED82-1054-C8E353CE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5932D-F6C7-0D68-8FB0-66B6DBE3FFE3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D70C4-F17A-3D5B-EBDA-02C915D81475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03687-CDA1-99F9-C1C3-520A68B594B7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EE6FB-5DA6-E02A-D26B-5FCFD4156113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B60C0E-2758-2CD8-1B0B-A37B5A1E3E69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DC53B2-2BF4-89AA-7FC5-B9876789BADD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434276F-A840-1F5C-5995-686E13953532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A715FEF-D0DF-45A1-77EF-548A26C20684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64E67C-1764-E1C5-22AE-887103B03345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27A72F-6E10-F014-0BF5-417AED636201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E4EA16C-138F-B3E4-F337-AF5D8B798280}"/>
              </a:ext>
            </a:extLst>
          </p:cNvPr>
          <p:cNvSpPr/>
          <p:nvPr/>
        </p:nvSpPr>
        <p:spPr bwMode="gray">
          <a:xfrm>
            <a:off x="1078847" y="4339178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2FDC09-1482-F708-B633-1B96BBA14D42}"/>
              </a:ext>
            </a:extLst>
          </p:cNvPr>
          <p:cNvSpPr/>
          <p:nvPr/>
        </p:nvSpPr>
        <p:spPr bwMode="gray">
          <a:xfrm>
            <a:off x="1078846" y="4162390"/>
            <a:ext cx="756841" cy="162302"/>
          </a:xfrm>
          <a:prstGeom prst="round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30B1818-0992-3AB8-F4D7-F53961AB4B0D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1BAC2DB-7195-A95F-B84D-4D5ED05844BE}"/>
              </a:ext>
            </a:extLst>
          </p:cNvPr>
          <p:cNvSpPr/>
          <p:nvPr/>
        </p:nvSpPr>
        <p:spPr bwMode="gray">
          <a:xfrm>
            <a:off x="3901187" y="3226282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8569D30-8054-3722-68E6-A91F86C9F4E6}"/>
              </a:ext>
            </a:extLst>
          </p:cNvPr>
          <p:cNvSpPr/>
          <p:nvPr/>
        </p:nvSpPr>
        <p:spPr bwMode="gray">
          <a:xfrm>
            <a:off x="3901188" y="305320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4.0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2E07AB-CAE9-28CD-D940-E92F7BD4DCEC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3370" y="3388584"/>
            <a:ext cx="1589837" cy="695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03BE06D-6FCA-3DE1-034F-983791861006}"/>
              </a:ext>
            </a:extLst>
          </p:cNvPr>
          <p:cNvSpPr/>
          <p:nvPr/>
        </p:nvSpPr>
        <p:spPr bwMode="gray">
          <a:xfrm>
            <a:off x="1078846" y="3983784"/>
            <a:ext cx="756841" cy="162302"/>
          </a:xfrm>
          <a:prstGeom prst="round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8DFDA4-597A-B0E2-D323-0F5CC19CF1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82404"/>
      </p:ext>
    </p:extLst>
  </p:cSld>
  <p:clrMapOvr>
    <a:masterClrMapping/>
  </p:clrMapOvr>
  <p:transition spd="slow">
    <p:wipe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D5E1-FAAF-AD47-F7B3-95062FBA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B2CA71-1516-C2C0-9C65-1CC8D616E9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( 2.0 / 4.0 )</a:t>
            </a:r>
            <a:r>
              <a:rPr lang="en-DE" dirty="0">
                <a:highlight>
                  <a:srgbClr val="FFFF00"/>
                </a:highlight>
              </a:rPr>
              <a:t> )</a:t>
            </a:r>
            <a:r>
              <a:rPr lang="en-DE" dirty="0"/>
              <a:t> *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F5DC9-9E28-2336-30B4-225F0BD3A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E8008E-7878-F06F-BCD5-A4A584902DE9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092263-676E-B4FE-8EB4-83470BF7999A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48CF1-D825-4B45-24F7-DFDFE2F6CAF9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0A755-701E-639F-515B-4907A60E6C80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1798E4-6B86-CD27-BE14-95DC85A8E9E3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0755D-20E9-77F5-EEFA-518BF0024A6F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151D476-A413-4928-47A7-6D0F85C8BFE3}"/>
              </a:ext>
            </a:extLst>
          </p:cNvPr>
          <p:cNvSpPr/>
          <p:nvPr/>
        </p:nvSpPr>
        <p:spPr bwMode="gray">
          <a:xfrm>
            <a:off x="1078848" y="4515966"/>
            <a:ext cx="756841" cy="162302"/>
          </a:xfrm>
          <a:prstGeom prst="round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03F0210-714F-FED9-E5D5-580FC3C0F03F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61D86C-9924-A51E-5640-96CFC1042FF4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DB0F85-A5A5-4CC0-0D23-E6F37B11E19D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6A80003-CA8D-BA92-3EAB-A651FB874E0C}"/>
              </a:ext>
            </a:extLst>
          </p:cNvPr>
          <p:cNvSpPr/>
          <p:nvPr/>
        </p:nvSpPr>
        <p:spPr bwMode="gray">
          <a:xfrm>
            <a:off x="1078847" y="4339178"/>
            <a:ext cx="756841" cy="162302"/>
          </a:xfrm>
          <a:prstGeom prst="round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7CA4A7B-D943-B6EB-8342-BFEB205316C1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7E31847-017B-DC7B-8635-20D82F4CDDF6}"/>
              </a:ext>
            </a:extLst>
          </p:cNvPr>
          <p:cNvSpPr/>
          <p:nvPr/>
        </p:nvSpPr>
        <p:spPr bwMode="gray">
          <a:xfrm>
            <a:off x="3901187" y="3226282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DF10634-5EE8-8C12-F4A2-BA4D2CFCFCBC}"/>
              </a:ext>
            </a:extLst>
          </p:cNvPr>
          <p:cNvSpPr/>
          <p:nvPr/>
        </p:nvSpPr>
        <p:spPr bwMode="gray">
          <a:xfrm>
            <a:off x="3901188" y="305320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4.0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A8D3EA-1D54-99C2-4739-79B60BD4FB01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6267" y="3724995"/>
            <a:ext cx="1589837" cy="695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9C3393C-E793-DE24-4097-FC6091960057}"/>
              </a:ext>
            </a:extLst>
          </p:cNvPr>
          <p:cNvSpPr/>
          <p:nvPr/>
        </p:nvSpPr>
        <p:spPr bwMode="gray">
          <a:xfrm>
            <a:off x="3901186" y="3406547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BF3B0B-7C7C-AAAB-01ED-32ABD45F46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90307"/>
      </p:ext>
    </p:extLst>
  </p:cSld>
  <p:clrMapOvr>
    <a:masterClrMapping/>
  </p:clrMapOvr>
  <p:transition spd="slow">
    <p:wipe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B22CE-0B59-E7ED-0D4B-7778CE31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D8D20A-4F4F-32CB-455E-FCB1BC0FA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( 2.0 / 4.0 ) ) </a:t>
            </a:r>
            <a:r>
              <a:rPr lang="en-DE" dirty="0">
                <a:highlight>
                  <a:srgbClr val="FFFF00"/>
                </a:highlight>
              </a:rPr>
              <a:t>*</a:t>
            </a:r>
            <a:r>
              <a:rPr lang="en-DE" dirty="0"/>
              <a:t> 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1565B2-8621-1F5C-0B45-D220BA99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7AB6F-E740-0A68-E2B8-4F4FD208DFFB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034B4B-CA54-5736-54F8-30D7FBA28CEA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84FC6-C552-D32E-568F-04995F7640E6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8AE67A-0823-7679-564E-ACCD53FB18E0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1E8CCB-EBEC-107B-187C-DB1056B6C0C4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D16B94-262D-32C5-4DE7-C3274ECD2E64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03F5627-4E06-1152-7DF5-50D956748BF2}"/>
              </a:ext>
            </a:extLst>
          </p:cNvPr>
          <p:cNvSpPr/>
          <p:nvPr/>
        </p:nvSpPr>
        <p:spPr bwMode="gray">
          <a:xfrm>
            <a:off x="1078855" y="4515966"/>
            <a:ext cx="756841" cy="162302"/>
          </a:xfrm>
          <a:prstGeom prst="round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3AE7C70-DA73-5FE4-24EC-6FA05D5D74F7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77D61C7-A540-4069-7640-DD4CA0B30816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8815EA9-C1D9-1156-568D-5E6DA9A324F3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9C64029-9DF9-E7C1-0077-755111C318C0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41660B-85DD-B124-44C2-9B7D93A83EA3}"/>
              </a:ext>
            </a:extLst>
          </p:cNvPr>
          <p:cNvSpPr/>
          <p:nvPr/>
        </p:nvSpPr>
        <p:spPr bwMode="gray">
          <a:xfrm>
            <a:off x="3901187" y="3226282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0B55769-3373-948F-CAE0-F05EB137D9DA}"/>
              </a:ext>
            </a:extLst>
          </p:cNvPr>
          <p:cNvSpPr/>
          <p:nvPr/>
        </p:nvSpPr>
        <p:spPr bwMode="gray">
          <a:xfrm>
            <a:off x="3901188" y="305320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4.0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EADF24-6D29-DD81-EAD7-13A47193C200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6267" y="3724995"/>
            <a:ext cx="1589837" cy="695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838981F-039E-7CEB-61B5-F9415E59935C}"/>
              </a:ext>
            </a:extLst>
          </p:cNvPr>
          <p:cNvSpPr/>
          <p:nvPr/>
        </p:nvSpPr>
        <p:spPr bwMode="gray">
          <a:xfrm>
            <a:off x="3901186" y="3406547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383E6-2E8D-9B05-00B0-83985436CE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19257"/>
      </p:ext>
    </p:extLst>
  </p:cSld>
  <p:clrMapOvr>
    <a:masterClrMapping/>
  </p:clrMapOvr>
  <p:transition spd="slow">
    <p:wipe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B86EB-15D1-F869-430D-EACE9A5B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905364-4977-42FB-3548-862FA5DD9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( 2.0 / 4.0 ) ) * </a:t>
            </a:r>
            <a:r>
              <a:rPr lang="en-DE" dirty="0">
                <a:highlight>
                  <a:srgbClr val="FFFF00"/>
                </a:highlight>
              </a:rPr>
              <a:t>7.0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DF9F46-0C20-A7BF-453F-80BDBF88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24BAD-EE0F-BA50-6A67-B5B9F83F4B5D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C6A883-EA89-FBE0-3274-21C69D28FB40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CDD07-430A-55CD-4281-1364856E7690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24E16-5D2B-5684-4436-D2098759EFB9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D63B5F-5F4F-A936-B00C-5FC741F291D5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24822D-4D7C-94FA-233A-44E6A5398827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3C1E1F-6C95-2D61-7888-EFB7B8733C02}"/>
              </a:ext>
            </a:extLst>
          </p:cNvPr>
          <p:cNvSpPr/>
          <p:nvPr/>
        </p:nvSpPr>
        <p:spPr bwMode="gray">
          <a:xfrm>
            <a:off x="1078855" y="4515966"/>
            <a:ext cx="756841" cy="162302"/>
          </a:xfrm>
          <a:prstGeom prst="round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008B0-BC0F-06DE-4CBB-E907803F10D1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843D13-5443-BC97-3617-A4AA0C50FEDE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22688A-3664-86F7-43D2-9B3D56274980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8A9A5C-BF04-4058-DD64-2BD89EC5C70E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F942DB3-365B-08A8-BAA4-938B9F71A02D}"/>
              </a:ext>
            </a:extLst>
          </p:cNvPr>
          <p:cNvSpPr/>
          <p:nvPr/>
        </p:nvSpPr>
        <p:spPr bwMode="gray">
          <a:xfrm>
            <a:off x="3901187" y="3226282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C24F648-B474-7CA5-EA31-7AC5874AD7AA}"/>
              </a:ext>
            </a:extLst>
          </p:cNvPr>
          <p:cNvSpPr/>
          <p:nvPr/>
        </p:nvSpPr>
        <p:spPr bwMode="gray">
          <a:xfrm>
            <a:off x="3901188" y="305320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4.0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6E6327A-6AC8-4409-1941-AF73B5D41C1D}"/>
              </a:ext>
            </a:extLst>
          </p:cNvPr>
          <p:cNvSpPr/>
          <p:nvPr/>
        </p:nvSpPr>
        <p:spPr bwMode="gray">
          <a:xfrm>
            <a:off x="3901186" y="3406547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347620-5682-B60F-23A4-32617EB7D01E}"/>
              </a:ext>
            </a:extLst>
          </p:cNvPr>
          <p:cNvSpPr/>
          <p:nvPr/>
        </p:nvSpPr>
        <p:spPr bwMode="gray">
          <a:xfrm>
            <a:off x="3901186" y="3586812"/>
            <a:ext cx="756841" cy="1623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7.0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B456D4-48E6-6A39-1A28-D397BAA999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77704"/>
      </p:ext>
    </p:extLst>
  </p:cSld>
  <p:clrMapOvr>
    <a:masterClrMapping/>
  </p:clrMapOvr>
  <p:transition spd="slow">
    <p:wipe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FDAD-877A-F70B-8DFB-E8789CC9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6450A5-63B3-466F-E05F-EA443241E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( 2.0 / 4.0 ) ) * 7.0 </a:t>
            </a:r>
            <a:r>
              <a:rPr lang="en-DE" dirty="0">
                <a:highlight>
                  <a:srgbClr val="FFFF00"/>
                </a:highlight>
              </a:rPr>
              <a:t>_ 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85C9B-17CD-FF25-E8A5-07135C0C9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0C75A-AA33-A49C-4C77-B8F28E5CA7CC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586F77-CAA1-92D9-9878-9F2E84506CF0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473FD-6C47-2444-DA91-0E25E176DD20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B93FB-4E3F-F3B4-BBA1-D4AC51730D64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DDC246-C63A-CD62-4201-FD09640EF61E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3C2C1C-B3A2-79B3-C1ED-B1369A728D9D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F5B7F47-2455-8DF2-213F-2D1299F03B61}"/>
              </a:ext>
            </a:extLst>
          </p:cNvPr>
          <p:cNvSpPr/>
          <p:nvPr/>
        </p:nvSpPr>
        <p:spPr bwMode="gray">
          <a:xfrm>
            <a:off x="1078855" y="4515966"/>
            <a:ext cx="756841" cy="162302"/>
          </a:xfrm>
          <a:prstGeom prst="round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1F140B1-0529-6693-100E-FB926BB68ABA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0E433E-C2CA-9CE8-DDB4-FC1311B7D91C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332E4A-7F5D-49CA-C5DE-E018EFE533DA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626413-31E7-22A5-B8B8-BB0315461037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22E8353-1685-5194-A7EA-8770C37CD78E}"/>
              </a:ext>
            </a:extLst>
          </p:cNvPr>
          <p:cNvSpPr/>
          <p:nvPr/>
        </p:nvSpPr>
        <p:spPr bwMode="gray">
          <a:xfrm>
            <a:off x="3901187" y="3226282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E8D25A9-61EE-C35E-FE53-4F487A403A2F}"/>
              </a:ext>
            </a:extLst>
          </p:cNvPr>
          <p:cNvSpPr/>
          <p:nvPr/>
        </p:nvSpPr>
        <p:spPr bwMode="gray">
          <a:xfrm>
            <a:off x="3901188" y="305320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4.0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065D153-847F-2044-1F1A-EA60064BD632}"/>
              </a:ext>
            </a:extLst>
          </p:cNvPr>
          <p:cNvSpPr/>
          <p:nvPr/>
        </p:nvSpPr>
        <p:spPr bwMode="gray">
          <a:xfrm>
            <a:off x="3901186" y="3406547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9C65F1-16E0-338A-35CE-CB5ED03A4AE7}"/>
              </a:ext>
            </a:extLst>
          </p:cNvPr>
          <p:cNvSpPr/>
          <p:nvPr/>
        </p:nvSpPr>
        <p:spPr bwMode="gray">
          <a:xfrm>
            <a:off x="3901186" y="3586812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7.0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1E92571-0F44-9461-734B-68C3671AD859}"/>
              </a:ext>
            </a:extLst>
          </p:cNvPr>
          <p:cNvSpPr/>
          <p:nvPr/>
        </p:nvSpPr>
        <p:spPr bwMode="gray">
          <a:xfrm>
            <a:off x="3901185" y="3767077"/>
            <a:ext cx="756841" cy="162302"/>
          </a:xfrm>
          <a:prstGeom prst="round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0F7125B-B4B7-470B-0622-4006BABE5D5F}"/>
              </a:ext>
            </a:extLst>
          </p:cNvPr>
          <p:cNvCxnSpPr>
            <a:cxnSpLocks/>
          </p:cNvCxnSpPr>
          <p:nvPr/>
        </p:nvCxnSpPr>
        <p:spPr bwMode="gray">
          <a:xfrm flipV="1">
            <a:off x="2051720" y="3903662"/>
            <a:ext cx="1601487" cy="68431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A5EFFE82-48BC-5587-02BF-EF06D1843B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52053"/>
      </p:ext>
    </p:extLst>
  </p:cSld>
  <p:clrMapOvr>
    <a:masterClrMapping/>
  </p:clrMapOvr>
  <p:transition spd="slow">
    <p:wipe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69F3A-FA9C-61EB-A2E0-A6196BE9F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C174E1-0125-2115-6483-E563537DEA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Input: ( 2.0 * 3.0 + ( 2.0 / 4.0 ) ) * 7.0         Output: </a:t>
            </a:r>
            <a:r>
              <a:rPr lang="en-DE" dirty="0">
                <a:solidFill>
                  <a:srgbClr val="00B050"/>
                </a:solidFill>
              </a:rPr>
              <a:t>2.0 3.0 * 2.0 4.0 / + 7.0 *</a:t>
            </a:r>
            <a:r>
              <a:rPr lang="en-DE" dirty="0"/>
              <a:t> 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r>
              <a:rPr lang="en-DE" b="1" dirty="0"/>
              <a:t>	Stack</a:t>
            </a:r>
            <a:r>
              <a:rPr lang="en-DE" dirty="0"/>
              <a:t>			</a:t>
            </a:r>
            <a:r>
              <a:rPr lang="en-DE" b="1" dirty="0"/>
              <a:t>Queue</a:t>
            </a:r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42E0F5-B8AE-FD7A-DB5F-5FD9C076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Shunting-Yard Algorithmus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00EC0-ACF9-9AE9-EAFA-3D4E174CBCAD}"/>
              </a:ext>
            </a:extLst>
          </p:cNvPr>
          <p:cNvSpPr txBox="1"/>
          <p:nvPr/>
        </p:nvSpPr>
        <p:spPr bwMode="gray">
          <a:xfrm>
            <a:off x="484855" y="4659982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6C778-C001-87F0-F7A5-7E531A6732C4}"/>
              </a:ext>
            </a:extLst>
          </p:cNvPr>
          <p:cNvSpPr/>
          <p:nvPr/>
        </p:nvSpPr>
        <p:spPr bwMode="gray">
          <a:xfrm>
            <a:off x="971600" y="2211710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18982A-E623-E43C-6D0C-2D23C4A6AE62}"/>
              </a:ext>
            </a:extLst>
          </p:cNvPr>
          <p:cNvSpPr txBox="1"/>
          <p:nvPr/>
        </p:nvSpPr>
        <p:spPr bwMode="gray">
          <a:xfrm>
            <a:off x="484855" y="221171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CADE8A-26A1-5948-4ED2-1D5EB811A6E0}"/>
              </a:ext>
            </a:extLst>
          </p:cNvPr>
          <p:cNvSpPr txBox="1"/>
          <p:nvPr/>
        </p:nvSpPr>
        <p:spPr bwMode="gray">
          <a:xfrm>
            <a:off x="3293167" y="4659760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A46030-13A7-4631-496C-3B501A58A19D}"/>
              </a:ext>
            </a:extLst>
          </p:cNvPr>
          <p:cNvSpPr/>
          <p:nvPr/>
        </p:nvSpPr>
        <p:spPr bwMode="gray">
          <a:xfrm>
            <a:off x="3779912" y="2211488"/>
            <a:ext cx="1008112" cy="2592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BB424A-F0DE-CB01-9889-7B07A9DFFED7}"/>
              </a:ext>
            </a:extLst>
          </p:cNvPr>
          <p:cNvSpPr txBox="1"/>
          <p:nvPr/>
        </p:nvSpPr>
        <p:spPr bwMode="gray">
          <a:xfrm>
            <a:off x="3293167" y="2211488"/>
            <a:ext cx="360040" cy="1440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800" dirty="0">
                <a:solidFill>
                  <a:schemeClr val="tx2"/>
                </a:solidFill>
              </a:rPr>
              <a:t>Front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946D9E-E946-4816-DB6E-949654C1E5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15613" r="21943" b="1709"/>
          <a:stretch>
            <a:fillRect/>
          </a:stretch>
        </p:blipFill>
        <p:spPr>
          <a:xfrm>
            <a:off x="6242119" y="1598096"/>
            <a:ext cx="2577792" cy="2250132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C5AB74E-DE1B-C2B9-0D0B-2D988D276012}"/>
              </a:ext>
            </a:extLst>
          </p:cNvPr>
          <p:cNvSpPr/>
          <p:nvPr/>
        </p:nvSpPr>
        <p:spPr bwMode="gray">
          <a:xfrm>
            <a:off x="3901190" y="2355726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6D30E18-D0B5-674D-7380-987E7285644F}"/>
              </a:ext>
            </a:extLst>
          </p:cNvPr>
          <p:cNvSpPr/>
          <p:nvPr/>
        </p:nvSpPr>
        <p:spPr bwMode="gray">
          <a:xfrm>
            <a:off x="3901189" y="270493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8CAD0F-0FD1-354C-E0CB-AE974E0E8FB4}"/>
              </a:ext>
            </a:extLst>
          </p:cNvPr>
          <p:cNvSpPr/>
          <p:nvPr/>
        </p:nvSpPr>
        <p:spPr bwMode="gray">
          <a:xfrm>
            <a:off x="3901190" y="253080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3.0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BB77D85-4C3F-2711-F666-8F97BEA08EF4}"/>
              </a:ext>
            </a:extLst>
          </p:cNvPr>
          <p:cNvSpPr/>
          <p:nvPr/>
        </p:nvSpPr>
        <p:spPr bwMode="gray">
          <a:xfrm>
            <a:off x="3901189" y="2879070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2.0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B995836-B0D5-0C54-4C94-C6AFDE1F13ED}"/>
              </a:ext>
            </a:extLst>
          </p:cNvPr>
          <p:cNvSpPr/>
          <p:nvPr/>
        </p:nvSpPr>
        <p:spPr bwMode="gray">
          <a:xfrm>
            <a:off x="3901187" y="3226282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1CEF905-D66D-DB81-B207-721027859F45}"/>
              </a:ext>
            </a:extLst>
          </p:cNvPr>
          <p:cNvSpPr/>
          <p:nvPr/>
        </p:nvSpPr>
        <p:spPr bwMode="gray">
          <a:xfrm>
            <a:off x="3901188" y="3053205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4.0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D1B6275-52AC-4ADE-B260-33314BE8DB0C}"/>
              </a:ext>
            </a:extLst>
          </p:cNvPr>
          <p:cNvSpPr/>
          <p:nvPr/>
        </p:nvSpPr>
        <p:spPr bwMode="gray">
          <a:xfrm>
            <a:off x="3901186" y="3406547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E62AF6-5371-54AE-2AA9-E04B03B7F2DB}"/>
              </a:ext>
            </a:extLst>
          </p:cNvPr>
          <p:cNvSpPr/>
          <p:nvPr/>
        </p:nvSpPr>
        <p:spPr bwMode="gray">
          <a:xfrm>
            <a:off x="3901186" y="3586812"/>
            <a:ext cx="756841" cy="1623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7.0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1866442-F845-7F4D-8D0C-1B49760E555B}"/>
              </a:ext>
            </a:extLst>
          </p:cNvPr>
          <p:cNvSpPr/>
          <p:nvPr/>
        </p:nvSpPr>
        <p:spPr bwMode="gray">
          <a:xfrm>
            <a:off x="3901185" y="3767077"/>
            <a:ext cx="756841" cy="162302"/>
          </a:xfrm>
          <a:prstGeom prst="round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bg1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511189985"/>
      </p:ext>
    </p:extLst>
  </p:cSld>
  <p:clrMapOvr>
    <a:masterClrMapping/>
  </p:clrMapOvr>
  <p:transition spd="slow">
    <p:wipe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Spaß,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6338</TotalTime>
  <Words>830</Words>
  <Application>Microsoft Macintosh PowerPoint</Application>
  <PresentationFormat>On-screen Show (16:9)</PresentationFormat>
  <Paragraphs>377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Open Sans</vt:lpstr>
      <vt:lpstr>Verdana</vt:lpstr>
      <vt:lpstr>Wingdings</vt:lpstr>
      <vt:lpstr>TEMPLATE DEF Faculty v2022</vt:lpstr>
      <vt:lpstr>Programmiertechnik II</vt:lpstr>
      <vt:lpstr>Überblick</vt:lpstr>
      <vt:lpstr>Floats aus std::cin lesen</vt:lpstr>
      <vt:lpstr>Rule of Three (Shallow Copy Problem)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Shunting-Yard Algorithmus</vt:lpstr>
      <vt:lpstr>Viel Spaß,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Hennicke, Leonhard</cp:lastModifiedBy>
  <cp:revision>146</cp:revision>
  <cp:lastPrinted>2014-05-07T12:19:03Z</cp:lastPrinted>
  <dcterms:created xsi:type="dcterms:W3CDTF">2022-08-10T08:10:37Z</dcterms:created>
  <dcterms:modified xsi:type="dcterms:W3CDTF">2026-05-06T14:34:36Z</dcterms:modified>
</cp:coreProperties>
</file>