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</p:sldMasterIdLst>
  <p:notesMasterIdLst>
    <p:notesMasterId r:id="rId11"/>
  </p:notesMasterIdLst>
  <p:handoutMasterIdLst>
    <p:handoutMasterId r:id="rId12"/>
  </p:handoutMasterIdLst>
  <p:sldIdLst>
    <p:sldId id="325" r:id="rId3"/>
    <p:sldId id="303" r:id="rId4"/>
    <p:sldId id="321" r:id="rId5"/>
    <p:sldId id="322" r:id="rId6"/>
    <p:sldId id="326" r:id="rId7"/>
    <p:sldId id="327" r:id="rId8"/>
    <p:sldId id="324" r:id="rId9"/>
    <p:sldId id="304" r:id="rId10"/>
  </p:sldIdLst>
  <p:sldSz cx="9144000" cy="5143500" type="screen16x9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7D31"/>
    <a:srgbClr val="AE3427"/>
    <a:srgbClr val="B1063A"/>
    <a:srgbClr val="000000"/>
    <a:srgbClr val="FBFCFC"/>
    <a:srgbClr val="FCFCFC"/>
    <a:srgbClr val="FCFCFD"/>
    <a:srgbClr val="FCFDFD"/>
    <a:srgbClr val="FDFDFD"/>
    <a:srgbClr val="FD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96"/>
    <p:restoredTop sz="91370"/>
  </p:normalViewPr>
  <p:slideViewPr>
    <p:cSldViewPr snapToObjects="1" showGuides="1">
      <p:cViewPr varScale="1">
        <p:scale>
          <a:sx n="154" d="100"/>
          <a:sy n="154" d="100"/>
        </p:scale>
        <p:origin x="784" y="256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7/9/26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7/9/26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0F4E3504-8807-AAC3-3BB5-592E1C1D6A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8838" y="195075"/>
            <a:ext cx="540000" cy="540000"/>
          </a:xfrm>
          <a:prstGeom prst="rect">
            <a:avLst/>
          </a:prstGeom>
        </p:spPr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18EFDA-BA95-A077-1585-972EF2B7C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5997" y="1518048"/>
            <a:ext cx="2700000" cy="491728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1pPr>
            <a:lvl2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2pPr>
            <a:lvl3pPr marL="0" indent="0"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3pPr>
            <a:lvl4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4pPr>
            <a:lvl5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Topic eingeben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5215D7C-484C-D6CE-53FC-D6717F8390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20046" y="1518048"/>
            <a:ext cx="2700000" cy="491728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1pPr>
            <a:lvl2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2pPr>
            <a:lvl3pPr marL="0" indent="0"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3pPr>
            <a:lvl4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4pPr>
            <a:lvl5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Topic eingeben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07E632AE-3E08-7ED1-5048-2468F691DC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84094" y="1518048"/>
            <a:ext cx="2700000" cy="491728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1pPr>
            <a:lvl2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2pPr>
            <a:lvl3pPr marL="0" indent="0"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3pPr>
            <a:lvl4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4pPr>
            <a:lvl5pPr algn="ctr">
              <a:lnSpc>
                <a:spcPts val="2100"/>
              </a:lnSpc>
              <a:spcAft>
                <a:spcPts val="0"/>
              </a:spcAft>
              <a:buFontTx/>
              <a:buNone/>
              <a:defRPr sz="1500">
                <a:solidFill>
                  <a:schemeClr val="bg2"/>
                </a:solidFill>
              </a:defRPr>
            </a:lvl5pPr>
          </a:lstStyle>
          <a:p>
            <a:pPr lvl="0"/>
            <a:r>
              <a:rPr lang="de-DE" dirty="0"/>
              <a:t>Topic eingeben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29BCF30-E90C-6A24-1621-4B7BB05CD7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5660" y="2009775"/>
            <a:ext cx="2700338" cy="2770585"/>
          </a:xfrm>
          <a:solidFill>
            <a:schemeClr val="accent4"/>
          </a:solidFill>
        </p:spPr>
        <p:txBody>
          <a:bodyPr lIns="180000" tIns="144000" rIns="180000" bIns="144000">
            <a:noAutofit/>
          </a:bodyPr>
          <a:lstStyle>
            <a:lvl1pPr marL="0" indent="0">
              <a:lnSpc>
                <a:spcPts val="165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/>
            </a:lvl1pPr>
            <a:lvl2pPr marL="0" indent="0">
              <a:lnSpc>
                <a:spcPts val="1650"/>
              </a:lnSpc>
              <a:spcAft>
                <a:spcPts val="1650"/>
              </a:spcAft>
              <a:buFont typeface="Arial" panose="020B0604020202020204" pitchFamily="34" charset="0"/>
              <a:buNone/>
              <a:defRPr sz="1200"/>
            </a:lvl2pPr>
            <a:lvl3pPr marL="0" indent="0">
              <a:lnSpc>
                <a:spcPts val="165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ts val="165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4pPr>
            <a:lvl5pPr marL="0" indent="0">
              <a:lnSpc>
                <a:spcPts val="165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6AC3EE7C-AB72-A877-55A3-92C1B35976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19708" y="2009775"/>
            <a:ext cx="2700338" cy="2770585"/>
          </a:xfrm>
          <a:solidFill>
            <a:schemeClr val="accent4"/>
          </a:solidFill>
        </p:spPr>
        <p:txBody>
          <a:bodyPr lIns="180000" tIns="144000" rIns="180000" bIns="144000">
            <a:noAutofit/>
          </a:bodyPr>
          <a:lstStyle>
            <a:lvl1pPr marL="0" indent="0">
              <a:lnSpc>
                <a:spcPts val="165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/>
            </a:lvl1pPr>
            <a:lvl2pPr marL="0" indent="0">
              <a:lnSpc>
                <a:spcPts val="1650"/>
              </a:lnSpc>
              <a:spcAft>
                <a:spcPts val="1650"/>
              </a:spcAft>
              <a:buFont typeface="Arial" panose="020B0604020202020204" pitchFamily="34" charset="0"/>
              <a:buNone/>
              <a:defRPr sz="1200"/>
            </a:lvl2pPr>
            <a:lvl3pPr marL="0" indent="0">
              <a:lnSpc>
                <a:spcPts val="165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ts val="165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4pPr>
            <a:lvl5pPr marL="0" indent="0">
              <a:lnSpc>
                <a:spcPts val="165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DE627DA0-3C16-2C03-EDF7-EFA79FD345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3756" y="2009775"/>
            <a:ext cx="2700338" cy="2770585"/>
          </a:xfrm>
          <a:solidFill>
            <a:schemeClr val="accent4"/>
          </a:solidFill>
        </p:spPr>
        <p:txBody>
          <a:bodyPr lIns="180000" tIns="144000" rIns="180000" bIns="144000">
            <a:noAutofit/>
          </a:bodyPr>
          <a:lstStyle>
            <a:lvl1pPr marL="0" indent="0">
              <a:lnSpc>
                <a:spcPts val="165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="1"/>
            </a:lvl1pPr>
            <a:lvl2pPr marL="0" indent="0">
              <a:lnSpc>
                <a:spcPts val="1650"/>
              </a:lnSpc>
              <a:spcAft>
                <a:spcPts val="1650"/>
              </a:spcAft>
              <a:buFont typeface="Arial" panose="020B0604020202020204" pitchFamily="34" charset="0"/>
              <a:buNone/>
              <a:defRPr sz="1200"/>
            </a:lvl2pPr>
            <a:lvl3pPr marL="0" indent="0">
              <a:lnSpc>
                <a:spcPts val="165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ts val="165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4pPr>
            <a:lvl5pPr marL="0" indent="0">
              <a:lnSpc>
                <a:spcPts val="165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Datumsplatzhalter 11">
            <a:extLst>
              <a:ext uri="{FF2B5EF4-FFF2-40B4-BE49-F238E27FC236}">
                <a16:creationId xmlns:a16="http://schemas.microsoft.com/office/drawing/2014/main" id="{50B39508-8F42-E940-894C-330134D059D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613803" y="4825693"/>
            <a:ext cx="735806" cy="273844"/>
          </a:xfrm>
        </p:spPr>
        <p:txBody>
          <a:bodyPr/>
          <a:lstStyle/>
          <a:p>
            <a:fld id="{02E10C45-030B-4CF1-9340-F5656BDABE50}" type="datetime1">
              <a:rPr lang="de-DE" smtClean="0"/>
              <a:t>09.07.26</a:t>
            </a:fld>
            <a:endParaRPr lang="de-DE" dirty="0"/>
          </a:p>
        </p:txBody>
      </p:sp>
      <p:sp>
        <p:nvSpPr>
          <p:cNvPr id="22" name="Fußzeilenplatzhalter 16">
            <a:extLst>
              <a:ext uri="{FF2B5EF4-FFF2-40B4-BE49-F238E27FC236}">
                <a16:creationId xmlns:a16="http://schemas.microsoft.com/office/drawing/2014/main" id="{A7A09A9A-36B6-D348-A67D-8028AB5A1F0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479050" y="4825693"/>
            <a:ext cx="4443119" cy="273844"/>
          </a:xfrm>
        </p:spPr>
        <p:txBody>
          <a:bodyPr/>
          <a:lstStyle/>
          <a:p>
            <a:r>
              <a:rPr lang="de-DE" dirty="0"/>
              <a:t>Fußzeile</a:t>
            </a:r>
          </a:p>
        </p:txBody>
      </p:sp>
      <p:sp>
        <p:nvSpPr>
          <p:cNvPr id="23" name="Foliennummernplatzhalter 18">
            <a:extLst>
              <a:ext uri="{FF2B5EF4-FFF2-40B4-BE49-F238E27FC236}">
                <a16:creationId xmlns:a16="http://schemas.microsoft.com/office/drawing/2014/main" id="{01ED5AAF-709D-6643-8C76-C837EEB6175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48309" y="4813084"/>
            <a:ext cx="365760" cy="299062"/>
          </a:xfrm>
        </p:spPr>
        <p:txBody>
          <a:bodyPr/>
          <a:lstStyle/>
          <a:p>
            <a:fld id="{B1A20FC8-41B9-4055-A397-5AB32DE79FC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D2E2C81-3929-20FE-90D2-E0C38A948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81" y="444731"/>
            <a:ext cx="7224151" cy="58604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6459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19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Tutorium 4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/16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  <p:sldLayoutId id="2147483666" r:id="rId17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Tutorium 5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/16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tutorium5/index_min_pq_usage.cpp" TargetMode="External"/><Relationship Id="rId2" Type="http://schemas.openxmlformats.org/officeDocument/2006/relationships/hyperlink" Target="https://github.com/HPI-Artificial-Intelligence-Teaching/26-pt2/blob/main/tutorium5/symbol_digraph_usage.cpp" TargetMode="External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github.com/HPI-Artificial-Intelligence-Teaching/26-pt2/blob/main/tutorium5/edge_weighted_digraph_usage.cpp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PI-Artificial-Intelligence-Teaching/26-pt2/blob/main/tutorium5/parse_csv_line.cpp" TargetMode="Externa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9" b="113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Leonhard Hennicke</a:t>
            </a:r>
          </a:p>
          <a:p>
            <a:pPr algn="l"/>
            <a:r>
              <a:rPr lang="de-DE" dirty="0"/>
              <a:t>Tutorium 5: </a:t>
            </a:r>
            <a:r>
              <a:rPr lang="en-DE" dirty="0"/>
              <a:t>WeightedStructDigraph, </a:t>
            </a:r>
            <a:r>
              <a:rPr lang="de-DE" dirty="0"/>
              <a:t>Streams &amp; Distanzmaße </a:t>
            </a:r>
          </a:p>
        </p:txBody>
      </p:sp>
    </p:spTree>
    <p:extLst>
      <p:ext uri="{BB962C8B-B14F-4D97-AF65-F5344CB8AC3E}">
        <p14:creationId xmlns:p14="http://schemas.microsoft.com/office/powerpoint/2010/main" val="309975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DE" dirty="0"/>
              <a:t>WeightedStructDigraph </a:t>
            </a:r>
          </a:p>
          <a:p>
            <a:pPr marL="342900" indent="-342900"/>
            <a:r>
              <a:rPr lang="en-US" dirty="0" err="1"/>
              <a:t>Dateizugriff</a:t>
            </a:r>
            <a:r>
              <a:rPr lang="en-US" dirty="0"/>
              <a:t> in CPP</a:t>
            </a:r>
          </a:p>
          <a:p>
            <a:pPr marL="342900" indent="-342900"/>
            <a:r>
              <a:rPr lang="de-DE" altLang="en-DE" dirty="0"/>
              <a:t>Distanzmaße</a:t>
            </a:r>
          </a:p>
          <a:p>
            <a:pPr marL="0" indent="0">
              <a:buNone/>
            </a:pPr>
            <a:endParaRPr lang="de-DE" altLang="en-DE" dirty="0"/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C5E70-6C49-DCE2-61F1-72012CF0C8D8}"/>
              </a:ext>
            </a:extLst>
          </p:cNvPr>
          <p:cNvSpPr txBox="1"/>
          <p:nvPr/>
        </p:nvSpPr>
        <p:spPr bwMode="gray">
          <a:xfrm>
            <a:off x="7593980" y="417055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C29953-68F8-C7C4-F8B4-275A659EA2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4" y="1239838"/>
            <a:ext cx="8245674" cy="35639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Datenstrukturen</a:t>
            </a:r>
            <a:r>
              <a:rPr lang="en-US" b="1" dirty="0"/>
              <a:t> </a:t>
            </a:r>
            <a:r>
              <a:rPr lang="en-US" b="1" dirty="0" err="1"/>
              <a:t>aus</a:t>
            </a:r>
            <a:r>
              <a:rPr lang="en-US" b="1" dirty="0"/>
              <a:t> den </a:t>
            </a:r>
            <a:r>
              <a:rPr lang="en-US" b="1" dirty="0" err="1"/>
              <a:t>bisherigen</a:t>
            </a:r>
            <a:r>
              <a:rPr lang="en-US" b="1" dirty="0"/>
              <a:t> </a:t>
            </a:r>
            <a:r>
              <a:rPr lang="en-US" b="1" dirty="0" err="1"/>
              <a:t>Vorlesungen</a:t>
            </a:r>
            <a:r>
              <a:rPr lang="en-US" b="1" dirty="0"/>
              <a:t> </a:t>
            </a:r>
            <a:r>
              <a:rPr lang="en-US" b="1" dirty="0" err="1"/>
              <a:t>sollen</a:t>
            </a:r>
            <a:r>
              <a:rPr lang="en-US" b="1" dirty="0"/>
              <a:t> </a:t>
            </a:r>
            <a:r>
              <a:rPr lang="en-US" b="1" dirty="0" err="1"/>
              <a:t>genutzt</a:t>
            </a:r>
            <a:r>
              <a:rPr lang="en-US" b="1" dirty="0"/>
              <a:t> </a:t>
            </a:r>
            <a:r>
              <a:rPr lang="en-US" b="1" dirty="0" err="1"/>
              <a:t>werden</a:t>
            </a:r>
            <a:r>
              <a:rPr lang="en-US" b="1" dirty="0"/>
              <a:t>! (“</a:t>
            </a:r>
            <a:r>
              <a:rPr lang="en-US" b="1" dirty="0" err="1"/>
              <a:t>vlib</a:t>
            </a:r>
            <a:r>
              <a:rPr lang="en-US" b="1" dirty="0"/>
              <a:t>” Ordner)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Vorschlag</a:t>
            </a:r>
            <a:r>
              <a:rPr lang="en-US" b="1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Speichere</a:t>
            </a:r>
            <a:r>
              <a:rPr lang="en-US" dirty="0"/>
              <a:t> Knoten </a:t>
            </a:r>
            <a:r>
              <a:rPr lang="en-US" dirty="0" err="1"/>
              <a:t>mittels</a:t>
            </a:r>
            <a:r>
              <a:rPr lang="en-US" dirty="0"/>
              <a:t> Index: 	Array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Darstellung</a:t>
            </a:r>
            <a:r>
              <a:rPr lang="en-US" dirty="0"/>
              <a:t> der Kanten: 		</a:t>
            </a:r>
            <a:r>
              <a:rPr lang="en-DE" dirty="0"/>
              <a:t>EdgeWeightedDigraph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vlib</a:t>
            </a:r>
            <a:r>
              <a:rPr lang="en-US" dirty="0"/>
              <a:t>,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Indizes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Array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Suche</a:t>
            </a:r>
            <a:r>
              <a:rPr lang="en-US" dirty="0"/>
              <a:t> Index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Knoten: 	</a:t>
            </a:r>
            <a:r>
              <a:rPr lang="en-DE" dirty="0"/>
              <a:t>RedBlackBST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vlib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Orientierung</a:t>
            </a:r>
            <a:r>
              <a:rPr lang="en-US" dirty="0"/>
              <a:t> an </a:t>
            </a:r>
            <a:r>
              <a:rPr lang="en-DE" dirty="0"/>
              <a:t>SymbolDigraph aus vlib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Konstruktoren</a:t>
            </a:r>
            <a:r>
              <a:rPr lang="en-US" dirty="0"/>
              <a:t>/</a:t>
            </a:r>
            <a:r>
              <a:rPr lang="en-US" dirty="0" err="1"/>
              <a:t>Destruktoren</a:t>
            </a:r>
            <a:r>
              <a:rPr lang="en-US" dirty="0"/>
              <a:t> </a:t>
            </a:r>
            <a:r>
              <a:rPr lang="en-US" dirty="0" err="1"/>
              <a:t>entsprechend</a:t>
            </a:r>
            <a:r>
              <a:rPr lang="en-US" dirty="0"/>
              <a:t> </a:t>
            </a:r>
            <a:r>
              <a:rPr lang="en-US" dirty="0" err="1"/>
              <a:t>weiterverwenden</a:t>
            </a:r>
            <a:r>
              <a:rPr lang="en-US" dirty="0"/>
              <a:t>. Rule of Five!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Bag-</a:t>
            </a:r>
            <a:r>
              <a:rPr lang="en-US" dirty="0" err="1"/>
              <a:t>Konstruktor</a:t>
            </a:r>
            <a:r>
              <a:rPr lang="en-US" dirty="0"/>
              <a:t> </a:t>
            </a:r>
            <a:r>
              <a:rPr lang="en-US" dirty="0" err="1"/>
              <a:t>nimmt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Bag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vlib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Knoten </a:t>
            </a:r>
            <a:r>
              <a:rPr lang="en-US" dirty="0" err="1"/>
              <a:t>als</a:t>
            </a:r>
            <a:r>
              <a:rPr lang="en-US" dirty="0"/>
              <a:t> Parameter. </a:t>
            </a:r>
            <a:r>
              <a:rPr lang="en-US" dirty="0" err="1"/>
              <a:t>Siehe</a:t>
            </a:r>
            <a:r>
              <a:rPr lang="en-US" dirty="0"/>
              <a:t> Tests!</a:t>
            </a:r>
          </a:p>
          <a:p>
            <a:pPr>
              <a:buFont typeface="Arial" panose="020B0604020202020204" pitchFamily="34" charset="0"/>
              <a:buChar char="•"/>
            </a:pPr>
            <a:endParaRPr lang="en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593C6F-5844-FA00-C748-354FE8C9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WeightedStructDigraph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AE88D-B74C-FE10-ED90-4518FFE760D1}"/>
              </a:ext>
            </a:extLst>
          </p:cNvPr>
          <p:cNvSpPr txBox="1"/>
          <p:nvPr/>
        </p:nvSpPr>
        <p:spPr bwMode="gray">
          <a:xfrm>
            <a:off x="358774" y="4663112"/>
            <a:ext cx="82456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2"/>
              </a:rPr>
              <a:t>symbol_digraph_usage.cpp</a:t>
            </a:r>
            <a:r>
              <a:rPr lang="en-GB" sz="1200" b="1" dirty="0"/>
              <a:t>, </a:t>
            </a:r>
            <a:r>
              <a:rPr lang="en-GB" sz="1200" b="1" dirty="0">
                <a:hlinkClick r:id="rId3"/>
              </a:rPr>
              <a:t>index_min_pq_usage.cpp</a:t>
            </a:r>
            <a:r>
              <a:rPr lang="en-GB" sz="1200" b="1" dirty="0"/>
              <a:t>, </a:t>
            </a:r>
            <a:r>
              <a:rPr lang="en-GB" sz="1200" b="1" dirty="0">
                <a:hlinkClick r:id="rId4"/>
              </a:rPr>
              <a:t>edge_weighted_digraph_usage.cpp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4081972783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086388-01BC-9565-2FD2-639CAA5F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Dateizugriff</a:t>
            </a:r>
            <a:r>
              <a:rPr lang="en-US" dirty="0"/>
              <a:t> in CPP</a:t>
            </a:r>
            <a:endParaRPr lang="en-DE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392B48AB-7A1B-B918-BC03-39559122AC56}"/>
              </a:ext>
            </a:extLst>
          </p:cNvPr>
          <p:cNvSpPr txBox="1">
            <a:spLocks/>
          </p:cNvSpPr>
          <p:nvPr/>
        </p:nvSpPr>
        <p:spPr>
          <a:xfrm>
            <a:off x="373802" y="1275607"/>
            <a:ext cx="2279316" cy="288032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File System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69C2CEED-B5AC-C4B2-AB7A-0A4BCB590234}"/>
              </a:ext>
            </a:extLst>
          </p:cNvPr>
          <p:cNvSpPr txBox="1">
            <a:spLocks/>
          </p:cNvSpPr>
          <p:nvPr/>
        </p:nvSpPr>
        <p:spPr>
          <a:xfrm>
            <a:off x="2746446" y="1275606"/>
            <a:ext cx="2279315" cy="28803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String-</a:t>
            </a:r>
            <a:r>
              <a:rPr lang="en-US" sz="1200" dirty="0" err="1">
                <a:solidFill>
                  <a:schemeClr val="bg1"/>
                </a:solidFill>
              </a:rPr>
              <a:t>Operationen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7CE07A7-C2AD-AF2B-A84E-D5316C868C09}"/>
              </a:ext>
            </a:extLst>
          </p:cNvPr>
          <p:cNvSpPr txBox="1">
            <a:spLocks/>
          </p:cNvSpPr>
          <p:nvPr/>
        </p:nvSpPr>
        <p:spPr>
          <a:xfrm>
            <a:off x="5119088" y="1275606"/>
            <a:ext cx="2279314" cy="288032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>
                <a:solidFill>
                  <a:schemeClr val="bg1"/>
                </a:solidFill>
              </a:rPr>
              <a:t>Eigene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Hilfsfunktionen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121B3D2F-73CA-49E2-5124-6A90EBFEA9BD}"/>
              </a:ext>
            </a:extLst>
          </p:cNvPr>
          <p:cNvSpPr txBox="1">
            <a:spLocks/>
          </p:cNvSpPr>
          <p:nvPr/>
        </p:nvSpPr>
        <p:spPr>
          <a:xfrm>
            <a:off x="373803" y="1584344"/>
            <a:ext cx="2279316" cy="300363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std::</a:t>
            </a:r>
            <a:r>
              <a:rPr lang="en-US" sz="1200" b="1" dirty="0" err="1"/>
              <a:t>ifstream</a:t>
            </a:r>
            <a:endParaRPr lang="en-US" sz="1200" b="1" dirty="0"/>
          </a:p>
          <a:p>
            <a:r>
              <a:rPr lang="en-US" sz="1200" dirty="0" err="1"/>
              <a:t>Bekannt</a:t>
            </a:r>
            <a:r>
              <a:rPr lang="en-US" sz="1200" dirty="0"/>
              <a:t> </a:t>
            </a:r>
            <a:r>
              <a:rPr lang="en-US" sz="1200" dirty="0" err="1"/>
              <a:t>aus</a:t>
            </a:r>
            <a:r>
              <a:rPr lang="en-US" sz="1200" dirty="0"/>
              <a:t> Assignment 1. </a:t>
            </a:r>
            <a:r>
              <a:rPr lang="en-US" sz="1200" dirty="0" err="1"/>
              <a:t>Dateiname</a:t>
            </a:r>
            <a:r>
              <a:rPr lang="en-US" sz="1200" dirty="0"/>
              <a:t> </a:t>
            </a:r>
            <a:r>
              <a:rPr lang="en-US" sz="1200" dirty="0" err="1"/>
              <a:t>als</a:t>
            </a:r>
            <a:r>
              <a:rPr lang="en-US" sz="1200" dirty="0"/>
              <a:t> Parameter.</a:t>
            </a:r>
          </a:p>
          <a:p>
            <a:r>
              <a:rPr lang="en-US" sz="1200" i="1" dirty="0"/>
              <a:t>std::</a:t>
            </a:r>
            <a:r>
              <a:rPr lang="en-US" sz="1200" i="1" dirty="0" err="1"/>
              <a:t>ifstream</a:t>
            </a:r>
            <a:r>
              <a:rPr lang="en-US" sz="1200" i="1" dirty="0"/>
              <a:t> airports(</a:t>
            </a:r>
            <a:r>
              <a:rPr lang="en-US" sz="1200" i="1" dirty="0" err="1"/>
              <a:t>airports_file</a:t>
            </a:r>
            <a:r>
              <a:rPr lang="en-US" sz="1200" i="1" dirty="0"/>
              <a:t>);</a:t>
            </a:r>
          </a:p>
          <a:p>
            <a:r>
              <a:rPr lang="en-US" sz="1200" dirty="0" err="1"/>
              <a:t>Initialisiert</a:t>
            </a:r>
            <a:r>
              <a:rPr lang="en-US" sz="1200" dirty="0"/>
              <a:t> </a:t>
            </a:r>
            <a:r>
              <a:rPr lang="en-US" sz="1200" dirty="0" err="1"/>
              <a:t>eine</a:t>
            </a:r>
            <a:r>
              <a:rPr lang="en-US" sz="1200" dirty="0"/>
              <a:t> Variable </a:t>
            </a:r>
            <a:r>
              <a:rPr lang="en-US" sz="1200" dirty="0" err="1"/>
              <a:t>mit</a:t>
            </a:r>
            <a:r>
              <a:rPr lang="en-US" sz="1200" dirty="0"/>
              <a:t> dem Namen airports und dem </a:t>
            </a:r>
            <a:r>
              <a:rPr lang="en-US" sz="1200" dirty="0" err="1"/>
              <a:t>Typ</a:t>
            </a:r>
            <a:r>
              <a:rPr lang="en-US" sz="1200" dirty="0"/>
              <a:t> </a:t>
            </a:r>
            <a:r>
              <a:rPr lang="en-US" sz="1200" dirty="0" err="1"/>
              <a:t>ifstream</a:t>
            </a:r>
            <a:r>
              <a:rPr lang="en-US" sz="1200" dirty="0"/>
              <a:t> </a:t>
            </a:r>
            <a:r>
              <a:rPr lang="en-US" sz="1200" dirty="0" err="1"/>
              <a:t>indem</a:t>
            </a:r>
            <a:r>
              <a:rPr lang="en-US" sz="1200" dirty="0"/>
              <a:t> die </a:t>
            </a:r>
            <a:r>
              <a:rPr lang="en-US" sz="1200" dirty="0" err="1"/>
              <a:t>Datei</a:t>
            </a:r>
            <a:r>
              <a:rPr lang="en-US" sz="1200" dirty="0"/>
              <a:t> </a:t>
            </a:r>
            <a:r>
              <a:rPr lang="en-US" sz="1200" dirty="0" err="1"/>
              <a:t>airports_file</a:t>
            </a:r>
            <a:r>
              <a:rPr lang="en-US" sz="1200" dirty="0"/>
              <a:t> </a:t>
            </a:r>
            <a:r>
              <a:rPr lang="en-US" sz="1200" dirty="0" err="1"/>
              <a:t>geöffnet</a:t>
            </a:r>
            <a:r>
              <a:rPr lang="en-US" sz="1200" dirty="0"/>
              <a:t> </a:t>
            </a:r>
            <a:r>
              <a:rPr lang="en-US" sz="1200" dirty="0" err="1"/>
              <a:t>wird</a:t>
            </a:r>
            <a:r>
              <a:rPr lang="en-US" sz="1200" dirty="0"/>
              <a:t>.</a:t>
            </a:r>
          </a:p>
          <a:p>
            <a:r>
              <a:rPr lang="en-US" sz="1200" b="1" dirty="0"/>
              <a:t>std::</a:t>
            </a:r>
            <a:r>
              <a:rPr lang="en-US" sz="1200" b="1" dirty="0" err="1"/>
              <a:t>getline</a:t>
            </a:r>
            <a:r>
              <a:rPr lang="en-US" sz="1200" b="1" dirty="0"/>
              <a:t> </a:t>
            </a:r>
          </a:p>
          <a:p>
            <a:r>
              <a:rPr lang="en-US" sz="1200" dirty="0"/>
              <a:t>Chars </a:t>
            </a:r>
            <a:r>
              <a:rPr lang="en-US" sz="1200" dirty="0" err="1"/>
              <a:t>aus</a:t>
            </a:r>
            <a:r>
              <a:rPr lang="en-US" sz="1200" dirty="0"/>
              <a:t> dem Stream bis </a:t>
            </a:r>
            <a:r>
              <a:rPr lang="en-US" sz="1200" dirty="0" err="1"/>
              <a:t>zum</a:t>
            </a:r>
            <a:r>
              <a:rPr lang="en-US" sz="1200" dirty="0"/>
              <a:t> </a:t>
            </a:r>
            <a:r>
              <a:rPr lang="en-US" sz="1200" dirty="0" err="1"/>
              <a:t>nächsten</a:t>
            </a:r>
            <a:r>
              <a:rPr lang="en-US" sz="1200" dirty="0"/>
              <a:t> </a:t>
            </a:r>
            <a:r>
              <a:rPr lang="en-US" sz="1200" dirty="0" err="1"/>
              <a:t>Zeilenumbruch</a:t>
            </a:r>
            <a:r>
              <a:rPr lang="en-US" sz="1200" dirty="0"/>
              <a:t>/Delimiter.</a:t>
            </a:r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1563528C-FC2C-484A-ABFF-F7CAA5354A59}"/>
              </a:ext>
            </a:extLst>
          </p:cNvPr>
          <p:cNvSpPr txBox="1">
            <a:spLocks/>
          </p:cNvSpPr>
          <p:nvPr/>
        </p:nvSpPr>
        <p:spPr>
          <a:xfrm>
            <a:off x="2746447" y="1584343"/>
            <a:ext cx="2279315" cy="300363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std::</a:t>
            </a:r>
            <a:r>
              <a:rPr lang="en-US" sz="1200" b="1" dirty="0" err="1"/>
              <a:t>stoi</a:t>
            </a:r>
            <a:endParaRPr lang="en-US" sz="1200" b="1" dirty="0"/>
          </a:p>
          <a:p>
            <a:r>
              <a:rPr lang="en-US" sz="1200" dirty="0"/>
              <a:t>String </a:t>
            </a:r>
            <a:r>
              <a:rPr lang="en-US" sz="1200" dirty="0" err="1"/>
              <a:t>zu</a:t>
            </a:r>
            <a:r>
              <a:rPr lang="en-US" sz="1200" dirty="0"/>
              <a:t> Integer</a:t>
            </a:r>
          </a:p>
          <a:p>
            <a:r>
              <a:rPr lang="en-US" sz="1200" b="1" dirty="0"/>
              <a:t>std::</a:t>
            </a:r>
            <a:r>
              <a:rPr lang="en-US" sz="1200" b="1" dirty="0" err="1"/>
              <a:t>stof</a:t>
            </a:r>
            <a:endParaRPr lang="en-US" sz="1200" b="1" dirty="0"/>
          </a:p>
          <a:p>
            <a:r>
              <a:rPr lang="en-US" sz="1200" dirty="0"/>
              <a:t>String </a:t>
            </a:r>
            <a:r>
              <a:rPr lang="en-US" sz="1200" dirty="0" err="1"/>
              <a:t>zu</a:t>
            </a:r>
            <a:r>
              <a:rPr lang="en-US" sz="1200" dirty="0"/>
              <a:t> Float</a:t>
            </a:r>
          </a:p>
          <a:p>
            <a:r>
              <a:rPr lang="en-US" sz="1200" b="1" dirty="0"/>
              <a:t>std::</a:t>
            </a:r>
            <a:r>
              <a:rPr lang="en-US" sz="1200" b="1" dirty="0" err="1"/>
              <a:t>istringstream</a:t>
            </a:r>
            <a:r>
              <a:rPr lang="en-US" sz="1200" b="1" dirty="0"/>
              <a:t> </a:t>
            </a:r>
          </a:p>
          <a:p>
            <a:r>
              <a:rPr lang="en-US" sz="1200" dirty="0"/>
              <a:t>Ein Stream </a:t>
            </a:r>
            <a:r>
              <a:rPr lang="en-US" sz="1200" dirty="0" err="1"/>
              <a:t>wie</a:t>
            </a:r>
            <a:r>
              <a:rPr lang="en-US" sz="1200" dirty="0"/>
              <a:t> std::</a:t>
            </a:r>
            <a:r>
              <a:rPr lang="en-US" sz="1200" dirty="0" err="1"/>
              <a:t>ifstream</a:t>
            </a:r>
            <a:r>
              <a:rPr lang="en-US" sz="1200" dirty="0"/>
              <a:t>) der </a:t>
            </a:r>
            <a:r>
              <a:rPr lang="en-US" sz="1200" dirty="0" err="1"/>
              <a:t>aus</a:t>
            </a:r>
            <a:r>
              <a:rPr lang="en-US" sz="1200" dirty="0"/>
              <a:t> </a:t>
            </a:r>
            <a:r>
              <a:rPr lang="en-US" sz="1200" dirty="0" err="1"/>
              <a:t>einem</a:t>
            </a:r>
            <a:r>
              <a:rPr lang="en-US" sz="1200" dirty="0"/>
              <a:t> String </a:t>
            </a:r>
            <a:r>
              <a:rPr lang="en-US" sz="1200" dirty="0" err="1"/>
              <a:t>liest</a:t>
            </a:r>
            <a:r>
              <a:rPr lang="en-US" sz="1200" dirty="0"/>
              <a:t>.</a:t>
            </a:r>
          </a:p>
          <a:p>
            <a:endParaRPr lang="en-US" sz="1200" dirty="0"/>
          </a:p>
          <a:p>
            <a:r>
              <a:rPr lang="en-US" sz="1200" b="1" dirty="0" err="1"/>
              <a:t>Beispiel</a:t>
            </a:r>
            <a:r>
              <a:rPr lang="en-US" sz="1200" b="1" dirty="0"/>
              <a:t>:</a:t>
            </a:r>
          </a:p>
          <a:p>
            <a:r>
              <a:rPr lang="en-US" sz="1200" i="1" dirty="0"/>
              <a:t>std::</a:t>
            </a:r>
            <a:r>
              <a:rPr lang="en-US" sz="1200" i="1" dirty="0" err="1"/>
              <a:t>istringstream</a:t>
            </a:r>
            <a:r>
              <a:rPr lang="en-US" sz="1200" i="1" dirty="0"/>
              <a:t> </a:t>
            </a:r>
            <a:r>
              <a:rPr lang="en-US" sz="1200" i="1" dirty="0" err="1"/>
              <a:t>tokenStream</a:t>
            </a:r>
            <a:r>
              <a:rPr lang="en-US" sz="1200" i="1" dirty="0"/>
              <a:t>(s);</a:t>
            </a:r>
          </a:p>
          <a:p>
            <a:r>
              <a:rPr lang="en-US" sz="1200" dirty="0"/>
              <a:t>(</a:t>
            </a:r>
            <a:r>
              <a:rPr lang="en-US" sz="1200" dirty="0" err="1"/>
              <a:t>wobei</a:t>
            </a:r>
            <a:r>
              <a:rPr lang="en-US" sz="1200" dirty="0"/>
              <a:t> s </a:t>
            </a:r>
            <a:r>
              <a:rPr lang="en-US" sz="1200" dirty="0" err="1"/>
              <a:t>ein</a:t>
            </a:r>
            <a:r>
              <a:rPr lang="en-US" sz="1200" dirty="0"/>
              <a:t> String </a:t>
            </a:r>
            <a:r>
              <a:rPr lang="en-US" sz="1200" dirty="0" err="1"/>
              <a:t>ist</a:t>
            </a:r>
            <a:r>
              <a:rPr lang="en-US" sz="1200" dirty="0"/>
              <a:t>)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6764E6A2-3765-BB2D-5DCD-011A49183B85}"/>
              </a:ext>
            </a:extLst>
          </p:cNvPr>
          <p:cNvSpPr txBox="1">
            <a:spLocks/>
          </p:cNvSpPr>
          <p:nvPr/>
        </p:nvSpPr>
        <p:spPr>
          <a:xfrm>
            <a:off x="5119089" y="1584343"/>
            <a:ext cx="2279314" cy="300363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Eine </a:t>
            </a:r>
            <a:r>
              <a:rPr lang="en-US" sz="1200" b="1" dirty="0" err="1"/>
              <a:t>Splitfunktion</a:t>
            </a:r>
            <a:r>
              <a:rPr lang="en-US" sz="1200" b="1" dirty="0"/>
              <a:t> </a:t>
            </a:r>
            <a:r>
              <a:rPr lang="en-US" sz="1200" b="1" dirty="0" err="1"/>
              <a:t>könnte</a:t>
            </a:r>
            <a:r>
              <a:rPr lang="en-US" sz="1200" b="1" dirty="0"/>
              <a:t> </a:t>
            </a:r>
            <a:r>
              <a:rPr lang="en-US" sz="1200" b="1" dirty="0" err="1"/>
              <a:t>hilfreich</a:t>
            </a:r>
            <a:r>
              <a:rPr lang="en-US" sz="1200" b="1" dirty="0"/>
              <a:t> sein!</a:t>
            </a:r>
          </a:p>
          <a:p>
            <a:endParaRPr lang="en-US" sz="1200" dirty="0"/>
          </a:p>
          <a:p>
            <a:r>
              <a:rPr lang="en-US" sz="1200" dirty="0"/>
              <a:t>Z.B. </a:t>
            </a:r>
            <a:r>
              <a:rPr lang="en-US" sz="1200" dirty="0" err="1"/>
              <a:t>istringstream</a:t>
            </a:r>
            <a:r>
              <a:rPr lang="en-US" sz="1200" dirty="0"/>
              <a:t> </a:t>
            </a:r>
            <a:r>
              <a:rPr lang="en-US" sz="1200" dirty="0" err="1"/>
              <a:t>verwenden</a:t>
            </a:r>
            <a:r>
              <a:rPr lang="en-US" sz="1200" dirty="0"/>
              <a:t> und die </a:t>
            </a:r>
            <a:r>
              <a:rPr lang="en-US" sz="1200" dirty="0" err="1"/>
              <a:t>getline-Funktion</a:t>
            </a:r>
            <a:r>
              <a:rPr lang="en-US" sz="1200" dirty="0"/>
              <a:t> </a:t>
            </a:r>
            <a:r>
              <a:rPr lang="en-US" sz="1200" dirty="0" err="1"/>
              <a:t>nutzen</a:t>
            </a:r>
            <a:r>
              <a:rPr lang="en-US" sz="1200" dirty="0"/>
              <a:t>, </a:t>
            </a:r>
            <a:r>
              <a:rPr lang="en-US" sz="1200" dirty="0" err="1"/>
              <a:t>wei</a:t>
            </a:r>
            <a:r>
              <a:rPr lang="en-US" sz="1200" dirty="0"/>
              <a:t> </a:t>
            </a:r>
            <a:r>
              <a:rPr lang="en-US" sz="1200" dirty="0" err="1"/>
              <a:t>bei</a:t>
            </a:r>
            <a:r>
              <a:rPr lang="en-US" sz="1200" dirty="0"/>
              <a:t> </a:t>
            </a:r>
            <a:r>
              <a:rPr lang="en-US" sz="1200" dirty="0" err="1"/>
              <a:t>Filestreams</a:t>
            </a:r>
            <a:r>
              <a:rPr lang="en-US" sz="1200" dirty="0"/>
              <a:t> </a:t>
            </a:r>
            <a:r>
              <a:rPr lang="en-US" sz="1200" dirty="0" err="1"/>
              <a:t>auch</a:t>
            </a:r>
            <a:r>
              <a:rPr lang="en-US" sz="1200" dirty="0"/>
              <a:t> (das </a:t>
            </a:r>
            <a:r>
              <a:rPr lang="en-US" sz="1200" dirty="0" err="1"/>
              <a:t>Trennzeichen</a:t>
            </a:r>
            <a:r>
              <a:rPr lang="en-US" sz="1200" dirty="0"/>
              <a:t> </a:t>
            </a:r>
            <a:r>
              <a:rPr lang="en-US" sz="1200" dirty="0" err="1"/>
              <a:t>kann</a:t>
            </a:r>
            <a:r>
              <a:rPr lang="en-US" sz="1200" dirty="0"/>
              <a:t> </a:t>
            </a:r>
            <a:r>
              <a:rPr lang="en-US" sz="1200" dirty="0" err="1"/>
              <a:t>angegeben</a:t>
            </a:r>
            <a:r>
              <a:rPr lang="en-US" sz="1200" dirty="0"/>
              <a:t> </a:t>
            </a:r>
            <a:r>
              <a:rPr lang="en-US" sz="1200" dirty="0" err="1"/>
              <a:t>werden</a:t>
            </a:r>
            <a:r>
              <a:rPr lang="en-US" sz="1200" dirty="0"/>
              <a:t>).</a:t>
            </a:r>
          </a:p>
          <a:p>
            <a:endParaRPr lang="en-US" sz="1200" dirty="0"/>
          </a:p>
          <a:p>
            <a:r>
              <a:rPr lang="en-US" sz="1200" b="1" dirty="0" err="1"/>
              <a:t>Alternativ</a:t>
            </a:r>
            <a:r>
              <a:rPr lang="en-US" sz="1200" b="1" dirty="0"/>
              <a:t>:</a:t>
            </a:r>
          </a:p>
          <a:p>
            <a:r>
              <a:rPr lang="en-US" sz="1200" dirty="0"/>
              <a:t>https://</a:t>
            </a:r>
            <a:r>
              <a:rPr lang="en-US" sz="1200" dirty="0" err="1"/>
              <a:t>stackoverflow.com</a:t>
            </a:r>
            <a:r>
              <a:rPr lang="en-US" sz="1200" dirty="0"/>
              <a:t>/questions/53849/how-do-</a:t>
            </a:r>
            <a:r>
              <a:rPr lang="en-US" sz="1200" dirty="0" err="1"/>
              <a:t>i</a:t>
            </a:r>
            <a:r>
              <a:rPr lang="en-US" sz="1200" dirty="0"/>
              <a:t>-tokenize-a-string-in-c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96ACCD-9549-F691-E7DF-5E1FF2C4089F}"/>
              </a:ext>
            </a:extLst>
          </p:cNvPr>
          <p:cNvSpPr txBox="1"/>
          <p:nvPr/>
        </p:nvSpPr>
        <p:spPr bwMode="gray">
          <a:xfrm>
            <a:off x="358774" y="4663112"/>
            <a:ext cx="824567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2"/>
              </a:rPr>
              <a:t>parse_csv_line.cpp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194180458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7E0F86-3C85-FEAA-0012-8585155B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DE" dirty="0"/>
              <a:t>Distanzmaße</a:t>
            </a:r>
            <a:endParaRPr lang="en-DE" dirty="0"/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548758E7-36C9-AD56-3F70-5661462BC476}"/>
              </a:ext>
            </a:extLst>
          </p:cNvPr>
          <p:cNvSpPr txBox="1">
            <a:spLocks/>
          </p:cNvSpPr>
          <p:nvPr/>
        </p:nvSpPr>
        <p:spPr>
          <a:xfrm>
            <a:off x="358776" y="1347615"/>
            <a:ext cx="7021536" cy="3528392"/>
          </a:xfrm>
          <a:prstGeom prst="rect">
            <a:avLst/>
          </a:prstGeom>
        </p:spPr>
        <p:txBody>
          <a:bodyPr numCol="1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i="1" dirty="0"/>
              <a:t>4 </a:t>
            </a:r>
            <a:r>
              <a:rPr lang="en-US" sz="1200" i="1" dirty="0" err="1"/>
              <a:t>Distanzmaße</a:t>
            </a:r>
            <a:r>
              <a:rPr lang="en-US" sz="1200" i="1" dirty="0"/>
              <a:t> (Aufgabe 3)</a:t>
            </a:r>
            <a:endParaRPr lang="en-US" sz="1200" dirty="0"/>
          </a:p>
          <a:p>
            <a:r>
              <a:rPr lang="en-US" sz="1200" b="1" dirty="0"/>
              <a:t>Zwei für </a:t>
            </a:r>
            <a:r>
              <a:rPr lang="en-US" sz="1200" b="1" dirty="0" err="1"/>
              <a:t>generische</a:t>
            </a:r>
            <a:r>
              <a:rPr lang="en-US" sz="1200" b="1" dirty="0"/>
              <a:t> </a:t>
            </a:r>
            <a:r>
              <a:rPr lang="en-US" sz="1200" b="1" dirty="0" err="1"/>
              <a:t>Koordinaten</a:t>
            </a:r>
            <a:r>
              <a:rPr lang="en-US" sz="1200" b="1" dirty="0"/>
              <a:t>:</a:t>
            </a:r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br>
              <a:rPr lang="en-GB" sz="1200" dirty="0"/>
            </a:br>
            <a:endParaRPr lang="en-GB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platzhalter 13">
                <a:extLst>
                  <a:ext uri="{FF2B5EF4-FFF2-40B4-BE49-F238E27FC236}">
                    <a16:creationId xmlns:a16="http://schemas.microsoft.com/office/drawing/2014/main" id="{40F82783-4A3A-A308-A159-7E9C5C2AE5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9038" y="2128597"/>
                <a:ext cx="3780914" cy="1451265"/>
              </a:xfrm>
              <a:prstGeom prst="rect">
                <a:avLst/>
              </a:prstGeom>
            </p:spPr>
            <p:txBody>
              <a:bodyPr vert="horz" numCol="1" spcCol="36000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4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Clr>
                    <a:schemeClr val="tx1"/>
                  </a:buClr>
                  <a:buSzPct val="100000"/>
                  <a:buFont typeface="+mj-lt"/>
                  <a:buAutoNum type="arabicPeriod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8163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23913" indent="-28575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3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b="1" dirty="0" err="1"/>
                  <a:t>Euklidische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Distanz</a:t>
                </a:r>
                <a:endParaRPr lang="en-US" sz="1200" dirty="0"/>
              </a:p>
              <a:p>
                <a:r>
                  <a:rPr lang="en-GB" sz="1200" dirty="0"/>
                  <a:t>Die Wurzel der </a:t>
                </a:r>
                <a:r>
                  <a:rPr lang="en-GB" sz="1200" dirty="0" err="1"/>
                  <a:t>summierten</a:t>
                </a:r>
                <a:r>
                  <a:rPr lang="en-GB" sz="1200" dirty="0"/>
                  <a:t> </a:t>
                </a:r>
                <a:r>
                  <a:rPr lang="en-GB" sz="1200" dirty="0" err="1"/>
                  <a:t>Differenzen</a:t>
                </a:r>
                <a:r>
                  <a:rPr lang="en-GB" sz="1200" dirty="0"/>
                  <a:t> </a:t>
                </a:r>
                <a:r>
                  <a:rPr lang="en-GB" sz="1200" dirty="0" err="1"/>
                  <a:t>entlang</a:t>
                </a:r>
                <a:r>
                  <a:rPr lang="en-GB" sz="1200" dirty="0"/>
                  <a:t> </a:t>
                </a:r>
                <a:r>
                  <a:rPr lang="en-GB" sz="1200" dirty="0" err="1"/>
                  <a:t>beider</a:t>
                </a:r>
                <a:r>
                  <a:rPr lang="en-GB" sz="1200" dirty="0"/>
                  <a:t> </a:t>
                </a:r>
                <a:r>
                  <a:rPr lang="en-GB" sz="1200" dirty="0" err="1"/>
                  <a:t>Achsen</a:t>
                </a:r>
                <a:r>
                  <a:rPr lang="en-GB" sz="1200" dirty="0"/>
                  <a:t>. (</a:t>
                </a:r>
                <a:r>
                  <a:rPr lang="en-GB" sz="1200" dirty="0" err="1"/>
                  <a:t>Im</a:t>
                </a:r>
                <a:r>
                  <a:rPr lang="en-GB" sz="1200" dirty="0"/>
                  <a:t> 2D-Raum)</a:t>
                </a: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7" name="Textplatzhalter 13">
                <a:extLst>
                  <a:ext uri="{FF2B5EF4-FFF2-40B4-BE49-F238E27FC236}">
                    <a16:creationId xmlns:a16="http://schemas.microsoft.com/office/drawing/2014/main" id="{40F82783-4A3A-A308-A159-7E9C5C2AE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38" y="2128597"/>
                <a:ext cx="3780914" cy="1451265"/>
              </a:xfrm>
              <a:prstGeom prst="rect">
                <a:avLst/>
              </a:prstGeom>
              <a:blipFill>
                <a:blip r:embed="rId2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platzhalter 13">
                <a:extLst>
                  <a:ext uri="{FF2B5EF4-FFF2-40B4-BE49-F238E27FC236}">
                    <a16:creationId xmlns:a16="http://schemas.microsoft.com/office/drawing/2014/main" id="{D213CC0D-B466-771A-92F8-5DB7A1EB36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83968" y="2128597"/>
                <a:ext cx="4030872" cy="999927"/>
              </a:xfrm>
              <a:prstGeom prst="rect">
                <a:avLst/>
              </a:prstGeom>
            </p:spPr>
            <p:txBody>
              <a:bodyPr vert="horz" numCol="1" spcCol="36000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4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Clr>
                    <a:schemeClr val="tx1"/>
                  </a:buClr>
                  <a:buSzPct val="100000"/>
                  <a:buFont typeface="+mj-lt"/>
                  <a:buAutoNum type="arabicPeriod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8163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23913" indent="-28575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3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200" b="1" dirty="0"/>
                  <a:t>Manhattan </a:t>
                </a:r>
                <a:r>
                  <a:rPr lang="en-US" sz="1200" b="1" dirty="0" err="1"/>
                  <a:t>Distanz</a:t>
                </a:r>
                <a:endParaRPr lang="en-US" sz="1200" dirty="0"/>
              </a:p>
              <a:p>
                <a:r>
                  <a:rPr lang="en-GB" sz="1200" dirty="0"/>
                  <a:t>Die Summe der </a:t>
                </a:r>
                <a:r>
                  <a:rPr lang="en-GB" sz="1200" dirty="0" err="1"/>
                  <a:t>absoluten</a:t>
                </a:r>
                <a:r>
                  <a:rPr lang="en-GB" sz="1200" dirty="0"/>
                  <a:t> </a:t>
                </a:r>
                <a:r>
                  <a:rPr lang="en-GB" sz="1200" dirty="0" err="1"/>
                  <a:t>Differenzen</a:t>
                </a:r>
                <a:r>
                  <a:rPr lang="en-GB" sz="1200" dirty="0"/>
                  <a:t> </a:t>
                </a:r>
                <a:r>
                  <a:rPr lang="en-GB" sz="1200" dirty="0" err="1"/>
                  <a:t>entlang</a:t>
                </a:r>
                <a:r>
                  <a:rPr lang="en-GB" sz="1200" dirty="0"/>
                  <a:t> </a:t>
                </a:r>
                <a:r>
                  <a:rPr lang="en-GB" sz="1200" dirty="0" err="1"/>
                  <a:t>beider</a:t>
                </a:r>
                <a:r>
                  <a:rPr lang="en-GB" sz="1200" dirty="0"/>
                  <a:t> </a:t>
                </a:r>
                <a:r>
                  <a:rPr lang="en-GB" sz="1200" dirty="0" err="1"/>
                  <a:t>Achsen</a:t>
                </a:r>
                <a:r>
                  <a:rPr lang="en-GB" sz="1200" dirty="0"/>
                  <a:t>. (</a:t>
                </a:r>
                <a:r>
                  <a:rPr lang="en-GB" sz="1200" dirty="0" err="1"/>
                  <a:t>Im</a:t>
                </a:r>
                <a:r>
                  <a:rPr lang="en-GB" sz="1200" dirty="0"/>
                  <a:t> 2D-Raum)</a:t>
                </a: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+|</m:t>
                      </m:r>
                      <m:sSub>
                        <m:sSub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platzhalter 13">
                <a:extLst>
                  <a:ext uri="{FF2B5EF4-FFF2-40B4-BE49-F238E27FC236}">
                    <a16:creationId xmlns:a16="http://schemas.microsoft.com/office/drawing/2014/main" id="{D213CC0D-B466-771A-92F8-5DB7A1EB3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2128597"/>
                <a:ext cx="4030872" cy="999927"/>
              </a:xfrm>
              <a:prstGeom prst="rect">
                <a:avLst/>
              </a:prstGeom>
              <a:blipFill>
                <a:blip r:embed="rId3"/>
                <a:stretch>
                  <a:fillRect b="-47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87398"/>
      </p:ext>
    </p:extLst>
  </p:cSld>
  <p:clrMapOvr>
    <a:masterClrMapping/>
  </p:clrMapOvr>
  <p:transition spd="slow"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EC797-93E3-C2D2-C4F2-438F9B0B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8ADBBB-9F90-0165-4239-DC116F3F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DE" dirty="0"/>
              <a:t>Distanzmaße</a:t>
            </a:r>
            <a:endParaRPr lang="en-DE" dirty="0"/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94695197-0C71-B75A-F7EB-BBB08F6202B3}"/>
              </a:ext>
            </a:extLst>
          </p:cNvPr>
          <p:cNvSpPr txBox="1">
            <a:spLocks/>
          </p:cNvSpPr>
          <p:nvPr/>
        </p:nvSpPr>
        <p:spPr>
          <a:xfrm>
            <a:off x="358776" y="1347615"/>
            <a:ext cx="7021536" cy="3528392"/>
          </a:xfrm>
          <a:prstGeom prst="rect">
            <a:avLst/>
          </a:prstGeom>
        </p:spPr>
        <p:txBody>
          <a:bodyPr numCol="1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i="1" dirty="0"/>
              <a:t>4 </a:t>
            </a:r>
            <a:r>
              <a:rPr lang="en-US" sz="1200" i="1" dirty="0" err="1"/>
              <a:t>Distanzmaße</a:t>
            </a:r>
            <a:r>
              <a:rPr lang="en-US" sz="1200" i="1" dirty="0"/>
              <a:t> (Aufgabe 3)</a:t>
            </a:r>
            <a:endParaRPr lang="en-GB" sz="1200" b="1" dirty="0"/>
          </a:p>
          <a:p>
            <a:r>
              <a:rPr lang="en-GB" sz="1200" b="1" dirty="0"/>
              <a:t>Eins für Graphen (</a:t>
            </a:r>
            <a:r>
              <a:rPr lang="en-GB" sz="1200" b="1" dirty="0" err="1"/>
              <a:t>Ignoriert</a:t>
            </a:r>
            <a:r>
              <a:rPr lang="en-GB" sz="1200" b="1" dirty="0"/>
              <a:t> die </a:t>
            </a:r>
            <a:r>
              <a:rPr lang="en-GB" sz="1200" b="1" dirty="0" err="1"/>
              <a:t>eigentlichen</a:t>
            </a:r>
            <a:r>
              <a:rPr lang="en-GB" sz="1200" b="1" dirty="0"/>
              <a:t> </a:t>
            </a:r>
            <a:r>
              <a:rPr lang="en-GB" sz="1200" b="1" dirty="0" err="1"/>
              <a:t>Koordinaten</a:t>
            </a:r>
            <a:r>
              <a:rPr lang="en-GB" sz="1200" b="1" dirty="0"/>
              <a:t>):</a:t>
            </a:r>
            <a:endParaRPr lang="en-US" sz="1200" b="1" dirty="0"/>
          </a:p>
          <a:p>
            <a:endParaRPr lang="en-US" sz="1200" b="1" dirty="0"/>
          </a:p>
          <a:p>
            <a:r>
              <a:rPr lang="en-US" sz="1200" b="1" dirty="0"/>
              <a:t>Grad </a:t>
            </a:r>
            <a:r>
              <a:rPr lang="en-US" sz="1200" b="1" dirty="0" err="1"/>
              <a:t>ausgehender</a:t>
            </a:r>
            <a:r>
              <a:rPr lang="en-US" sz="1200" b="1" dirty="0"/>
              <a:t> Knoten:</a:t>
            </a:r>
          </a:p>
          <a:p>
            <a:r>
              <a:rPr lang="en-GB" sz="1200" i="1" dirty="0" err="1">
                <a:solidFill>
                  <a:schemeClr val="accent1"/>
                </a:solidFill>
              </a:rPr>
              <a:t>Annahme</a:t>
            </a:r>
            <a:r>
              <a:rPr lang="en-GB" sz="1200" i="1" dirty="0">
                <a:solidFill>
                  <a:schemeClr val="accent1"/>
                </a:solidFill>
              </a:rPr>
              <a:t>: </a:t>
            </a:r>
            <a:r>
              <a:rPr lang="en-GB" sz="1200" dirty="0"/>
              <a:t>Ein Knoten </a:t>
            </a:r>
            <a:r>
              <a:rPr lang="en-GB" sz="1200" dirty="0" err="1"/>
              <a:t>mit</a:t>
            </a:r>
            <a:r>
              <a:rPr lang="en-GB" sz="1200" dirty="0"/>
              <a:t> </a:t>
            </a:r>
            <a:r>
              <a:rPr lang="en-GB" sz="1200" dirty="0" err="1"/>
              <a:t>vielen</a:t>
            </a:r>
            <a:r>
              <a:rPr lang="en-GB" sz="1200" dirty="0"/>
              <a:t> </a:t>
            </a:r>
            <a:r>
              <a:rPr lang="en-GB" sz="1200" dirty="0" err="1"/>
              <a:t>ausgehenden</a:t>
            </a:r>
            <a:r>
              <a:rPr lang="en-GB" sz="1200" dirty="0"/>
              <a:t> Kanten </a:t>
            </a:r>
            <a:r>
              <a:rPr lang="en-GB" sz="1200" dirty="0" err="1"/>
              <a:t>ist</a:t>
            </a:r>
            <a:r>
              <a:rPr lang="en-GB" sz="1200" dirty="0"/>
              <a:t> </a:t>
            </a:r>
            <a:r>
              <a:rPr lang="en-GB" sz="1200" dirty="0" err="1"/>
              <a:t>generell</a:t>
            </a:r>
            <a:r>
              <a:rPr lang="en-GB" sz="1200" dirty="0"/>
              <a:t> nah.</a:t>
            </a:r>
          </a:p>
          <a:p>
            <a:r>
              <a:rPr lang="en-GB" sz="1200" i="1" dirty="0">
                <a:solidFill>
                  <a:schemeClr val="accent1"/>
                </a:solidFill>
              </a:rPr>
              <a:t>Idee: </a:t>
            </a:r>
            <a:r>
              <a:rPr lang="en-GB" sz="1200" dirty="0"/>
              <a:t>Gib </a:t>
            </a:r>
            <a:r>
              <a:rPr lang="en-GB" sz="1200" dirty="0" err="1"/>
              <a:t>eine</a:t>
            </a:r>
            <a:r>
              <a:rPr lang="en-GB" sz="1200" dirty="0"/>
              <a:t> Zahl </a:t>
            </a:r>
            <a:r>
              <a:rPr lang="en-GB" sz="1200" dirty="0" err="1"/>
              <a:t>zurück</a:t>
            </a:r>
            <a:r>
              <a:rPr lang="en-GB" sz="1200" dirty="0"/>
              <a:t>, die </a:t>
            </a:r>
            <a:r>
              <a:rPr lang="en-GB" sz="1200" dirty="0" err="1"/>
              <a:t>umgekehrt</a:t>
            </a:r>
            <a:r>
              <a:rPr lang="en-GB" sz="1200" dirty="0"/>
              <a:t> proportional </a:t>
            </a:r>
            <a:r>
              <a:rPr lang="en-GB" sz="1200" dirty="0" err="1"/>
              <a:t>zu</a:t>
            </a:r>
            <a:r>
              <a:rPr lang="en-GB" sz="1200" dirty="0"/>
              <a:t> </a:t>
            </a:r>
            <a:r>
              <a:rPr lang="en-GB" sz="1200" dirty="0" err="1"/>
              <a:t>dieser</a:t>
            </a:r>
            <a:r>
              <a:rPr lang="en-GB" sz="1200" dirty="0"/>
              <a:t> Zahl </a:t>
            </a:r>
            <a:r>
              <a:rPr lang="en-GB" sz="1200" dirty="0" err="1"/>
              <a:t>ist</a:t>
            </a:r>
            <a:r>
              <a:rPr lang="en-GB" sz="1200" dirty="0"/>
              <a:t> (die </a:t>
            </a:r>
            <a:r>
              <a:rPr lang="en-GB" sz="1200" dirty="0" err="1"/>
              <a:t>Distanz</a:t>
            </a:r>
            <a:r>
              <a:rPr lang="en-GB" sz="1200" dirty="0"/>
              <a:t> </a:t>
            </a:r>
            <a:r>
              <a:rPr lang="en-GB" sz="1200" dirty="0" err="1"/>
              <a:t>wird</a:t>
            </a:r>
            <a:r>
              <a:rPr lang="en-GB" sz="1200" dirty="0"/>
              <a:t> </a:t>
            </a:r>
            <a:r>
              <a:rPr lang="en-GB" sz="1200" dirty="0" err="1"/>
              <a:t>kleiner</a:t>
            </a:r>
            <a:r>
              <a:rPr lang="en-GB" sz="1200" dirty="0"/>
              <a:t>, </a:t>
            </a:r>
            <a:r>
              <a:rPr lang="en-GB" sz="1200" dirty="0" err="1"/>
              <a:t>wenn</a:t>
            </a:r>
            <a:r>
              <a:rPr lang="en-GB" sz="1200" dirty="0"/>
              <a:t> b </a:t>
            </a:r>
            <a:r>
              <a:rPr lang="en-GB" sz="1200" dirty="0" err="1"/>
              <a:t>mehr</a:t>
            </a:r>
            <a:r>
              <a:rPr lang="en-GB" sz="1200" dirty="0"/>
              <a:t> </a:t>
            </a:r>
            <a:r>
              <a:rPr lang="en-GB" sz="1200" dirty="0" err="1"/>
              <a:t>ausgehende</a:t>
            </a:r>
            <a:r>
              <a:rPr lang="en-GB" sz="1200" dirty="0"/>
              <a:t> Kanten hat).</a:t>
            </a:r>
          </a:p>
        </p:txBody>
      </p:sp>
    </p:spTree>
    <p:extLst>
      <p:ext uri="{BB962C8B-B14F-4D97-AF65-F5344CB8AC3E}">
        <p14:creationId xmlns:p14="http://schemas.microsoft.com/office/powerpoint/2010/main" val="2312733988"/>
      </p:ext>
    </p:extLst>
  </p:cSld>
  <p:clrMapOvr>
    <a:masterClrMapping/>
  </p:clrMapOvr>
  <p:transition spd="slow">
    <p:wipe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58C843-C907-45F9-A2B9-A48AA338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DE" dirty="0"/>
              <a:t>Distanzmaße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platzhalter 13">
                <a:extLst>
                  <a:ext uri="{FF2B5EF4-FFF2-40B4-BE49-F238E27FC236}">
                    <a16:creationId xmlns:a16="http://schemas.microsoft.com/office/drawing/2014/main" id="{5C2F8AC2-2CF8-055A-DEC9-5B92D38DCD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544" y="1393776"/>
                <a:ext cx="4861296" cy="4372171"/>
              </a:xfrm>
              <a:prstGeom prst="rect">
                <a:avLst/>
              </a:prstGeom>
            </p:spPr>
            <p:txBody>
              <a:bodyPr vert="horz" lIns="0" tIns="0" rIns="0" bIns="0" numCol="1" spcCol="360000" rtlCol="0">
                <a:noAutofit/>
              </a:bodyPr>
              <a:lstStyle>
                <a:lvl1pPr marL="0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4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266700" indent="-26670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Clr>
                    <a:schemeClr val="tx1"/>
                  </a:buClr>
                  <a:buSzPct val="100000"/>
                  <a:buFont typeface="+mj-lt"/>
                  <a:buAutoNum type="arabicPeriod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8163" indent="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823913" indent="-285750" algn="l" defTabSz="914400" rtl="0" eaLnBrk="1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1100"/>
                  </a:spcAft>
                  <a:buSzPct val="130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200" i="1" dirty="0"/>
                  <a:t>4 </a:t>
                </a:r>
                <a:r>
                  <a:rPr lang="en-US" sz="1200" i="1" dirty="0" err="1"/>
                  <a:t>Distanzmaße</a:t>
                </a:r>
                <a:r>
                  <a:rPr lang="en-US" sz="1200" i="1" dirty="0"/>
                  <a:t> (Aufgabe 3)</a:t>
                </a: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en-US" sz="1200" b="1" dirty="0"/>
                  <a:t>Eins für </a:t>
                </a:r>
                <a:r>
                  <a:rPr lang="en-US" sz="1200" b="1" dirty="0" err="1"/>
                  <a:t>Spheren</a:t>
                </a:r>
                <a:r>
                  <a:rPr lang="en-US" sz="1200" b="1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en-GB" sz="1200" b="1" dirty="0"/>
              </a:p>
              <a:p>
                <a:pPr>
                  <a:lnSpc>
                    <a:spcPct val="100000"/>
                  </a:lnSpc>
                </a:pPr>
                <a:r>
                  <a:rPr lang="en-US" sz="1200" b="1" dirty="0"/>
                  <a:t>Haversine </a:t>
                </a:r>
                <a:r>
                  <a:rPr lang="en-US" sz="1200" b="1" dirty="0" err="1"/>
                  <a:t>Distanz</a:t>
                </a:r>
                <a:endParaRPr lang="en-US" sz="1200" dirty="0"/>
              </a:p>
              <a:p>
                <a:r>
                  <a:rPr lang="en-GB" sz="1200" dirty="0"/>
                  <a:t>Dies </a:t>
                </a:r>
                <a:r>
                  <a:rPr lang="en-GB" sz="1200" dirty="0" err="1"/>
                  <a:t>setzt</a:t>
                </a:r>
                <a:r>
                  <a:rPr lang="en-GB" sz="1200" dirty="0"/>
                  <a:t> </a:t>
                </a:r>
                <a:r>
                  <a:rPr lang="en-GB" sz="1200" dirty="0" err="1"/>
                  <a:t>voraus</a:t>
                </a:r>
                <a:r>
                  <a:rPr lang="en-GB" sz="1200" dirty="0"/>
                  <a:t>, </a:t>
                </a:r>
                <a:r>
                  <a:rPr lang="en-GB" sz="1200" dirty="0" err="1"/>
                  <a:t>dass</a:t>
                </a:r>
                <a:r>
                  <a:rPr lang="en-GB" sz="1200" dirty="0"/>
                  <a:t> </a:t>
                </a:r>
                <a:r>
                  <a:rPr lang="en-GB" sz="1200" dirty="0" err="1"/>
                  <a:t>wir</a:t>
                </a:r>
                <a:r>
                  <a:rPr lang="en-GB" sz="1200" dirty="0"/>
                  <a:t> </a:t>
                </a:r>
                <a:r>
                  <a:rPr lang="en-GB" sz="1200" dirty="0" err="1"/>
                  <a:t>einen</a:t>
                </a:r>
                <a:r>
                  <a:rPr lang="en-GB" sz="1200" dirty="0"/>
                  <a:t> </a:t>
                </a:r>
                <a:r>
                  <a:rPr lang="en-GB" sz="1200" dirty="0" err="1"/>
                  <a:t>Punkt</a:t>
                </a:r>
                <a:r>
                  <a:rPr lang="en-GB" sz="1200" dirty="0"/>
                  <a:t> q den </a:t>
                </a:r>
                <a:r>
                  <a:rPr lang="en-GB" sz="1200" dirty="0" err="1"/>
                  <a:t>Längengrad</a:t>
                </a:r>
                <a:r>
                  <a:rPr lang="en-GB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  <a:r>
                  <a:rPr lang="en-GB" sz="1200" dirty="0"/>
                  <a:t>und den </a:t>
                </a:r>
                <a:r>
                  <a:rPr lang="en-GB" sz="1200" dirty="0" err="1"/>
                  <a:t>Breitengrad</a:t>
                </a:r>
                <a:r>
                  <a:rPr lang="en-GB" sz="1200" dirty="0"/>
                  <a:t> 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200" dirty="0"/>
                  <a:t> </a:t>
                </a:r>
                <a:r>
                  <a:rPr lang="en-GB" sz="1200" dirty="0"/>
                  <a:t>auf </a:t>
                </a:r>
                <a:r>
                  <a:rPr lang="en-GB" sz="1200" dirty="0" err="1"/>
                  <a:t>einer</a:t>
                </a:r>
                <a:r>
                  <a:rPr lang="en-GB" sz="1200" dirty="0"/>
                  <a:t> Kugel </a:t>
                </a:r>
                <a:r>
                  <a:rPr lang="en-GB" sz="1200" dirty="0" err="1"/>
                  <a:t>kennen</a:t>
                </a:r>
                <a:r>
                  <a:rPr lang="en-GB" sz="1200" dirty="0"/>
                  <a:t>. Dann </a:t>
                </a:r>
                <a:r>
                  <a:rPr lang="en-GB" sz="1200" dirty="0" err="1"/>
                  <a:t>liegt</a:t>
                </a:r>
                <a:r>
                  <a:rPr lang="en-GB" sz="1200" dirty="0"/>
                  <a:t> die </a:t>
                </a:r>
                <a:r>
                  <a:rPr lang="en-GB" sz="1200" dirty="0" err="1"/>
                  <a:t>kürzeste</a:t>
                </a:r>
                <a:r>
                  <a:rPr lang="en-GB" sz="1200" dirty="0"/>
                  <a:t> </a:t>
                </a:r>
                <a:r>
                  <a:rPr lang="en-GB" sz="1200" dirty="0" err="1"/>
                  <a:t>Entfernung</a:t>
                </a:r>
                <a:r>
                  <a:rPr lang="en-GB" sz="1200" dirty="0"/>
                  <a:t> </a:t>
                </a:r>
                <a:r>
                  <a:rPr lang="en-GB" sz="1200" dirty="0" err="1"/>
                  <a:t>zwischen</a:t>
                </a:r>
                <a:r>
                  <a:rPr lang="en-GB" sz="1200" dirty="0"/>
                  <a:t> </a:t>
                </a:r>
                <a:r>
                  <a:rPr lang="en-GB" sz="1200" dirty="0" err="1"/>
                  <a:t>zwei</a:t>
                </a:r>
                <a:r>
                  <a:rPr lang="en-GB" sz="1200" dirty="0"/>
                  <a:t> </a:t>
                </a:r>
                <a:r>
                  <a:rPr lang="en-GB" sz="1200" dirty="0" err="1"/>
                  <a:t>Punkten</a:t>
                </a:r>
                <a:r>
                  <a:rPr lang="en-GB" sz="1200" dirty="0"/>
                  <a:t> </a:t>
                </a:r>
                <a:r>
                  <a:rPr lang="en-GB" sz="1200" dirty="0" err="1"/>
                  <a:t>entlang</a:t>
                </a:r>
                <a:r>
                  <a:rPr lang="en-GB" sz="1200" dirty="0"/>
                  <a:t> </a:t>
                </a:r>
                <a:r>
                  <a:rPr lang="en-GB" sz="1200" dirty="0" err="1"/>
                  <a:t>eines</a:t>
                </a:r>
                <a:r>
                  <a:rPr lang="en-GB" sz="1200" dirty="0"/>
                  <a:t> </a:t>
                </a:r>
                <a:r>
                  <a:rPr lang="en-GB" sz="1200" dirty="0" err="1"/>
                  <a:t>Kreises</a:t>
                </a:r>
                <a:r>
                  <a:rPr lang="en-GB" sz="1200" dirty="0"/>
                  <a:t>, der </a:t>
                </a:r>
                <a:r>
                  <a:rPr lang="en-GB" sz="1200" dirty="0" err="1"/>
                  <a:t>durch</a:t>
                </a:r>
                <a:r>
                  <a:rPr lang="en-GB" sz="1200" dirty="0"/>
                  <a:t> </a:t>
                </a:r>
                <a:r>
                  <a:rPr lang="en-GB" sz="1200" dirty="0" err="1"/>
                  <a:t>beide</a:t>
                </a:r>
                <a:r>
                  <a:rPr lang="en-GB" sz="1200" dirty="0"/>
                  <a:t> </a:t>
                </a:r>
                <a:r>
                  <a:rPr lang="en-GB" sz="1200" dirty="0" err="1"/>
                  <a:t>Punkte</a:t>
                </a:r>
                <a:r>
                  <a:rPr lang="en-GB" sz="1200" dirty="0"/>
                  <a:t> </a:t>
                </a:r>
                <a:r>
                  <a:rPr lang="en-GB" sz="1200" dirty="0" err="1"/>
                  <a:t>verläuft</a:t>
                </a:r>
                <a:r>
                  <a:rPr lang="en-GB" sz="1200" dirty="0"/>
                  <a:t>. Die </a:t>
                </a:r>
                <a:r>
                  <a:rPr lang="en-GB" sz="1200" dirty="0" err="1"/>
                  <a:t>Entfernung</a:t>
                </a:r>
                <a:r>
                  <a:rPr lang="en-GB" sz="1200" dirty="0"/>
                  <a:t> </a:t>
                </a:r>
                <a:r>
                  <a:rPr lang="en-GB" sz="1200" dirty="0" err="1"/>
                  <a:t>dieser</a:t>
                </a:r>
                <a:r>
                  <a:rPr lang="en-GB" sz="1200" dirty="0"/>
                  <a:t> </a:t>
                </a:r>
                <a:r>
                  <a:rPr lang="en-GB" sz="1200" dirty="0" err="1"/>
                  <a:t>Punkte</a:t>
                </a:r>
                <a:r>
                  <a:rPr lang="en-GB" sz="1200" dirty="0"/>
                  <a:t> </a:t>
                </a:r>
                <a:r>
                  <a:rPr lang="en-GB" sz="1200" dirty="0" err="1"/>
                  <a:t>kann</a:t>
                </a:r>
                <a:r>
                  <a:rPr lang="en-GB" sz="1200" dirty="0"/>
                  <a:t> </a:t>
                </a:r>
                <a:r>
                  <a:rPr lang="en-GB" sz="1200" dirty="0" err="1"/>
                  <a:t>über</a:t>
                </a:r>
                <a:r>
                  <a:rPr lang="en-GB" sz="1200" dirty="0"/>
                  <a:t> </a:t>
                </a:r>
                <a:r>
                  <a:rPr lang="en-GB" sz="1200" dirty="0" err="1"/>
                  <a:t>folgende</a:t>
                </a:r>
                <a:r>
                  <a:rPr lang="en-GB" sz="1200" dirty="0"/>
                  <a:t> </a:t>
                </a:r>
                <a:r>
                  <a:rPr lang="en-GB" sz="1200" dirty="0" err="1"/>
                  <a:t>Funktion</a:t>
                </a:r>
                <a:r>
                  <a:rPr lang="en-GB" sz="1200" dirty="0"/>
                  <a:t> </a:t>
                </a:r>
                <a:r>
                  <a:rPr lang="en-GB" sz="1200" dirty="0" err="1"/>
                  <a:t>berechnet</a:t>
                </a:r>
                <a:r>
                  <a:rPr lang="en-GB" sz="1200" dirty="0"/>
                  <a:t> </a:t>
                </a:r>
                <a:r>
                  <a:rPr lang="en-GB" sz="1200" dirty="0" err="1"/>
                  <a:t>werden</a:t>
                </a:r>
                <a:r>
                  <a:rPr lang="en-GB" sz="1200" dirty="0"/>
                  <a:t>.</a:t>
                </a: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de-DE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sz="1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2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de-DE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de-DE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func>
                                    <m:funcPr>
                                      <m:ctrlP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de-DE" sz="1200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de-DE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de-DE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de-DE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func>
                            </m:e>
                          </m:d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de-DE" sz="1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unc>
                                <m:func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2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de-DE" sz="1200" i="1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func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)⋅</m:t>
                          </m:r>
                          <m:func>
                            <m:func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de-DE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200" dirty="0"/>
              </a:p>
              <a:p>
                <a:pPr>
                  <a:lnSpc>
                    <a:spcPct val="100000"/>
                  </a:lnSpc>
                </a:pPr>
                <a:endParaRPr lang="en-US" sz="1200" dirty="0"/>
              </a:p>
              <a:p>
                <a:r>
                  <a:rPr lang="en-US" sz="1200" dirty="0"/>
                  <a:t>https://</a:t>
                </a:r>
                <a:r>
                  <a:rPr lang="en-US" sz="1200" dirty="0" err="1"/>
                  <a:t>en.wikipedia.org</a:t>
                </a:r>
                <a:r>
                  <a:rPr lang="en-US" sz="1200" dirty="0"/>
                  <a:t>/wiki/</a:t>
                </a:r>
                <a:r>
                  <a:rPr lang="en-US" sz="1200" dirty="0" err="1"/>
                  <a:t>Haversine_formula</a:t>
                </a:r>
                <a:endParaRPr lang="en-US" sz="1200" dirty="0"/>
              </a:p>
            </p:txBody>
          </p:sp>
        </mc:Choice>
        <mc:Fallback xmlns="">
          <p:sp>
            <p:nvSpPr>
              <p:cNvPr id="4" name="Textplatzhalter 13">
                <a:extLst>
                  <a:ext uri="{FF2B5EF4-FFF2-40B4-BE49-F238E27FC236}">
                    <a16:creationId xmlns:a16="http://schemas.microsoft.com/office/drawing/2014/main" id="{5C2F8AC2-2CF8-055A-DEC9-5B92D38DC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393776"/>
                <a:ext cx="4861296" cy="4372171"/>
              </a:xfrm>
              <a:prstGeom prst="rect">
                <a:avLst/>
              </a:prstGeom>
              <a:blipFill>
                <a:blip r:embed="rId2"/>
                <a:stretch>
                  <a:fillRect l="-1823" t="-867" r="-104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37DC164-465A-E979-B709-F2FD1E22F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347614"/>
            <a:ext cx="223224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902698"/>
      </p:ext>
    </p:extLst>
  </p:cSld>
  <p:clrMapOvr>
    <a:masterClrMapping/>
  </p:clrMapOvr>
  <p:transition spd="slow"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Spaß,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TEMPLATE DEF Faculty v2022 [1783551273976]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961EAE-E4C5-2349-9985-83C28BEF5F7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61ed79e-6c5e-480f-ba6f-512e74b56f3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9655</TotalTime>
  <Words>484</Words>
  <Application>Microsoft Macintosh PowerPoint</Application>
  <PresentationFormat>On-screen Show (16:9)</PresentationFormat>
  <Paragraphs>82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Cambria Math</vt:lpstr>
      <vt:lpstr>Open Sans</vt:lpstr>
      <vt:lpstr>Verdana</vt:lpstr>
      <vt:lpstr>TEMPLATE DEF Faculty v2022</vt:lpstr>
      <vt:lpstr>TEMPLATE DEF Faculty v2022 [1783551273976]</vt:lpstr>
      <vt:lpstr>Programmiertechnik II</vt:lpstr>
      <vt:lpstr>Überblick</vt:lpstr>
      <vt:lpstr>WeightedStructDigraph</vt:lpstr>
      <vt:lpstr>Dateizugriff in CPP</vt:lpstr>
      <vt:lpstr>Distanzmaße</vt:lpstr>
      <vt:lpstr>Distanzmaße</vt:lpstr>
      <vt:lpstr>Distanzmaße</vt:lpstr>
      <vt:lpstr>Viel Spaß,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Hennicke, Leonhard</cp:lastModifiedBy>
  <cp:revision>185</cp:revision>
  <cp:lastPrinted>2014-05-07T12:19:03Z</cp:lastPrinted>
  <dcterms:created xsi:type="dcterms:W3CDTF">2022-08-10T08:10:37Z</dcterms:created>
  <dcterms:modified xsi:type="dcterms:W3CDTF">2026-07-09T09:18:33Z</dcterms:modified>
</cp:coreProperties>
</file>