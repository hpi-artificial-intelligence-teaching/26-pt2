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1" r:id="rId2"/>
    <p:sldId id="303" r:id="rId3"/>
    <p:sldId id="316" r:id="rId4"/>
    <p:sldId id="317" r:id="rId5"/>
    <p:sldId id="318" r:id="rId6"/>
    <p:sldId id="319" r:id="rId7"/>
    <p:sldId id="320" r:id="rId8"/>
    <p:sldId id="304" r:id="rId9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D31"/>
    <a:srgbClr val="AE3427"/>
    <a:srgbClr val="B1063A"/>
    <a:srgbClr val="000000"/>
    <a:srgbClr val="FBFCFC"/>
    <a:srgbClr val="FCFCFC"/>
    <a:srgbClr val="FCFCFD"/>
    <a:srgbClr val="FCFDFD"/>
    <a:srgbClr val="FDFDFD"/>
    <a:srgbClr val="FD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3"/>
    <p:restoredTop sz="91370"/>
  </p:normalViewPr>
  <p:slideViewPr>
    <p:cSldViewPr snapToObjects="1" showGuides="1">
      <p:cViewPr varScale="1">
        <p:scale>
          <a:sx n="160" d="100"/>
          <a:sy n="160" d="100"/>
        </p:scale>
        <p:origin x="512" y="80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Tutorium 4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4/rule_of_five.cpp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4/generic_iteration.cpp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4/array_return.cpp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4/static_const_cache.cpp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4/callable_member.cpp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Leonhard Hennicke</a:t>
            </a:r>
          </a:p>
          <a:p>
            <a:pPr algn="l"/>
            <a:r>
              <a:rPr lang="de-DE" dirty="0"/>
              <a:t>Tutorium 4: </a:t>
            </a:r>
            <a:r>
              <a:rPr lang="de-DE" dirty="0" err="1"/>
              <a:t>Generics</a:t>
            </a:r>
            <a:r>
              <a:rPr lang="de-DE" dirty="0"/>
              <a:t>, Statics &amp; Move 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Rule </a:t>
            </a:r>
            <a:r>
              <a:rPr lang="de-DE" altLang="en-DE" dirty="0" err="1"/>
              <a:t>of</a:t>
            </a:r>
            <a:r>
              <a:rPr lang="de-DE" altLang="en-DE" dirty="0"/>
              <a:t> Five</a:t>
            </a:r>
          </a:p>
          <a:p>
            <a:pPr marL="342900" indent="-342900"/>
            <a:r>
              <a:rPr lang="de-DE" altLang="en-DE" dirty="0" err="1"/>
              <a:t>Iterating</a:t>
            </a:r>
            <a:r>
              <a:rPr lang="de-DE" altLang="en-DE" dirty="0"/>
              <a:t> Over </a:t>
            </a:r>
            <a:r>
              <a:rPr lang="de-DE" altLang="en-DE" dirty="0" err="1"/>
              <a:t>Generic</a:t>
            </a:r>
            <a:r>
              <a:rPr lang="de-DE" altLang="en-DE" dirty="0"/>
              <a:t> Arrays</a:t>
            </a:r>
          </a:p>
          <a:p>
            <a:pPr marL="342900" indent="-342900"/>
            <a:r>
              <a:rPr lang="de-DE" altLang="en-DE" dirty="0" err="1"/>
              <a:t>Returning</a:t>
            </a:r>
            <a:r>
              <a:rPr lang="de-DE" altLang="en-DE" dirty="0"/>
              <a:t> </a:t>
            </a:r>
            <a:r>
              <a:rPr lang="de-DE" altLang="en-DE" dirty="0" err="1"/>
              <a:t>Generic</a:t>
            </a:r>
            <a:r>
              <a:rPr lang="de-DE" altLang="en-DE" dirty="0"/>
              <a:t> Fixed-Size Arrays</a:t>
            </a:r>
          </a:p>
          <a:p>
            <a:pPr marL="342900" indent="-342900"/>
            <a:r>
              <a:rPr lang="de-DE" altLang="en-DE" dirty="0" err="1"/>
              <a:t>Compute</a:t>
            </a:r>
            <a:r>
              <a:rPr lang="de-DE" altLang="en-DE" dirty="0"/>
              <a:t> Once per Template Instance (</a:t>
            </a:r>
            <a:r>
              <a:rPr lang="de-DE" altLang="en-DE" dirty="0" err="1"/>
              <a:t>static</a:t>
            </a:r>
            <a:r>
              <a:rPr lang="de-DE" altLang="en-DE" dirty="0"/>
              <a:t> </a:t>
            </a:r>
            <a:r>
              <a:rPr lang="de-DE" altLang="en-DE" dirty="0" err="1"/>
              <a:t>const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dirty="0" err="1"/>
              <a:t>Storing</a:t>
            </a:r>
            <a:r>
              <a:rPr lang="de-DE" altLang="en-DE" dirty="0"/>
              <a:t> </a:t>
            </a:r>
            <a:r>
              <a:rPr lang="de-DE" altLang="en-DE" dirty="0" err="1"/>
              <a:t>Callables</a:t>
            </a:r>
            <a:r>
              <a:rPr lang="de-DE" altLang="en-DE" dirty="0"/>
              <a:t> (</a:t>
            </a:r>
            <a:r>
              <a:rPr lang="de-DE" altLang="en-DE" dirty="0" err="1"/>
              <a:t>std</a:t>
            </a:r>
            <a:r>
              <a:rPr lang="de-DE" altLang="en-DE" dirty="0"/>
              <a:t>::</a:t>
            </a:r>
            <a:r>
              <a:rPr lang="de-DE" altLang="en-DE" dirty="0" err="1"/>
              <a:t>function</a:t>
            </a:r>
            <a:r>
              <a:rPr lang="de-DE" altLang="en-DE" dirty="0"/>
              <a:t>)</a:t>
            </a:r>
          </a:p>
          <a:p>
            <a:pPr marL="342900" indent="-342900"/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C5E70-6C49-DCE2-61F1-72012CF0C8D8}"/>
              </a:ext>
            </a:extLst>
          </p:cNvPr>
          <p:cNvSpPr txBox="1"/>
          <p:nvPr/>
        </p:nvSpPr>
        <p:spPr bwMode="gray">
          <a:xfrm>
            <a:off x="7593980" y="41705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4563-C922-DD3C-15E5-4908A9B8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Rule of Five</a:t>
            </a:r>
            <a:endParaRPr lang="en-DE"/>
          </a:p>
        </p:txBody>
      </p:sp>
      <p:sp>
        <p:nvSpPr>
          <p:cNvPr id="60" name="Content"/>
          <p:cNvSpPr>
            <a:spLocks noGrp="1"/>
          </p:cNvSpPr>
          <p:nvPr/>
        </p:nvSpPr>
        <p:spPr>
          <a:xfrm>
            <a:off x="355600" y="1168400"/>
            <a:ext cx="8432800" cy="355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 of Three recap: a class managing a raw heap resource needs a destructor, copy constructor and copy-assignment - otherwise the compiler's shallow copies cause a double-free via default destructor.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in the Rule of Five: add a move constructor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T(T&amp;&amp; other)</a:t>
            </a:r>
            <a:r>
              <a:rPr lang="en-US" sz="1600" dirty="0">
                <a:solidFill>
                  <a:schemeClr val="tx1"/>
                </a:solidFill>
              </a:rPr>
              <a:t> and move-assignment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T&amp; operator=(T&amp;&amp; other)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Why: a move steals the resource (pointer swap) instead of deep-copying - O(1) not O(n) - and resets the source (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data = nullptr</a:t>
            </a:r>
            <a:r>
              <a:rPr lang="en-US" sz="1600" dirty="0">
                <a:solidFill>
                  <a:schemeClr val="tx1"/>
                </a:solidFill>
              </a:rPr>
              <a:t>) so it stays safe to destruct.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Assignment (A3 Trie): </a:t>
            </a:r>
            <a:r>
              <a:rPr lang="en-US" sz="1600" dirty="0">
                <a:solidFill>
                  <a:schemeClr val="tx1"/>
                </a:solidFill>
              </a:rPr>
              <a:t>copy and destroy recurse over the tree; move just steals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root</a:t>
            </a:r>
            <a:r>
              <a:rPr lang="en-US" sz="1600" dirty="0">
                <a:solidFill>
                  <a:schemeClr val="tx1"/>
                </a:solidFill>
              </a:rPr>
              <a:t> and sets the source's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root = </a:t>
            </a:r>
            <a:r>
              <a:rPr lang="en-US" sz="1600" dirty="0" err="1">
                <a:solidFill>
                  <a:srgbClr val="B1063A"/>
                </a:solidFill>
                <a:latin typeface="Consolas"/>
              </a:rPr>
              <a:t>nullptr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 - </a:t>
            </a:r>
            <a:r>
              <a:rPr lang="en-US" sz="1600" dirty="0"/>
              <a:t>O(1)</a:t>
            </a:r>
            <a:r>
              <a:rPr lang="en-US" sz="1600" dirty="0">
                <a:latin typeface="Consolas"/>
              </a:rPr>
              <a:t> without the</a:t>
            </a:r>
            <a:r>
              <a:rPr lang="en-US" sz="1600" dirty="0">
                <a:solidFill>
                  <a:schemeClr val="tx1"/>
                </a:solidFill>
              </a:rPr>
              <a:t> recursion.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E70A5-ED46-BF39-9184-F4263AEDD277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rule_of_five.cpp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906876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F045-1A5A-59E8-D697-749D3126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Iterating Over Generic Arrays</a:t>
            </a:r>
            <a:endParaRPr lang="en-DE"/>
          </a:p>
        </p:txBody>
      </p:sp>
      <p:sp>
        <p:nvSpPr>
          <p:cNvPr id="60" name="Content"/>
          <p:cNvSpPr>
            <a:spLocks noGrp="1"/>
          </p:cNvSpPr>
          <p:nvPr/>
        </p:nvSpPr>
        <p:spPr>
          <a:xfrm>
            <a:off x="355600" y="1168400"/>
            <a:ext cx="8432800" cy="355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function template like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sum_bytes(const T&amp; c)</a:t>
            </a:r>
            <a:r>
              <a:rPr lang="en-US" sz="1600" dirty="0">
                <a:solidFill>
                  <a:schemeClr val="tx1"/>
                </a:solidFill>
              </a:rPr>
              <a:t> needs only that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 can be iterated with a range-based for and its elements cast to a number, not the concrete type.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same body works for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std::string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std::vector&lt;int&gt;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std::array&lt;char,N&gt;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Assignment (A2.1): </a:t>
            </a:r>
            <a:r>
              <a:rPr lang="en-US" sz="1600" dirty="0">
                <a:solidFill>
                  <a:schemeClr val="tx1"/>
                </a:solidFill>
              </a:rPr>
              <a:t>the basis for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sum_hash</a:t>
            </a:r>
            <a:r>
              <a:rPr lang="en-US" sz="1600" dirty="0">
                <a:solidFill>
                  <a:schemeClr val="tx1"/>
                </a:solidFill>
              </a:rPr>
              <a:t> /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rolling_hash</a:t>
            </a:r>
            <a:r>
              <a:rPr lang="en-US" sz="1600" dirty="0">
                <a:solidFill>
                  <a:schemeClr val="tx1"/>
                </a:solidFill>
              </a:rPr>
              <a:t>, which take a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const T&amp;</a:t>
            </a:r>
            <a:r>
              <a:rPr lang="en-US" sz="1600" dirty="0">
                <a:solidFill>
                  <a:schemeClr val="tx1"/>
                </a:solidFill>
              </a:rPr>
              <a:t> and iterate without caring about 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C487-7A14-B017-28A8-9BCDB602BD72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generic_iteration.cpp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539108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B4D5-574B-7F9E-F6DD-E97EB867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Returning Generic Fixed-Size Arrays</a:t>
            </a:r>
            <a:endParaRPr lang="en-DE"/>
          </a:p>
        </p:txBody>
      </p:sp>
      <p:sp>
        <p:nvSpPr>
          <p:cNvPr id="60" name="Content"/>
          <p:cNvSpPr>
            <a:spLocks noGrp="1"/>
          </p:cNvSpPr>
          <p:nvPr/>
        </p:nvSpPr>
        <p:spPr>
          <a:xfrm>
            <a:off x="355600" y="1168400"/>
            <a:ext cx="8432800" cy="355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latin typeface="Consolas"/>
              </a:rPr>
              <a:t>Here,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is a non-type template parameter </a:t>
            </a:r>
            <a:r>
              <a:rPr lang="en-US" sz="1600" dirty="0"/>
              <a:t>(</a:t>
            </a:r>
            <a:r>
              <a:rPr lang="en-US" sz="1600" dirty="0">
                <a:solidFill>
                  <a:schemeClr val="tx1"/>
                </a:solidFill>
              </a:rPr>
              <a:t>a compile-time constant, not a type).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compiler generates one function per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used; the returned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std::array&lt;int, N&gt;</a:t>
            </a:r>
            <a:r>
              <a:rPr lang="en-US" sz="1600" dirty="0">
                <a:solidFill>
                  <a:schemeClr val="tx1"/>
                </a:solidFill>
              </a:rPr>
              <a:t> has its size fixed at compile time (e.g.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make_squares&lt;3&gt;(1)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Assignment (A2.2): </a:t>
            </a:r>
            <a:r>
              <a:rPr lang="en-US" sz="1600" dirty="0">
                <a:solidFill>
                  <a:schemeClr val="tx1"/>
                </a:solidFill>
              </a:rPr>
              <a:t>the syntax behind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hash_keys_iterative</a:t>
            </a:r>
            <a:r>
              <a:rPr lang="en-US" sz="1600" dirty="0">
                <a:solidFill>
                  <a:schemeClr val="tx1"/>
                </a:solidFill>
              </a:rPr>
              <a:t> /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hash_keys_polynomial</a:t>
            </a:r>
            <a:r>
              <a:rPr lang="en-US" sz="1600" dirty="0">
                <a:solidFill>
                  <a:schemeClr val="tx1"/>
                </a:solidFill>
              </a:rPr>
              <a:t>, which return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std::array&lt;std::uint64_t, N&gt;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9F6B3-F9BD-03F1-CC3A-520ACA89DB6D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array_return.cpp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6542308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4C42-98E1-D6CE-C9A0-ED3641B5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Compute Once per Template Instance (static const)</a:t>
            </a:r>
            <a:endParaRPr lang="en-DE"/>
          </a:p>
        </p:txBody>
      </p:sp>
      <p:sp>
        <p:nvSpPr>
          <p:cNvPr id="60" name="Content"/>
          <p:cNvSpPr>
            <a:spLocks noGrp="1"/>
          </p:cNvSpPr>
          <p:nvPr/>
        </p:nvSpPr>
        <p:spPr>
          <a:xfrm>
            <a:off x="355600" y="1168400"/>
            <a:ext cx="8432800" cy="355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static const</a:t>
            </a:r>
            <a:r>
              <a:rPr lang="en-US" sz="1600" dirty="0">
                <a:solidFill>
                  <a:schemeClr val="tx1"/>
                </a:solidFill>
              </a:rPr>
              <a:t> local is initialized once </a:t>
            </a:r>
            <a:r>
              <a:rPr lang="en-US" sz="1600" dirty="0"/>
              <a:t>(</a:t>
            </a:r>
            <a:r>
              <a:rPr lang="en-US" sz="1600" dirty="0">
                <a:solidFill>
                  <a:schemeClr val="tx1"/>
                </a:solidFill>
              </a:rPr>
              <a:t>the first time control reaches it), then reused on every later call.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a template this happens once per distinct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fibonacci_sum&lt;32&gt;()</a:t>
            </a:r>
            <a:r>
              <a:rPr lang="en-US" sz="1600" dirty="0">
                <a:solidFill>
                  <a:schemeClr val="tx1"/>
                </a:solidFill>
              </a:rPr>
              <a:t> fills the array on the first call and reuses the cache afterwards;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fibonacci_sum&lt;34&gt;()</a:t>
            </a:r>
            <a:r>
              <a:rPr lang="en-US" sz="1600" dirty="0">
                <a:solidFill>
                  <a:schemeClr val="tx1"/>
                </a:solidFill>
              </a:rPr>
              <a:t> is a new instantiation that fills again.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Assignment (A2.2): </a:t>
            </a:r>
            <a:r>
              <a:rPr lang="en-US" sz="1600" dirty="0">
                <a:solidFill>
                  <a:schemeClr val="tx1"/>
                </a:solidFill>
              </a:rPr>
              <a:t>caches an expensive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std::array&lt;...,N&gt;</a:t>
            </a:r>
            <a:r>
              <a:rPr lang="en-US" sz="1600" dirty="0">
                <a:solidFill>
                  <a:schemeClr val="tx1"/>
                </a:solidFill>
              </a:rPr>
              <a:t> (the trick hinted at for </a:t>
            </a:r>
            <a:r>
              <a:rPr lang="en-US" sz="1600" dirty="0" err="1">
                <a:solidFill>
                  <a:srgbClr val="B1063A"/>
                </a:solidFill>
                <a:latin typeface="Consolas"/>
              </a:rPr>
              <a:t>hash_keys_polynomial_primes</a:t>
            </a:r>
            <a:r>
              <a:rPr lang="en-US" sz="1600" dirty="0">
                <a:latin typeface="Consolas"/>
              </a:rPr>
              <a:t>)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A1541-56AA-8FD3-1066-E9B3A6FD2D36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static_const_cache.cpp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696433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4C34-D2BA-4186-9926-7DF53817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Storing Callables (std::function)</a:t>
            </a:r>
            <a:endParaRPr lang="en-DE"/>
          </a:p>
        </p:txBody>
      </p:sp>
      <p:sp>
        <p:nvSpPr>
          <p:cNvPr id="60" name="Content"/>
          <p:cNvSpPr>
            <a:spLocks noGrp="1"/>
          </p:cNvSpPr>
          <p:nvPr/>
        </p:nvSpPr>
        <p:spPr>
          <a:xfrm>
            <a:off x="355600" y="1168400"/>
            <a:ext cx="8432800" cy="3556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B1063A"/>
                </a:solidFill>
                <a:latin typeface="Consolas"/>
              </a:rPr>
              <a:t>std::function&lt;R(Args...)&gt;</a:t>
            </a:r>
            <a:r>
              <a:rPr lang="en-US" sz="1600" dirty="0">
                <a:solidFill>
                  <a:schemeClr val="tx1"/>
                </a:solidFill>
              </a:rPr>
              <a:t> holds any callable with a matching signature (could be a free function, a lambda or a functor).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class can store one as a member and call it later without knowing the concrete type, e.g.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std::function&lt;int(int,int)&gt; op;</a:t>
            </a:r>
            <a:r>
              <a:rPr lang="en-US" sz="1600" dirty="0">
                <a:solidFill>
                  <a:schemeClr val="tx1"/>
                </a:solidFill>
              </a:rPr>
              <a:t> then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op(a, b)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10000"/>
              </a:lnSpc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Assignment (A2.3): </a:t>
            </a:r>
            <a:r>
              <a:rPr lang="en-US" sz="1600" dirty="0">
                <a:solidFill>
                  <a:schemeClr val="tx1"/>
                </a:solidFill>
              </a:rPr>
              <a:t>exactly the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key_function</a:t>
            </a:r>
            <a:r>
              <a:rPr lang="en-US" sz="1600" dirty="0">
                <a:solidFill>
                  <a:schemeClr val="tx1"/>
                </a:solidFill>
              </a:rPr>
              <a:t> pattern in </a:t>
            </a:r>
            <a:r>
              <a:rPr lang="en-US" sz="1600" dirty="0" err="1">
                <a:solidFill>
                  <a:schemeClr val="tx1"/>
                </a:solidFill>
              </a:rPr>
              <a:t>BloomFilter</a:t>
            </a:r>
            <a:r>
              <a:rPr lang="en-US" sz="1600" dirty="0"/>
              <a:t>: </a:t>
            </a:r>
            <a:r>
              <a:rPr lang="en-US" sz="1600" dirty="0">
                <a:solidFill>
                  <a:schemeClr val="tx1"/>
                </a:solidFill>
              </a:rPr>
              <a:t>plug in any hash function, called later via the stored </a:t>
            </a:r>
            <a:r>
              <a:rPr lang="en-US" sz="1600" dirty="0">
                <a:solidFill>
                  <a:srgbClr val="B1063A"/>
                </a:solidFill>
                <a:latin typeface="Consolas"/>
              </a:rPr>
              <a:t>std::function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2EA14-D298-9F54-A4B6-83F1F30AADF3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callable_member.cpp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18757151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Spaß,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961EAE-E4C5-2349-9985-83C28BEF5F7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1ed79e-6c5e-480f-ba6f-512e74b56f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9015</TotalTime>
  <Words>610</Words>
  <Application>Microsoft Macintosh PowerPoint</Application>
  <PresentationFormat>On-screen Show (16:9)</PresentationFormat>
  <Paragraphs>38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Consolas</vt:lpstr>
      <vt:lpstr>Open Sans</vt:lpstr>
      <vt:lpstr>Verdana</vt:lpstr>
      <vt:lpstr>TEMPLATE DEF Faculty v2022</vt:lpstr>
      <vt:lpstr>Programmiertechnik II</vt:lpstr>
      <vt:lpstr>Überblick</vt:lpstr>
      <vt:lpstr>The Rule of Five</vt:lpstr>
      <vt:lpstr>Iterating Over Generic Arrays</vt:lpstr>
      <vt:lpstr>Returning Generic Fixed-Size Arrays</vt:lpstr>
      <vt:lpstr>Compute Once per Template Instance (static const)</vt:lpstr>
      <vt:lpstr>Storing Callables (std::function)</vt:lpstr>
      <vt:lpstr>Viel Spaß,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167</cp:revision>
  <cp:lastPrinted>2014-05-07T12:19:03Z</cp:lastPrinted>
  <dcterms:created xsi:type="dcterms:W3CDTF">2022-08-10T08:10:37Z</dcterms:created>
  <dcterms:modified xsi:type="dcterms:W3CDTF">2026-06-11T16:03:13Z</dcterms:modified>
</cp:coreProperties>
</file>