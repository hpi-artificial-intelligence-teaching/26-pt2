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1" r:id="rId2"/>
    <p:sldId id="303" r:id="rId3"/>
    <p:sldId id="394" r:id="rId4"/>
    <p:sldId id="395" r:id="rId5"/>
    <p:sldId id="397" r:id="rId6"/>
    <p:sldId id="398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304" r:id="rId16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000000"/>
    <a:srgbClr val="FBFCFC"/>
    <a:srgbClr val="FCFCFC"/>
    <a:srgbClr val="FCFCFD"/>
    <a:srgbClr val="FCFDFD"/>
    <a:srgbClr val="FDFDFD"/>
    <a:srgbClr val="FDFDFE"/>
    <a:srgbClr val="FDFEFE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4"/>
    <p:restoredTop sz="91416"/>
  </p:normalViewPr>
  <p:slideViewPr>
    <p:cSldViewPr snapToObjects="1" showGuides="1">
      <p:cViewPr>
        <p:scale>
          <a:sx n="159" d="100"/>
          <a:sy n="159" d="100"/>
        </p:scale>
        <p:origin x="488" y="-296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535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2b - C++ Einführung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atlassian.com/git" TargetMode="External"/><Relationship Id="rId4" Type="http://schemas.openxmlformats.org/officeDocument/2006/relationships/hyperlink" Target="https://classroom.github.com/a/78sXz8Oi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4-pt2/blob/main/unit2/mystring.cpp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Leonhard Hennicke</a:t>
            </a:r>
          </a:p>
          <a:p>
            <a:pPr algn="l"/>
            <a:r>
              <a:rPr lang="de-DE" dirty="0"/>
              <a:t>Tutorium: </a:t>
            </a:r>
            <a:r>
              <a:rPr lang="de-DE" dirty="0" err="1"/>
              <a:t>Git</a:t>
            </a:r>
            <a:r>
              <a:rPr lang="de-DE" dirty="0"/>
              <a:t>, GitHub, Iterators, File Streams, Debugging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 err="1"/>
              <a:t>Git</a:t>
            </a:r>
            <a:r>
              <a:rPr lang="de-DE" altLang="en-DE" dirty="0"/>
              <a:t>, GitHub, </a:t>
            </a:r>
            <a:r>
              <a:rPr lang="de-DE" altLang="en-DE" dirty="0" err="1"/>
              <a:t>Classrooms</a:t>
            </a:r>
            <a:endParaRPr lang="de-DE" altLang="en-DE" dirty="0"/>
          </a:p>
          <a:p>
            <a:pPr marL="614125" lvl="1" indent="-342900"/>
            <a:r>
              <a:rPr lang="de-DE" altLang="en-DE" dirty="0" err="1"/>
              <a:t>Install</a:t>
            </a:r>
            <a:r>
              <a:rPr lang="de-DE" altLang="en-DE" dirty="0"/>
              <a:t> &amp; Register</a:t>
            </a:r>
          </a:p>
          <a:p>
            <a:pPr marL="614125" lvl="1" indent="-342900"/>
            <a:r>
              <a:rPr lang="de-DE" altLang="en-DE" dirty="0"/>
              <a:t>Basic </a:t>
            </a:r>
            <a:r>
              <a:rPr lang="de-DE" altLang="en-DE" dirty="0" err="1"/>
              <a:t>Commands</a:t>
            </a:r>
            <a:endParaRPr lang="de-DE" altLang="en-DE" dirty="0"/>
          </a:p>
          <a:p>
            <a:pPr marL="614125" lvl="1" indent="-342900"/>
            <a:r>
              <a:rPr lang="en-US" altLang="en-DE" dirty="0"/>
              <a:t>Merging</a:t>
            </a:r>
            <a:endParaRPr lang="de-DE" altLang="en-DE" dirty="0"/>
          </a:p>
          <a:p>
            <a:pPr marL="614125" lvl="1" indent="-342900"/>
            <a:r>
              <a:rPr lang="en-US" altLang="en-DE" b="1" dirty="0">
                <a:latin typeface="Courier New" panose="02070309020205020404" pitchFamily="49" charset="0"/>
                <a:cs typeface="Courier New" panose="02070309020205020404" pitchFamily="49" charset="0"/>
              </a:rPr>
              <a:t>Pull Requests</a:t>
            </a:r>
            <a:endParaRPr lang="de-DE" altLang="en-DE" dirty="0"/>
          </a:p>
          <a:p>
            <a:pPr marL="342900" indent="-342900"/>
            <a:r>
              <a:rPr lang="de-DE" altLang="en-DE" dirty="0"/>
              <a:t>Iteratoren</a:t>
            </a:r>
          </a:p>
          <a:p>
            <a:pPr marL="342900" indent="-342900"/>
            <a:r>
              <a:rPr lang="de-DE" altLang="en-DE" dirty="0"/>
              <a:t>File Streams</a:t>
            </a:r>
            <a:endParaRPr lang="de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C8E8D-A87E-47C4-3901-F79931EE40E9}"/>
              </a:ext>
            </a:extLst>
          </p:cNvPr>
          <p:cNvSpPr txBox="1"/>
          <p:nvPr/>
        </p:nvSpPr>
        <p:spPr bwMode="gray">
          <a:xfrm>
            <a:off x="7639396" y="4222864"/>
            <a:ext cx="460996" cy="3651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99C6B7-A63E-67A7-B206-8A6EB6FC6D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Git </a:t>
            </a:r>
            <a:r>
              <a:rPr lang="en-GB" dirty="0" err="1"/>
              <a:t>installieren</a:t>
            </a:r>
            <a:endParaRPr lang="en-GB" dirty="0"/>
          </a:p>
          <a:p>
            <a:pPr lvl="1"/>
            <a:r>
              <a:rPr lang="en-GB" dirty="0">
                <a:hlinkClick r:id="rId2"/>
              </a:rPr>
              <a:t>https://git-scm.com/downloads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GitHub Account </a:t>
            </a:r>
            <a:r>
              <a:rPr lang="en-GB" dirty="0" err="1"/>
              <a:t>erstellen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https://github.com</a:t>
            </a:r>
            <a:endParaRPr lang="en-GB" dirty="0"/>
          </a:p>
          <a:p>
            <a:endParaRPr lang="en-DE" dirty="0"/>
          </a:p>
          <a:p>
            <a:r>
              <a:rPr lang="en-DE" dirty="0"/>
              <a:t>GitHub Classroom Assignment Link</a:t>
            </a:r>
          </a:p>
          <a:p>
            <a:pPr lvl="1"/>
            <a:r>
              <a:rPr lang="en-GB" dirty="0">
                <a:hlinkClick r:id="rId4"/>
              </a:rPr>
              <a:t>https://classroom.github.com/a/78sXz8Oi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 err="1"/>
              <a:t>Detailliertere</a:t>
            </a:r>
            <a:r>
              <a:rPr lang="en-GB" dirty="0"/>
              <a:t> Tutorials </a:t>
            </a:r>
            <a:r>
              <a:rPr lang="en-GB" dirty="0" err="1"/>
              <a:t>zu</a:t>
            </a:r>
            <a:r>
              <a:rPr lang="en-GB" dirty="0"/>
              <a:t> Git (optional)</a:t>
            </a:r>
          </a:p>
          <a:p>
            <a:pPr lvl="1"/>
            <a:r>
              <a:rPr lang="en-GB" dirty="0">
                <a:hlinkClick r:id="rId5"/>
              </a:rPr>
              <a:t>https://www.atlassian.com/git</a:t>
            </a:r>
            <a:endParaRPr lang="en-GB" dirty="0"/>
          </a:p>
          <a:p>
            <a:pPr lvl="1"/>
            <a:endParaRPr lang="en-DE" dirty="0"/>
          </a:p>
          <a:p>
            <a:pPr lvl="1"/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DDF2BD-5CFB-B034-2B0A-0BC7F8A4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Install &amp; Register</a:t>
            </a:r>
          </a:p>
        </p:txBody>
      </p:sp>
    </p:spTree>
    <p:extLst>
      <p:ext uri="{BB962C8B-B14F-4D97-AF65-F5344CB8AC3E}">
        <p14:creationId xmlns:p14="http://schemas.microsoft.com/office/powerpoint/2010/main" val="2120792940"/>
      </p:ext>
    </p:extLst>
  </p:cSld>
  <p:clrMapOvr>
    <a:masterClrMapping/>
  </p:clrMapOvr>
  <p:transition spd="slow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BF0917-F7A8-F0B6-7973-58380C309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239838"/>
            <a:ext cx="4213225" cy="3563938"/>
          </a:xfrm>
        </p:spPr>
        <p:txBody>
          <a:bodyPr/>
          <a:lstStyle/>
          <a:p>
            <a:r>
              <a:rPr lang="en-DE" dirty="0"/>
              <a:t>Git</a:t>
            </a:r>
          </a:p>
          <a:p>
            <a:pPr lvl="1"/>
            <a:r>
              <a:rPr lang="en-US" dirty="0"/>
              <a:t>System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verteilten</a:t>
            </a:r>
            <a:r>
              <a:rPr lang="en-US" dirty="0"/>
              <a:t> </a:t>
            </a:r>
            <a:r>
              <a:rPr lang="en-US" dirty="0" err="1"/>
              <a:t>Versionsverwaltung</a:t>
            </a:r>
            <a:endParaRPr lang="en-DE" dirty="0"/>
          </a:p>
          <a:p>
            <a:pPr lvl="1"/>
            <a:r>
              <a:rPr lang="en-DE" dirty="0"/>
              <a:t>Open Source</a:t>
            </a:r>
          </a:p>
          <a:p>
            <a:pPr lvl="1"/>
            <a:r>
              <a:rPr lang="en-DE" dirty="0"/>
              <a:t>Ursprünglich entwickelt von Linus Torvalds in 2005</a:t>
            </a:r>
          </a:p>
          <a:p>
            <a:pPr lvl="1"/>
            <a:endParaRPr lang="en-DE" dirty="0"/>
          </a:p>
          <a:p>
            <a:r>
              <a:rPr lang="en-DE" dirty="0"/>
              <a:t>GitHub</a:t>
            </a:r>
          </a:p>
          <a:p>
            <a:pPr lvl="1"/>
            <a:r>
              <a:rPr lang="en-GB" dirty="0" err="1"/>
              <a:t>Proprietäre</a:t>
            </a:r>
            <a:r>
              <a:rPr lang="en-GB" dirty="0"/>
              <a:t> </a:t>
            </a:r>
            <a:r>
              <a:rPr lang="en-GB" dirty="0" err="1"/>
              <a:t>Softwareentwicklingsplatform</a:t>
            </a:r>
            <a:endParaRPr lang="en-GB" dirty="0"/>
          </a:p>
          <a:p>
            <a:pPr lvl="1"/>
            <a:r>
              <a:rPr lang="en-GB" dirty="0" err="1"/>
              <a:t>Betrieben</a:t>
            </a:r>
            <a:r>
              <a:rPr lang="en-GB" dirty="0"/>
              <a:t> von Microsoft</a:t>
            </a:r>
          </a:p>
          <a:p>
            <a:pPr lvl="1"/>
            <a:r>
              <a:rPr lang="en-GB" dirty="0" err="1"/>
              <a:t>Basierend</a:t>
            </a:r>
            <a:r>
              <a:rPr lang="en-GB" dirty="0"/>
              <a:t> auf Git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BC8ACB-FC0A-FB5D-D6B8-E6E7DD34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Git vs. 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8E943-1EE0-EA1E-FEF7-4F84E08AA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563638"/>
            <a:ext cx="3659996" cy="172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77167"/>
      </p:ext>
    </p:extLst>
  </p:cSld>
  <p:clrMapOvr>
    <a:masterClrMapping/>
  </p:clrMapOvr>
  <p:transition spd="slow"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0FB36F-D2CE-461A-7540-BE632494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Git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D7178B-31F7-D5AB-BFFC-6C2978AAE5E1}"/>
              </a:ext>
            </a:extLst>
          </p:cNvPr>
          <p:cNvCxnSpPr/>
          <p:nvPr/>
        </p:nvCxnSpPr>
        <p:spPr bwMode="gray">
          <a:xfrm>
            <a:off x="1835696" y="2577594"/>
            <a:ext cx="5328592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8F53958-A0E4-2EC7-726E-750BA912B311}"/>
              </a:ext>
            </a:extLst>
          </p:cNvPr>
          <p:cNvSpPr txBox="1"/>
          <p:nvPr/>
        </p:nvSpPr>
        <p:spPr bwMode="gray">
          <a:xfrm>
            <a:off x="468013" y="2413454"/>
            <a:ext cx="914400" cy="3282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b="1" dirty="0" err="1"/>
              <a:t>Datei</a:t>
            </a:r>
            <a:r>
              <a:rPr lang="en-US" sz="2000" b="1" dirty="0"/>
              <a:t>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053D1-C870-CAE2-7A0D-4ED5EC03F8A1}"/>
              </a:ext>
            </a:extLst>
          </p:cNvPr>
          <p:cNvSpPr txBox="1"/>
          <p:nvPr/>
        </p:nvSpPr>
        <p:spPr bwMode="gray">
          <a:xfrm>
            <a:off x="468013" y="3753715"/>
            <a:ext cx="914400" cy="3282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b="1" dirty="0" err="1"/>
              <a:t>Datei</a:t>
            </a:r>
            <a:r>
              <a:rPr lang="en-US" sz="2000" b="1" dirty="0"/>
              <a:t>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1D380F-A773-D2B2-CA23-EFFD166A2C23}"/>
              </a:ext>
            </a:extLst>
          </p:cNvPr>
          <p:cNvCxnSpPr/>
          <p:nvPr/>
        </p:nvCxnSpPr>
        <p:spPr bwMode="gray">
          <a:xfrm>
            <a:off x="1835696" y="3928337"/>
            <a:ext cx="5328592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nip Diagonal Corner Rectangle 12">
            <a:extLst>
              <a:ext uri="{FF2B5EF4-FFF2-40B4-BE49-F238E27FC236}">
                <a16:creationId xmlns:a16="http://schemas.microsoft.com/office/drawing/2014/main" id="{0E38CB78-2646-A68C-9DE5-91AB941890C4}"/>
              </a:ext>
            </a:extLst>
          </p:cNvPr>
          <p:cNvSpPr/>
          <p:nvPr/>
        </p:nvSpPr>
        <p:spPr bwMode="gray">
          <a:xfrm>
            <a:off x="2052189" y="2191612"/>
            <a:ext cx="648072" cy="936104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Snip Diagonal Corner Rectangle 13">
            <a:extLst>
              <a:ext uri="{FF2B5EF4-FFF2-40B4-BE49-F238E27FC236}">
                <a16:creationId xmlns:a16="http://schemas.microsoft.com/office/drawing/2014/main" id="{660133CD-7148-3E0B-7A35-EAA404C04065}"/>
              </a:ext>
            </a:extLst>
          </p:cNvPr>
          <p:cNvSpPr/>
          <p:nvPr/>
        </p:nvSpPr>
        <p:spPr bwMode="gray">
          <a:xfrm>
            <a:off x="2052189" y="3507854"/>
            <a:ext cx="648072" cy="936104"/>
          </a:xfrm>
          <a:prstGeom prst="snip2Diag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D10BFC-335C-6D51-20C8-B0A47F92680C}"/>
              </a:ext>
            </a:extLst>
          </p:cNvPr>
          <p:cNvSpPr txBox="1"/>
          <p:nvPr/>
        </p:nvSpPr>
        <p:spPr bwMode="gray">
          <a:xfrm>
            <a:off x="1835930" y="1555348"/>
            <a:ext cx="1080590" cy="31125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marL="182563" indent="-182563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/>
              <a:t>Version 1</a:t>
            </a:r>
          </a:p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49FA4-ECAA-D003-073B-D15F1E3065FF}"/>
              </a:ext>
            </a:extLst>
          </p:cNvPr>
          <p:cNvSpPr txBox="1"/>
          <p:nvPr/>
        </p:nvSpPr>
        <p:spPr bwMode="gray">
          <a:xfrm>
            <a:off x="5508573" y="1557802"/>
            <a:ext cx="1080590" cy="31125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marL="182563" indent="-182563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/>
              <a:t>Version 3</a:t>
            </a:r>
          </a:p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6CE286-41C9-2D76-5A73-8885485DD8AD}"/>
              </a:ext>
            </a:extLst>
          </p:cNvPr>
          <p:cNvSpPr txBox="1"/>
          <p:nvPr/>
        </p:nvSpPr>
        <p:spPr bwMode="gray">
          <a:xfrm>
            <a:off x="3672251" y="1555348"/>
            <a:ext cx="1080590" cy="31125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marL="182563" indent="-182563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/>
              <a:t>Version 2</a:t>
            </a:r>
          </a:p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endParaRPr lang="en-US" sz="1600" dirty="0"/>
          </a:p>
        </p:txBody>
      </p:sp>
      <p:sp>
        <p:nvSpPr>
          <p:cNvPr id="13" name="Snip Diagonal Corner Rectangle 18">
            <a:extLst>
              <a:ext uri="{FF2B5EF4-FFF2-40B4-BE49-F238E27FC236}">
                <a16:creationId xmlns:a16="http://schemas.microsoft.com/office/drawing/2014/main" id="{401E12C0-C10E-9B65-A013-BF42F05A50CB}"/>
              </a:ext>
            </a:extLst>
          </p:cNvPr>
          <p:cNvSpPr/>
          <p:nvPr/>
        </p:nvSpPr>
        <p:spPr bwMode="gray">
          <a:xfrm>
            <a:off x="5724831" y="2191143"/>
            <a:ext cx="648072" cy="936104"/>
          </a:xfrm>
          <a:prstGeom prst="snip2Diag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4" name="Snip Diagonal Corner Rectangle 20">
            <a:extLst>
              <a:ext uri="{FF2B5EF4-FFF2-40B4-BE49-F238E27FC236}">
                <a16:creationId xmlns:a16="http://schemas.microsoft.com/office/drawing/2014/main" id="{95A7C4C2-E4B6-C3B8-F156-CD644865A7CF}"/>
              </a:ext>
            </a:extLst>
          </p:cNvPr>
          <p:cNvSpPr/>
          <p:nvPr/>
        </p:nvSpPr>
        <p:spPr bwMode="gray">
          <a:xfrm>
            <a:off x="3885285" y="2191612"/>
            <a:ext cx="648072" cy="936104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AADE6-B509-5484-FB6F-EF983C33AA95}"/>
              </a:ext>
            </a:extLst>
          </p:cNvPr>
          <p:cNvSpPr txBox="1"/>
          <p:nvPr/>
        </p:nvSpPr>
        <p:spPr bwMode="gray">
          <a:xfrm>
            <a:off x="2230668" y="2513540"/>
            <a:ext cx="463143" cy="456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3D0FB5-1E9E-E112-EBE3-203D029DD77A}"/>
              </a:ext>
            </a:extLst>
          </p:cNvPr>
          <p:cNvSpPr txBox="1"/>
          <p:nvPr/>
        </p:nvSpPr>
        <p:spPr bwMode="gray">
          <a:xfrm>
            <a:off x="4045651" y="2513539"/>
            <a:ext cx="463143" cy="456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1B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5B567-5D1B-5D13-BA70-2FBAC72635A9}"/>
              </a:ext>
            </a:extLst>
          </p:cNvPr>
          <p:cNvSpPr txBox="1"/>
          <p:nvPr/>
        </p:nvSpPr>
        <p:spPr bwMode="gray">
          <a:xfrm>
            <a:off x="5895830" y="2513538"/>
            <a:ext cx="463143" cy="456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/>
              <a:t>1B</a:t>
            </a:r>
          </a:p>
        </p:txBody>
      </p:sp>
      <p:sp>
        <p:nvSpPr>
          <p:cNvPr id="18" name="Snip Diagonal Corner Rectangle 23">
            <a:extLst>
              <a:ext uri="{FF2B5EF4-FFF2-40B4-BE49-F238E27FC236}">
                <a16:creationId xmlns:a16="http://schemas.microsoft.com/office/drawing/2014/main" id="{60DE4AC6-CCD2-F470-4DE8-9C88B28E081D}"/>
              </a:ext>
            </a:extLst>
          </p:cNvPr>
          <p:cNvSpPr/>
          <p:nvPr/>
        </p:nvSpPr>
        <p:spPr bwMode="gray">
          <a:xfrm>
            <a:off x="3885216" y="3507854"/>
            <a:ext cx="648072" cy="936104"/>
          </a:xfrm>
          <a:prstGeom prst="snip2Diag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9" name="Snip Diagonal Corner Rectangle 24">
            <a:extLst>
              <a:ext uri="{FF2B5EF4-FFF2-40B4-BE49-F238E27FC236}">
                <a16:creationId xmlns:a16="http://schemas.microsoft.com/office/drawing/2014/main" id="{DA17E575-8D0D-A795-A7AF-A6C492B43055}"/>
              </a:ext>
            </a:extLst>
          </p:cNvPr>
          <p:cNvSpPr/>
          <p:nvPr/>
        </p:nvSpPr>
        <p:spPr bwMode="gray">
          <a:xfrm>
            <a:off x="5718243" y="3507854"/>
            <a:ext cx="648072" cy="936104"/>
          </a:xfrm>
          <a:prstGeom prst="snip2Diag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8B88FB-2277-5D89-9B14-D366AD179B0D}"/>
              </a:ext>
            </a:extLst>
          </p:cNvPr>
          <p:cNvSpPr txBox="1"/>
          <p:nvPr/>
        </p:nvSpPr>
        <p:spPr bwMode="gray">
          <a:xfrm>
            <a:off x="2251763" y="3853802"/>
            <a:ext cx="463143" cy="456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321BCC-2C62-236E-3DF0-F7D404B70C22}"/>
              </a:ext>
            </a:extLst>
          </p:cNvPr>
          <p:cNvSpPr txBox="1"/>
          <p:nvPr/>
        </p:nvSpPr>
        <p:spPr bwMode="gray">
          <a:xfrm>
            <a:off x="4036849" y="3829312"/>
            <a:ext cx="463143" cy="456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/>
              <a:t>2A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EA18A-4ABD-33AF-B5D7-BD8C29013AC2}"/>
              </a:ext>
            </a:extLst>
          </p:cNvPr>
          <p:cNvSpPr txBox="1"/>
          <p:nvPr/>
        </p:nvSpPr>
        <p:spPr bwMode="gray">
          <a:xfrm>
            <a:off x="5873881" y="3829313"/>
            <a:ext cx="463143" cy="456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2B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5A7D2-B1FE-4088-A5F0-E51E0DCDF728}"/>
              </a:ext>
            </a:extLst>
          </p:cNvPr>
          <p:cNvSpPr txBox="1"/>
          <p:nvPr/>
        </p:nvSpPr>
        <p:spPr bwMode="gray">
          <a:xfrm>
            <a:off x="7822276" y="42228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88451-CA2A-02F4-3B3D-6897D062766D}"/>
              </a:ext>
            </a:extLst>
          </p:cNvPr>
          <p:cNvSpPr txBox="1"/>
          <p:nvPr/>
        </p:nvSpPr>
        <p:spPr bwMode="gray">
          <a:xfrm>
            <a:off x="8196349" y="42062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4186409165"/>
      </p:ext>
    </p:extLst>
  </p:cSld>
  <p:clrMapOvr>
    <a:masterClrMapping/>
  </p:clrMapOvr>
  <p:transition spd="slow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D6BE1B-6377-EF35-1D25-44D8096F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Git: Branches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8354C8-0EC6-4E82-78A9-A23CC447C67F}"/>
              </a:ext>
            </a:extLst>
          </p:cNvPr>
          <p:cNvSpPr/>
          <p:nvPr/>
        </p:nvSpPr>
        <p:spPr bwMode="gray">
          <a:xfrm>
            <a:off x="401404" y="2451966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B5BDE4-3436-C087-FE39-A619D38BE6EE}"/>
              </a:ext>
            </a:extLst>
          </p:cNvPr>
          <p:cNvSpPr/>
          <p:nvPr/>
        </p:nvSpPr>
        <p:spPr bwMode="gray">
          <a:xfrm>
            <a:off x="1409516" y="3821444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F0AB65-47CC-A16C-8C21-DBB39A6DEF0E}"/>
              </a:ext>
            </a:extLst>
          </p:cNvPr>
          <p:cNvSpPr/>
          <p:nvPr/>
        </p:nvSpPr>
        <p:spPr bwMode="gray">
          <a:xfrm>
            <a:off x="1985580" y="2451966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113A5A-CCC3-447E-E517-B5DE6F24C6F7}"/>
              </a:ext>
            </a:extLst>
          </p:cNvPr>
          <p:cNvSpPr/>
          <p:nvPr/>
        </p:nvSpPr>
        <p:spPr bwMode="gray">
          <a:xfrm>
            <a:off x="2971301" y="3821444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4C255B-4F53-6270-765F-4D5606D1D1EB}"/>
              </a:ext>
            </a:extLst>
          </p:cNvPr>
          <p:cNvSpPr/>
          <p:nvPr/>
        </p:nvSpPr>
        <p:spPr bwMode="gray">
          <a:xfrm>
            <a:off x="3476997" y="2470435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0E7ABC-C4B2-BA30-94B8-66349482A433}"/>
              </a:ext>
            </a:extLst>
          </p:cNvPr>
          <p:cNvSpPr/>
          <p:nvPr/>
        </p:nvSpPr>
        <p:spPr bwMode="gray">
          <a:xfrm>
            <a:off x="4937908" y="3262649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D70A27-896A-241D-02F4-8F562D2B14B9}"/>
              </a:ext>
            </a:extLst>
          </p:cNvPr>
          <p:cNvSpPr/>
          <p:nvPr/>
        </p:nvSpPr>
        <p:spPr bwMode="gray">
          <a:xfrm>
            <a:off x="3155097" y="1431857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37BB89-06C6-1977-B371-2401872576BA}"/>
              </a:ext>
            </a:extLst>
          </p:cNvPr>
          <p:cNvSpPr/>
          <p:nvPr/>
        </p:nvSpPr>
        <p:spPr bwMode="gray">
          <a:xfrm>
            <a:off x="1409516" y="1460888"/>
            <a:ext cx="1008112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CB00AC-FCA9-E07C-8EFC-C4DE0BB5189F}"/>
              </a:ext>
            </a:extLst>
          </p:cNvPr>
          <p:cNvCxnSpPr/>
          <p:nvPr/>
        </p:nvCxnSpPr>
        <p:spPr bwMode="gray">
          <a:xfrm flipH="1">
            <a:off x="977468" y="2019918"/>
            <a:ext cx="360040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F10901-215C-871C-963E-956860E1C499}"/>
              </a:ext>
            </a:extLst>
          </p:cNvPr>
          <p:cNvCxnSpPr/>
          <p:nvPr/>
        </p:nvCxnSpPr>
        <p:spPr bwMode="gray">
          <a:xfrm flipH="1">
            <a:off x="2449601" y="1768212"/>
            <a:ext cx="665461" cy="68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2B4780-E28E-016E-7115-D50DFF5094A2}"/>
              </a:ext>
            </a:extLst>
          </p:cNvPr>
          <p:cNvCxnSpPr/>
          <p:nvPr/>
        </p:nvCxnSpPr>
        <p:spPr bwMode="gray">
          <a:xfrm flipH="1" flipV="1">
            <a:off x="1502275" y="2772305"/>
            <a:ext cx="41129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3AFB47-10E1-6CD0-005A-7FBE977D50B5}"/>
              </a:ext>
            </a:extLst>
          </p:cNvPr>
          <p:cNvCxnSpPr/>
          <p:nvPr/>
        </p:nvCxnSpPr>
        <p:spPr bwMode="gray">
          <a:xfrm flipH="1">
            <a:off x="3041843" y="2772305"/>
            <a:ext cx="360040" cy="3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1A7FBF-6530-B06A-E5B7-072415D12AA5}"/>
              </a:ext>
            </a:extLst>
          </p:cNvPr>
          <p:cNvCxnSpPr/>
          <p:nvPr/>
        </p:nvCxnSpPr>
        <p:spPr bwMode="gray">
          <a:xfrm flipH="1" flipV="1">
            <a:off x="1079607" y="3244054"/>
            <a:ext cx="319533" cy="4560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AAD980-C523-779F-B5F1-A397A05E54DE}"/>
              </a:ext>
            </a:extLst>
          </p:cNvPr>
          <p:cNvCxnSpPr/>
          <p:nvPr/>
        </p:nvCxnSpPr>
        <p:spPr bwMode="gray">
          <a:xfrm flipH="1">
            <a:off x="2487996" y="4145480"/>
            <a:ext cx="34975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74ABF6-ABCF-E82A-8C3A-2F241D85A81F}"/>
              </a:ext>
            </a:extLst>
          </p:cNvPr>
          <p:cNvCxnSpPr/>
          <p:nvPr/>
        </p:nvCxnSpPr>
        <p:spPr bwMode="gray">
          <a:xfrm flipH="1">
            <a:off x="4163209" y="3700096"/>
            <a:ext cx="630683" cy="3493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E02B16-844C-DF20-656C-6281E3FEFCAA}"/>
              </a:ext>
            </a:extLst>
          </p:cNvPr>
          <p:cNvCxnSpPr/>
          <p:nvPr/>
        </p:nvCxnSpPr>
        <p:spPr bwMode="gray">
          <a:xfrm flipH="1" flipV="1">
            <a:off x="4361844" y="3244054"/>
            <a:ext cx="432048" cy="257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35DE342-4420-E237-AA9A-9245ACA31E70}"/>
              </a:ext>
            </a:extLst>
          </p:cNvPr>
          <p:cNvSpPr txBox="1"/>
          <p:nvPr/>
        </p:nvSpPr>
        <p:spPr bwMode="gray">
          <a:xfrm>
            <a:off x="677995" y="2633279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BB05E-7C1E-2B8F-F765-96250931690A}"/>
              </a:ext>
            </a:extLst>
          </p:cNvPr>
          <p:cNvSpPr txBox="1"/>
          <p:nvPr/>
        </p:nvSpPr>
        <p:spPr bwMode="gray">
          <a:xfrm>
            <a:off x="2260531" y="2645592"/>
            <a:ext cx="454930" cy="152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004CD3-7B0A-6542-4742-8DFE8AD89D98}"/>
              </a:ext>
            </a:extLst>
          </p:cNvPr>
          <p:cNvSpPr txBox="1"/>
          <p:nvPr/>
        </p:nvSpPr>
        <p:spPr bwMode="gray">
          <a:xfrm>
            <a:off x="1686107" y="1645898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93A15-E883-9DF8-93EA-A6CF0266EB5B}"/>
              </a:ext>
            </a:extLst>
          </p:cNvPr>
          <p:cNvSpPr txBox="1"/>
          <p:nvPr/>
        </p:nvSpPr>
        <p:spPr bwMode="gray">
          <a:xfrm>
            <a:off x="3401883" y="1626102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956EAB-7274-F09C-BC00-6FD2BD67BC48}"/>
              </a:ext>
            </a:extLst>
          </p:cNvPr>
          <p:cNvSpPr txBox="1"/>
          <p:nvPr/>
        </p:nvSpPr>
        <p:spPr bwMode="gray">
          <a:xfrm>
            <a:off x="1631084" y="4006454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C2F59-145F-3D88-3EAA-4613DEF2355A}"/>
              </a:ext>
            </a:extLst>
          </p:cNvPr>
          <p:cNvSpPr txBox="1"/>
          <p:nvPr/>
        </p:nvSpPr>
        <p:spPr bwMode="gray">
          <a:xfrm>
            <a:off x="3204223" y="4006453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FE7266-C92F-46E7-15CE-1C8B4770B3F6}"/>
              </a:ext>
            </a:extLst>
          </p:cNvPr>
          <p:cNvSpPr txBox="1"/>
          <p:nvPr/>
        </p:nvSpPr>
        <p:spPr bwMode="gray">
          <a:xfrm>
            <a:off x="3713772" y="2659235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BE0896-FEA7-1405-DBA2-FDD1B3695ED8}"/>
              </a:ext>
            </a:extLst>
          </p:cNvPr>
          <p:cNvSpPr txBox="1"/>
          <p:nvPr/>
        </p:nvSpPr>
        <p:spPr bwMode="gray">
          <a:xfrm>
            <a:off x="5232743" y="3447659"/>
            <a:ext cx="454930" cy="2780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CO7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3AACE5-25DC-E877-185B-EB7A910762AD}"/>
              </a:ext>
            </a:extLst>
          </p:cNvPr>
          <p:cNvSpPr txBox="1"/>
          <p:nvPr/>
        </p:nvSpPr>
        <p:spPr bwMode="gray">
          <a:xfrm>
            <a:off x="6378068" y="3447659"/>
            <a:ext cx="786220" cy="334482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Main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B16A5A0-918D-4693-94D2-1F2D0F865CB7}"/>
              </a:ext>
            </a:extLst>
          </p:cNvPr>
          <p:cNvCxnSpPr/>
          <p:nvPr/>
        </p:nvCxnSpPr>
        <p:spPr bwMode="gray">
          <a:xfrm flipH="1">
            <a:off x="5960846" y="3611204"/>
            <a:ext cx="360040" cy="3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8B82E8B-9506-BB35-3B80-E1DE9A3B2008}"/>
              </a:ext>
            </a:extLst>
          </p:cNvPr>
          <p:cNvSpPr txBox="1"/>
          <p:nvPr/>
        </p:nvSpPr>
        <p:spPr bwMode="gray">
          <a:xfrm>
            <a:off x="6378068" y="2554551"/>
            <a:ext cx="786220" cy="3344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HEAD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7B0E6B-4340-C699-DAF4-8E3A08B4EB9E}"/>
              </a:ext>
            </a:extLst>
          </p:cNvPr>
          <p:cNvCxnSpPr/>
          <p:nvPr/>
        </p:nvCxnSpPr>
        <p:spPr bwMode="gray">
          <a:xfrm>
            <a:off x="6771178" y="2937286"/>
            <a:ext cx="0" cy="43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4B48AB0-E2C8-D777-5C17-A8CBC6AA97ED}"/>
              </a:ext>
            </a:extLst>
          </p:cNvPr>
          <p:cNvSpPr txBox="1"/>
          <p:nvPr/>
        </p:nvSpPr>
        <p:spPr bwMode="gray">
          <a:xfrm>
            <a:off x="4975493" y="4469516"/>
            <a:ext cx="786220" cy="334482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Feature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8466D3-6248-1380-329A-8E05E541B774}"/>
              </a:ext>
            </a:extLst>
          </p:cNvPr>
          <p:cNvCxnSpPr/>
          <p:nvPr/>
        </p:nvCxnSpPr>
        <p:spPr bwMode="gray">
          <a:xfrm flipH="1" flipV="1">
            <a:off x="4163210" y="4284504"/>
            <a:ext cx="718024" cy="3237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B25926D-7F42-F40A-438B-97115793468F}"/>
              </a:ext>
            </a:extLst>
          </p:cNvPr>
          <p:cNvSpPr txBox="1"/>
          <p:nvPr/>
        </p:nvSpPr>
        <p:spPr bwMode="gray">
          <a:xfrm>
            <a:off x="5067098" y="1569671"/>
            <a:ext cx="1166954" cy="334482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>
                <a:solidFill>
                  <a:schemeClr val="bg1"/>
                </a:solidFill>
              </a:rPr>
              <a:t>Bastelkiste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F8CE1DB-640E-1890-8FD0-76C14C23491B}"/>
              </a:ext>
            </a:extLst>
          </p:cNvPr>
          <p:cNvCxnSpPr/>
          <p:nvPr/>
        </p:nvCxnSpPr>
        <p:spPr bwMode="gray">
          <a:xfrm flipH="1">
            <a:off x="4239884" y="1730047"/>
            <a:ext cx="665461" cy="68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245863"/>
      </p:ext>
    </p:extLst>
  </p:cSld>
  <p:clrMapOvr>
    <a:masterClrMapping/>
  </p:clrMapOvr>
  <p:transition spd="slow"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47D643-A629-EFF7-45DC-7A685C85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Merge Konflikte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7F88CAA-B0BA-E71D-98BF-7FE04DC84ABC}"/>
              </a:ext>
            </a:extLst>
          </p:cNvPr>
          <p:cNvSpPr txBox="1">
            <a:spLocks/>
          </p:cNvSpPr>
          <p:nvPr/>
        </p:nvSpPr>
        <p:spPr>
          <a:xfrm>
            <a:off x="683568" y="1520474"/>
            <a:ext cx="2016224" cy="256344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err="1"/>
              <a:t>Datei</a:t>
            </a:r>
            <a:r>
              <a:rPr lang="en-US" b="1" dirty="0"/>
              <a:t> Version 1</a:t>
            </a:r>
          </a:p>
          <a:p>
            <a:pPr algn="ctr">
              <a:lnSpc>
                <a:spcPct val="150000"/>
              </a:lnSpc>
            </a:pPr>
            <a:endParaRPr lang="en-US" sz="2400" dirty="0"/>
          </a:p>
          <a:p>
            <a:pPr algn="ctr">
              <a:lnSpc>
                <a:spcPct val="150000"/>
              </a:lnSpc>
            </a:pPr>
            <a:r>
              <a:rPr lang="en-US" sz="2000" dirty="0"/>
              <a:t>B’</a:t>
            </a:r>
          </a:p>
          <a:p>
            <a:pPr algn="ctr">
              <a:lnSpc>
                <a:spcPct val="150000"/>
              </a:lnSpc>
            </a:pPr>
            <a:r>
              <a:rPr lang="en-US" sz="2000" dirty="0"/>
              <a:t>C</a:t>
            </a:r>
          </a:p>
          <a:p>
            <a:pPr algn="ctr">
              <a:lnSpc>
                <a:spcPct val="150000"/>
              </a:lnSpc>
            </a:pPr>
            <a:r>
              <a:rPr lang="en-US" sz="2000" dirty="0"/>
              <a:t>D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D096E70-3DB8-2F43-C4D4-09D737AD9E72}"/>
              </a:ext>
            </a:extLst>
          </p:cNvPr>
          <p:cNvSpPr txBox="1">
            <a:spLocks/>
          </p:cNvSpPr>
          <p:nvPr/>
        </p:nvSpPr>
        <p:spPr bwMode="gray">
          <a:xfrm>
            <a:off x="4788024" y="1520474"/>
            <a:ext cx="2341015" cy="256344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vert="horz" lIns="0" tIns="0" rIns="0" bIns="0" spcCol="360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80000" algn="l" defTabSz="914400" rtl="0" eaLnBrk="1" latinLnBrk="0" hangingPunct="1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ts val="21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ts val="21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ts val="21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err="1"/>
              <a:t>Datei</a:t>
            </a:r>
            <a:r>
              <a:rPr lang="en-US" b="1" dirty="0"/>
              <a:t> Version 2</a:t>
            </a:r>
            <a:endParaRPr lang="en-US" sz="2400" dirty="0"/>
          </a:p>
          <a:p>
            <a:pPr algn="ctr">
              <a:lnSpc>
                <a:spcPct val="150000"/>
              </a:lnSpc>
            </a:pPr>
            <a:r>
              <a:rPr lang="en-US" sz="2000" dirty="0"/>
              <a:t>A</a:t>
            </a:r>
          </a:p>
          <a:p>
            <a:pPr algn="ctr">
              <a:lnSpc>
                <a:spcPct val="150000"/>
              </a:lnSpc>
            </a:pPr>
            <a:r>
              <a:rPr lang="en-US" sz="2000" dirty="0"/>
              <a:t> B’’</a:t>
            </a:r>
          </a:p>
          <a:p>
            <a:pPr algn="ctr">
              <a:lnSpc>
                <a:spcPct val="150000"/>
              </a:lnSpc>
            </a:pP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dirty="0"/>
              <a:t>D</a:t>
            </a:r>
          </a:p>
          <a:p>
            <a:pPr algn="ctr"/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258A0-9C52-AF1A-3D49-6AC7C7C3BB12}"/>
              </a:ext>
            </a:extLst>
          </p:cNvPr>
          <p:cNvSpPr txBox="1"/>
          <p:nvPr/>
        </p:nvSpPr>
        <p:spPr bwMode="gray">
          <a:xfrm>
            <a:off x="358777" y="4623195"/>
            <a:ext cx="6770262" cy="39074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marL="182563" marR="0" lvl="0" indent="-182563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dirty="0"/>
              <a:t>Original 	        A       B        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FDFA5-123B-654B-C30C-E179AE7E3F3A}"/>
              </a:ext>
            </a:extLst>
          </p:cNvPr>
          <p:cNvSpPr txBox="1"/>
          <p:nvPr/>
        </p:nvSpPr>
        <p:spPr bwMode="gray">
          <a:xfrm>
            <a:off x="3515051" y="1672518"/>
            <a:ext cx="457714" cy="5900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A1270-A7F2-4B24-7515-80E470C1BA10}"/>
              </a:ext>
            </a:extLst>
          </p:cNvPr>
          <p:cNvSpPr txBox="1"/>
          <p:nvPr/>
        </p:nvSpPr>
        <p:spPr bwMode="gray">
          <a:xfrm>
            <a:off x="3515051" y="2262536"/>
            <a:ext cx="457714" cy="5900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1B511-3D50-72BE-D539-C48E2939BE6A}"/>
              </a:ext>
            </a:extLst>
          </p:cNvPr>
          <p:cNvSpPr txBox="1"/>
          <p:nvPr/>
        </p:nvSpPr>
        <p:spPr bwMode="gray">
          <a:xfrm>
            <a:off x="3515051" y="3448703"/>
            <a:ext cx="457714" cy="5900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dirty="0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C2F97-E6F9-45E4-43B4-34191C011104}"/>
              </a:ext>
            </a:extLst>
          </p:cNvPr>
          <p:cNvSpPr txBox="1"/>
          <p:nvPr/>
        </p:nvSpPr>
        <p:spPr bwMode="gray">
          <a:xfrm>
            <a:off x="3515051" y="2859204"/>
            <a:ext cx="457714" cy="5900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182563" marR="0" lvl="0" indent="-182563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2000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61CAB-EAE3-C830-CE9E-831EAB552EBA}"/>
              </a:ext>
            </a:extLst>
          </p:cNvPr>
          <p:cNvCxnSpPr/>
          <p:nvPr/>
        </p:nvCxnSpPr>
        <p:spPr bwMode="gray">
          <a:xfrm flipH="1">
            <a:off x="4252156" y="2637253"/>
            <a:ext cx="14401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C4BD8C-9DFD-9E77-1B4A-BCF6282A8C12}"/>
              </a:ext>
            </a:extLst>
          </p:cNvPr>
          <p:cNvCxnSpPr/>
          <p:nvPr/>
        </p:nvCxnSpPr>
        <p:spPr bwMode="gray">
          <a:xfrm flipV="1">
            <a:off x="1875892" y="2715766"/>
            <a:ext cx="1399964" cy="11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2C8761-2B24-C5C8-F9B7-5D9AC765FB33}"/>
              </a:ext>
            </a:extLst>
          </p:cNvPr>
          <p:cNvCxnSpPr/>
          <p:nvPr/>
        </p:nvCxnSpPr>
        <p:spPr bwMode="gray">
          <a:xfrm flipH="1">
            <a:off x="4211960" y="3723878"/>
            <a:ext cx="14401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6275A6-EF5D-E8FC-8DC0-E82AD1604551}"/>
              </a:ext>
            </a:extLst>
          </p:cNvPr>
          <p:cNvCxnSpPr/>
          <p:nvPr/>
        </p:nvCxnSpPr>
        <p:spPr bwMode="gray">
          <a:xfrm flipV="1">
            <a:off x="1835696" y="3795886"/>
            <a:ext cx="14401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216697"/>
      </p:ext>
    </p:extLst>
  </p:cSld>
  <p:clrMapOvr>
    <a:masterClrMapping/>
  </p:clrMapOvr>
  <p:transition spd="slow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BC5CD0-EEA8-B81D-EBAC-20B48DCC14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</a:t>
            </a:r>
            <a:r>
              <a:rPr lang="en-GB" dirty="0" err="1"/>
              <a:t>init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help, git help &lt;</a:t>
            </a:r>
            <a:r>
              <a:rPr lang="en-GB" dirty="0" err="1"/>
              <a:t>befehl</a:t>
            </a:r>
            <a:r>
              <a:rPr lang="en-GB" dirty="0"/>
              <a:t>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clone &lt;repo link&gt;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status, git log, git diff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pull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add &lt;file-</a:t>
            </a:r>
            <a:r>
              <a:rPr lang="en-GB" dirty="0" err="1"/>
              <a:t>Pfad</a:t>
            </a:r>
            <a:r>
              <a:rPr lang="en-GB" dirty="0"/>
              <a:t>&gt;, git add -A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commit -m “&lt;commit message&gt;”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push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checkout -b &lt;new branch name&gt;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checkout &lt;branch name&gt;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git merge &lt;branch name&gt;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A00E10-B06C-AE60-DE94-C4EFC0282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Git: Befehle</a:t>
            </a:r>
          </a:p>
        </p:txBody>
      </p:sp>
    </p:spTree>
    <p:extLst>
      <p:ext uri="{BB962C8B-B14F-4D97-AF65-F5344CB8AC3E}">
        <p14:creationId xmlns:p14="http://schemas.microsoft.com/office/powerpoint/2010/main" val="2996975110"/>
      </p:ext>
    </p:extLst>
  </p:cSld>
  <p:clrMapOvr>
    <a:masterClrMapping/>
  </p:clrMapOvr>
  <p:transition spd="slow"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BCFE79-204D-85B0-10D1-121BA7A1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Pull Requests im Übungsrepo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AA72C7-63EB-EE9A-D7BF-ABCAE1A5F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03"/>
          <a:stretch/>
        </p:blipFill>
        <p:spPr>
          <a:xfrm>
            <a:off x="804496" y="1248354"/>
            <a:ext cx="3923928" cy="927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6C2154-26E3-C411-1FF7-2396DE42B47C}"/>
              </a:ext>
            </a:extLst>
          </p:cNvPr>
          <p:cNvSpPr/>
          <p:nvPr/>
        </p:nvSpPr>
        <p:spPr bwMode="gray">
          <a:xfrm>
            <a:off x="1728441" y="1500146"/>
            <a:ext cx="864096" cy="28803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B4EB1BA0-EF73-F7EF-EF89-5EB76C220C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27734"/>
            <a:ext cx="2835549" cy="12677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0EAADD-E23C-9955-FE58-A40AE3012342}"/>
              </a:ext>
            </a:extLst>
          </p:cNvPr>
          <p:cNvSpPr/>
          <p:nvPr/>
        </p:nvSpPr>
        <p:spPr bwMode="gray">
          <a:xfrm>
            <a:off x="1080369" y="2779912"/>
            <a:ext cx="2376264" cy="44842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A3CB2F-FF9A-401C-5023-083EF905CF82}"/>
              </a:ext>
            </a:extLst>
          </p:cNvPr>
          <p:cNvSpPr txBox="1"/>
          <p:nvPr/>
        </p:nvSpPr>
        <p:spPr bwMode="gray">
          <a:xfrm>
            <a:off x="358776" y="1248354"/>
            <a:ext cx="252784" cy="31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2000" dirty="0">
                <a:solidFill>
                  <a:schemeClr val="accent1"/>
                </a:solidFill>
              </a:rPr>
              <a:t>1.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D326D4-0390-2BF8-50E7-B341EA556E37}"/>
              </a:ext>
            </a:extLst>
          </p:cNvPr>
          <p:cNvSpPr txBox="1"/>
          <p:nvPr/>
        </p:nvSpPr>
        <p:spPr bwMode="gray">
          <a:xfrm>
            <a:off x="358776" y="2414108"/>
            <a:ext cx="252784" cy="31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2000" dirty="0">
                <a:solidFill>
                  <a:schemeClr val="accent1"/>
                </a:solidFill>
              </a:rPr>
              <a:t>2.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8BC6EA-058F-4537-C9CA-43728ED73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873669"/>
            <a:ext cx="3779912" cy="8276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1BA68A-8964-70B5-65B7-A0BE9029BFE1}"/>
              </a:ext>
            </a:extLst>
          </p:cNvPr>
          <p:cNvSpPr txBox="1"/>
          <p:nvPr/>
        </p:nvSpPr>
        <p:spPr bwMode="gray">
          <a:xfrm>
            <a:off x="358776" y="3873669"/>
            <a:ext cx="252784" cy="31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2000" dirty="0">
                <a:solidFill>
                  <a:schemeClr val="accent1"/>
                </a:solidFill>
              </a:rPr>
              <a:t>3.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0FE14C-E50B-6046-FCDB-140F646C7DA4}"/>
              </a:ext>
            </a:extLst>
          </p:cNvPr>
          <p:cNvSpPr/>
          <p:nvPr/>
        </p:nvSpPr>
        <p:spPr bwMode="gray">
          <a:xfrm>
            <a:off x="1187624" y="4371950"/>
            <a:ext cx="1008112" cy="28803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16628-4D12-B859-7D0C-EEB8C79ED919}"/>
              </a:ext>
            </a:extLst>
          </p:cNvPr>
          <p:cNvCxnSpPr>
            <a:cxnSpLocks/>
          </p:cNvCxnSpPr>
          <p:nvPr/>
        </p:nvCxnSpPr>
        <p:spPr bwMode="gray">
          <a:xfrm flipH="1">
            <a:off x="4427984" y="3616268"/>
            <a:ext cx="936104" cy="82769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D026155-63E4-E5AA-5FD9-3FDA3B6292D7}"/>
              </a:ext>
            </a:extLst>
          </p:cNvPr>
          <p:cNvSpPr txBox="1"/>
          <p:nvPr/>
        </p:nvSpPr>
        <p:spPr bwMode="gray">
          <a:xfrm>
            <a:off x="5480869" y="3380167"/>
            <a:ext cx="1998688" cy="8276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600" dirty="0">
                <a:solidFill>
                  <a:schemeClr val="accent1"/>
                </a:solidFill>
              </a:rPr>
              <a:t>Lokal mergen ist auch eine Option</a:t>
            </a:r>
          </a:p>
        </p:txBody>
      </p:sp>
    </p:spTree>
    <p:extLst>
      <p:ext uri="{BB962C8B-B14F-4D97-AF65-F5344CB8AC3E}">
        <p14:creationId xmlns:p14="http://schemas.microsoft.com/office/powerpoint/2010/main" val="3977342136"/>
      </p:ext>
    </p:extLst>
  </p:cSld>
  <p:clrMapOvr>
    <a:masterClrMapping/>
  </p:clrMapOvr>
  <p:transition spd="slow"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021B20-6052-0382-3D95-33977004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GitHub Classrooms: Autograding</a:t>
            </a:r>
          </a:p>
        </p:txBody>
      </p:sp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BED5A5BF-738B-26FC-016A-71997A262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88" y="1419622"/>
            <a:ext cx="5148064" cy="123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FC3346-F73D-27FD-9D4E-19A683352111}"/>
              </a:ext>
            </a:extLst>
          </p:cNvPr>
          <p:cNvSpPr/>
          <p:nvPr/>
        </p:nvSpPr>
        <p:spPr bwMode="gray">
          <a:xfrm>
            <a:off x="3853184" y="1491630"/>
            <a:ext cx="288032" cy="28803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75CB722-2FCB-A0AE-5BC9-55D878F1B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30" y="2931790"/>
            <a:ext cx="4788024" cy="8586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7934733-B814-B0E0-9573-9B0F22DDAF70}"/>
              </a:ext>
            </a:extLst>
          </p:cNvPr>
          <p:cNvSpPr/>
          <p:nvPr/>
        </p:nvSpPr>
        <p:spPr bwMode="gray">
          <a:xfrm>
            <a:off x="5005312" y="3497649"/>
            <a:ext cx="570042" cy="28803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1180F-F532-ACD1-ACDF-67BD587DE165}"/>
              </a:ext>
            </a:extLst>
          </p:cNvPr>
          <p:cNvSpPr txBox="1"/>
          <p:nvPr/>
        </p:nvSpPr>
        <p:spPr bwMode="gray">
          <a:xfrm>
            <a:off x="358776" y="1419622"/>
            <a:ext cx="252784" cy="31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2000" dirty="0">
                <a:solidFill>
                  <a:schemeClr val="accent1"/>
                </a:solidFill>
              </a:rPr>
              <a:t>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DF0A5-BAE9-77F6-2B29-345CC7C4E1B0}"/>
              </a:ext>
            </a:extLst>
          </p:cNvPr>
          <p:cNvSpPr txBox="1"/>
          <p:nvPr/>
        </p:nvSpPr>
        <p:spPr bwMode="gray">
          <a:xfrm>
            <a:off x="358776" y="2931790"/>
            <a:ext cx="252784" cy="31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2000" dirty="0">
                <a:solidFill>
                  <a:schemeClr val="accent1"/>
                </a:solidFill>
              </a:rPr>
              <a:t>2.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17556-1355-4E59-4BA2-CAE4B5806F3F}"/>
              </a:ext>
            </a:extLst>
          </p:cNvPr>
          <p:cNvSpPr txBox="1"/>
          <p:nvPr/>
        </p:nvSpPr>
        <p:spPr bwMode="gray">
          <a:xfrm>
            <a:off x="6444208" y="2054465"/>
            <a:ext cx="1998688" cy="10933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600" dirty="0">
                <a:solidFill>
                  <a:schemeClr val="accent1"/>
                </a:solidFill>
              </a:rPr>
              <a:t>Automatisierte Tests via GitHub Classrooms nach jedem Push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5671E68-7513-011B-4876-BE705EC2551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211960" y="1601448"/>
            <a:ext cx="2088232" cy="93537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395188"/>
      </p:ext>
    </p:extLst>
  </p:cSld>
  <p:clrMapOvr>
    <a:masterClrMapping/>
  </p:clrMapOvr>
  <p:transition spd="slow"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45B022-2CFF-346D-A301-E920B1A729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b="1" dirty="0"/>
              <a:t>Problem: </a:t>
            </a:r>
            <a:r>
              <a:rPr lang="en-DE" dirty="0"/>
              <a:t>Selbst definierte Klasse soll einfach iterierbar sein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b="1" dirty="0"/>
              <a:t>Lösung: </a:t>
            </a:r>
            <a:r>
              <a:rPr lang="en-DE" dirty="0"/>
              <a:t>Eine zweite selbst definierte Klasse, die sich verhält wie Iteratoren anderer Container-Typen (z.B. </a:t>
            </a:r>
            <a:r>
              <a:rPr lang="en-GB" dirty="0"/>
              <a:t>vector::iterator</a:t>
            </a:r>
            <a:r>
              <a:rPr lang="en-DE" dirty="0"/>
              <a:t>), definiert Logik, wie iteriert werden soll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b="1" dirty="0"/>
              <a:t>Vorteile: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Range-basierte for-Loops: </a:t>
            </a:r>
            <a:r>
              <a:rPr lang="en-DE" i="1" dirty="0"/>
              <a:t>for (auto it : MyContainer) {}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STL Algorithmen für ander Container funktionieren auf der neuen Klasse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b="1" dirty="0"/>
              <a:t>Minimales Interface: </a:t>
            </a:r>
            <a:r>
              <a:rPr lang="en-DE" dirty="0"/>
              <a:t>Operatoren ++, *, ==, !=, Definition von value_type, sowie von begin() und end()</a:t>
            </a:r>
          </a:p>
          <a:p>
            <a:pPr lvl="1">
              <a:lnSpc>
                <a:spcPct val="150000"/>
              </a:lnSpc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FF4F29-53EC-F426-DAA2-2ED3F2A8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Iterator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0E85D-FD3E-E4DC-5175-33EAD225273A}"/>
              </a:ext>
            </a:extLst>
          </p:cNvPr>
          <p:cNvSpPr txBox="1"/>
          <p:nvPr/>
        </p:nvSpPr>
        <p:spPr bwMode="gray">
          <a:xfrm>
            <a:off x="467544" y="4603363"/>
            <a:ext cx="73448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 err="1">
                <a:solidFill>
                  <a:srgbClr val="B1063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array_iterator</a:t>
            </a:r>
            <a:r>
              <a:rPr lang="en-GB" sz="1600" b="1" dirty="0" err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GB" sz="1600" b="1" dirty="0" err="1">
                <a:solidFill>
                  <a:schemeClr val="accent1"/>
                </a:solidFill>
              </a:rPr>
              <a:t>h</a:t>
            </a:r>
            <a:r>
              <a:rPr lang="en-GB" sz="1600" b="1" dirty="0">
                <a:solidFill>
                  <a:schemeClr val="accent1"/>
                </a:solidFill>
              </a:rPr>
              <a:t>, </a:t>
            </a:r>
            <a:r>
              <a:rPr lang="en-GB" sz="1600" b="1" u="sng" dirty="0" err="1">
                <a:solidFill>
                  <a:schemeClr val="accent1"/>
                </a:solidFill>
              </a:rPr>
              <a:t>array_iterator.cpp</a:t>
            </a:r>
            <a:endParaRPr lang="en-DE" sz="16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164287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2AF028-DF86-DB4D-9C92-06F79D5B23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Standard C++ class um Daten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Dateien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lesen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Öffnet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Datei</a:t>
            </a:r>
            <a:r>
              <a:rPr lang="en-GB" dirty="0"/>
              <a:t> und </a:t>
            </a:r>
            <a:r>
              <a:rPr lang="en-GB" dirty="0" err="1"/>
              <a:t>behandelt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Input Stream </a:t>
            </a:r>
            <a:r>
              <a:rPr lang="en-GB" dirty="0" err="1"/>
              <a:t>aus</a:t>
            </a:r>
            <a:r>
              <a:rPr lang="en-GB" dirty="0"/>
              <a:t> Characters/Bytes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Binärdaten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.read() </a:t>
            </a:r>
            <a:r>
              <a:rPr lang="en-GB" dirty="0" err="1"/>
              <a:t>gelesen</a:t>
            </a:r>
            <a:r>
              <a:rPr lang="en-GB" dirty="0"/>
              <a:t> </a:t>
            </a:r>
            <a:r>
              <a:rPr lang="en-GB" dirty="0" err="1"/>
              <a:t>werden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Um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Datentypen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lesen</a:t>
            </a:r>
            <a:r>
              <a:rPr lang="en-GB" dirty="0"/>
              <a:t>, </a:t>
            </a:r>
            <a:r>
              <a:rPr lang="en-GB" dirty="0" err="1"/>
              <a:t>sagen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der .read() Methode, </a:t>
            </a:r>
            <a:r>
              <a:rPr lang="en-GB" dirty="0" err="1"/>
              <a:t>dass</a:t>
            </a:r>
            <a:r>
              <a:rPr lang="en-GB" dirty="0"/>
              <a:t> die so tun </a:t>
            </a:r>
            <a:r>
              <a:rPr lang="en-GB" dirty="0" err="1"/>
              <a:t>soll</a:t>
            </a:r>
            <a:r>
              <a:rPr lang="en-GB" dirty="0"/>
              <a:t>,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wären</a:t>
            </a:r>
            <a:r>
              <a:rPr lang="en-GB" dirty="0"/>
              <a:t> die </a:t>
            </a:r>
            <a:r>
              <a:rPr lang="en-GB" dirty="0" err="1"/>
              <a:t>Variablen</a:t>
            </a:r>
            <a:r>
              <a:rPr lang="en-GB" dirty="0"/>
              <a:t>, in die </a:t>
            </a:r>
            <a:r>
              <a:rPr lang="en-GB" dirty="0" err="1"/>
              <a:t>eingelesen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, char Pointer, 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etwas</a:t>
            </a:r>
            <a:r>
              <a:rPr lang="en-GB" dirty="0"/>
              <a:t> an den </a:t>
            </a:r>
            <a:r>
              <a:rPr lang="en-GB" dirty="0" err="1"/>
              <a:t>eigentlichen</a:t>
            </a:r>
            <a:r>
              <a:rPr lang="en-GB" dirty="0"/>
              <a:t> Daten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ändern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Um Daten in Variable x </a:t>
            </a:r>
            <a:r>
              <a:rPr lang="en-GB" dirty="0" err="1"/>
              <a:t>einzulesen</a:t>
            </a:r>
            <a:r>
              <a:rPr lang="en-GB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err="1"/>
              <a:t>my_filestream.read</a:t>
            </a:r>
            <a:r>
              <a:rPr lang="en-GB" dirty="0"/>
              <a:t>(</a:t>
            </a:r>
            <a:r>
              <a:rPr lang="en-GB" b="1" dirty="0" err="1"/>
              <a:t>reinterpret_cast</a:t>
            </a:r>
            <a:r>
              <a:rPr lang="en-GB" b="1" dirty="0"/>
              <a:t>&lt;char*&gt;(&amp;x)</a:t>
            </a:r>
            <a:r>
              <a:rPr lang="en-GB" dirty="0"/>
              <a:t>, </a:t>
            </a:r>
            <a:r>
              <a:rPr lang="en-GB" dirty="0" err="1"/>
              <a:t>sizeof</a:t>
            </a:r>
            <a:r>
              <a:rPr lang="en-GB" dirty="0"/>
              <a:t>(x));</a:t>
            </a: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5BAE32-AAAD-4A34-C5E5-A3875338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File Stream (std::ifstream)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F3914-49D2-D822-ECC3-B183AABC55B1}"/>
              </a:ext>
            </a:extLst>
          </p:cNvPr>
          <p:cNvSpPr txBox="1"/>
          <p:nvPr/>
        </p:nvSpPr>
        <p:spPr bwMode="gray">
          <a:xfrm>
            <a:off x="467544" y="4603363"/>
            <a:ext cx="73448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u="sng" dirty="0" err="1">
                <a:solidFill>
                  <a:schemeClr val="accent1"/>
                </a:solidFill>
              </a:rPr>
              <a:t>filestreamin.cpp</a:t>
            </a:r>
            <a:endParaRPr lang="en-DE" sz="16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290205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E4E270-550B-2BCE-7B10-7F067F65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Debugger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B35A10-BA30-A069-FBF9-786FD7A16CEE}"/>
              </a:ext>
            </a:extLst>
          </p:cNvPr>
          <p:cNvGrpSpPr/>
          <p:nvPr/>
        </p:nvGrpSpPr>
        <p:grpSpPr>
          <a:xfrm>
            <a:off x="343205" y="2211710"/>
            <a:ext cx="3129109" cy="1451437"/>
            <a:chOff x="358776" y="1248354"/>
            <a:chExt cx="3129109" cy="145143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ECF2AC8-581C-848B-2200-25C4A1266752}"/>
                </a:ext>
              </a:extLst>
            </p:cNvPr>
            <p:cNvGrpSpPr/>
            <p:nvPr/>
          </p:nvGrpSpPr>
          <p:grpSpPr>
            <a:xfrm>
              <a:off x="620230" y="1248354"/>
              <a:ext cx="2867655" cy="1451437"/>
              <a:chOff x="2549525" y="3442513"/>
              <a:chExt cx="2867655" cy="145143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0C48A8D-9F87-9664-C044-F5A015F761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0306" r="25551" b="21494"/>
              <a:stretch>
                <a:fillRect/>
              </a:stretch>
            </p:blipFill>
            <p:spPr>
              <a:xfrm>
                <a:off x="2549525" y="3442513"/>
                <a:ext cx="2867655" cy="1451437"/>
              </a:xfrm>
              <a:prstGeom prst="rect">
                <a:avLst/>
              </a:prstGeom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740EDC5-D811-B760-3921-4D636B56C039}"/>
                  </a:ext>
                </a:extLst>
              </p:cNvPr>
              <p:cNvSpPr/>
              <p:nvPr/>
            </p:nvSpPr>
            <p:spPr bwMode="gray">
              <a:xfrm>
                <a:off x="2549525" y="4088186"/>
                <a:ext cx="560303" cy="508324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DE" sz="1200" b="1" dirty="0" err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2F7453-5D4D-5D4F-23FB-6390171DE040}"/>
                </a:ext>
              </a:extLst>
            </p:cNvPr>
            <p:cNvSpPr txBox="1"/>
            <p:nvPr/>
          </p:nvSpPr>
          <p:spPr bwMode="gray">
            <a:xfrm>
              <a:off x="358776" y="1248354"/>
              <a:ext cx="252784" cy="3152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en-DE" sz="2000" dirty="0">
                  <a:solidFill>
                    <a:schemeClr val="accent1"/>
                  </a:solidFill>
                </a:rPr>
                <a:t>1.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CC88F0-FD57-7579-CA64-D8250283037A}"/>
              </a:ext>
            </a:extLst>
          </p:cNvPr>
          <p:cNvGrpSpPr/>
          <p:nvPr/>
        </p:nvGrpSpPr>
        <p:grpSpPr>
          <a:xfrm>
            <a:off x="3811571" y="2139702"/>
            <a:ext cx="2523840" cy="2140625"/>
            <a:chOff x="358776" y="2576260"/>
            <a:chExt cx="2523840" cy="214062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E40CE9-59D6-E240-2D6E-B5F7B2C81644}"/>
                </a:ext>
              </a:extLst>
            </p:cNvPr>
            <p:cNvGrpSpPr/>
            <p:nvPr/>
          </p:nvGrpSpPr>
          <p:grpSpPr>
            <a:xfrm>
              <a:off x="620230" y="2576260"/>
              <a:ext cx="2262386" cy="2140625"/>
              <a:chOff x="4067944" y="1063101"/>
              <a:chExt cx="2262386" cy="2140625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09FA2FE-2190-2E01-9DD6-7DD21FF6D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7944" y="1101380"/>
                <a:ext cx="2262386" cy="2102346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E75E93A-6E96-3D33-38AE-C08B5012AA1A}"/>
                  </a:ext>
                </a:extLst>
              </p:cNvPr>
              <p:cNvSpPr/>
              <p:nvPr/>
            </p:nvSpPr>
            <p:spPr bwMode="gray">
              <a:xfrm>
                <a:off x="4812519" y="1063101"/>
                <a:ext cx="386618" cy="315283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DE" sz="1200" b="1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0A471CC-D3E6-4837-9904-41EFDA79023E}"/>
                  </a:ext>
                </a:extLst>
              </p:cNvPr>
              <p:cNvSpPr/>
              <p:nvPr/>
            </p:nvSpPr>
            <p:spPr bwMode="gray">
              <a:xfrm>
                <a:off x="5102634" y="2195614"/>
                <a:ext cx="568406" cy="246234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DE" sz="1200" b="1" dirty="0" err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B61402-1D06-8581-FB13-DF516B95377D}"/>
                </a:ext>
              </a:extLst>
            </p:cNvPr>
            <p:cNvSpPr txBox="1"/>
            <p:nvPr/>
          </p:nvSpPr>
          <p:spPr bwMode="gray">
            <a:xfrm>
              <a:off x="358776" y="2610759"/>
              <a:ext cx="252784" cy="3152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en-DE" sz="2000" dirty="0">
                  <a:solidFill>
                    <a:schemeClr val="accent1"/>
                  </a:solidFill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105137"/>
      </p:ext>
    </p:extLst>
  </p:cSld>
  <p:clrMapOvr>
    <a:masterClrMapping/>
  </p:clrMapOvr>
  <p:transition spd="slow">
    <p:wipe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6BB2A5-9DBF-800D-4E45-313C30D0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Debugger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4C6DD-A8EA-AA21-4083-64E51C0C3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04" y="1347614"/>
            <a:ext cx="6624736" cy="3484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815265-A8D9-17BC-08CE-93A8AAB04B62}"/>
              </a:ext>
            </a:extLst>
          </p:cNvPr>
          <p:cNvSpPr txBox="1"/>
          <p:nvPr/>
        </p:nvSpPr>
        <p:spPr bwMode="gray">
          <a:xfrm>
            <a:off x="358776" y="1347614"/>
            <a:ext cx="252784" cy="3152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2000" dirty="0">
                <a:solidFill>
                  <a:schemeClr val="accent1"/>
                </a:solidFill>
              </a:rPr>
              <a:t>3.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E408F8-D683-3272-2C06-EC7C37EA364E}"/>
              </a:ext>
            </a:extLst>
          </p:cNvPr>
          <p:cNvSpPr/>
          <p:nvPr/>
        </p:nvSpPr>
        <p:spPr bwMode="gray">
          <a:xfrm>
            <a:off x="1043607" y="1491630"/>
            <a:ext cx="659753" cy="28803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A17692-B0A5-30CB-E305-B93437B2C1B6}"/>
              </a:ext>
            </a:extLst>
          </p:cNvPr>
          <p:cNvSpPr/>
          <p:nvPr/>
        </p:nvSpPr>
        <p:spPr bwMode="gray">
          <a:xfrm>
            <a:off x="1043607" y="2643758"/>
            <a:ext cx="659753" cy="28803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94057D-0D4C-BBA3-1783-5FD6C217257B}"/>
              </a:ext>
            </a:extLst>
          </p:cNvPr>
          <p:cNvSpPr/>
          <p:nvPr/>
        </p:nvSpPr>
        <p:spPr bwMode="gray">
          <a:xfrm>
            <a:off x="3468519" y="1275606"/>
            <a:ext cx="1463521" cy="28803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E70AD9-1168-39EA-D8EB-C2B89ABA07EC}"/>
              </a:ext>
            </a:extLst>
          </p:cNvPr>
          <p:cNvSpPr/>
          <p:nvPr/>
        </p:nvSpPr>
        <p:spPr bwMode="gray">
          <a:xfrm>
            <a:off x="2483768" y="3032491"/>
            <a:ext cx="1463521" cy="28803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3EA3B5-0597-EDC0-6DD7-4DA3CEF00652}"/>
              </a:ext>
            </a:extLst>
          </p:cNvPr>
          <p:cNvSpPr/>
          <p:nvPr/>
        </p:nvSpPr>
        <p:spPr bwMode="gray">
          <a:xfrm>
            <a:off x="1043606" y="3450058"/>
            <a:ext cx="659753" cy="28803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152625"/>
      </p:ext>
    </p:extLst>
  </p:cSld>
  <p:clrMapOvr>
    <a:masterClrMapping/>
  </p:clrMapOvr>
  <p:transition spd="slow">
    <p:wipe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4968</TotalTime>
  <Words>495</Words>
  <Application>Microsoft Macintosh PowerPoint</Application>
  <PresentationFormat>On-screen Show (16:9)</PresentationFormat>
  <Paragraphs>120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Install &amp; Register</vt:lpstr>
      <vt:lpstr>Git vs. GitHub</vt:lpstr>
      <vt:lpstr>Git</vt:lpstr>
      <vt:lpstr>Git: Branches</vt:lpstr>
      <vt:lpstr>Merge Konflikte</vt:lpstr>
      <vt:lpstr>Git: Befehle</vt:lpstr>
      <vt:lpstr>Pull Requests im Übungsrepo</vt:lpstr>
      <vt:lpstr>GitHub Classrooms: Autograding</vt:lpstr>
      <vt:lpstr>Iterator</vt:lpstr>
      <vt:lpstr>File Stream (std::ifstream)</vt:lpstr>
      <vt:lpstr>Debugger</vt:lpstr>
      <vt:lpstr>Debugger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103</cp:revision>
  <cp:lastPrinted>2014-05-07T12:19:03Z</cp:lastPrinted>
  <dcterms:created xsi:type="dcterms:W3CDTF">2022-08-10T08:10:37Z</dcterms:created>
  <dcterms:modified xsi:type="dcterms:W3CDTF">2026-04-23T08:22:35Z</dcterms:modified>
</cp:coreProperties>
</file>